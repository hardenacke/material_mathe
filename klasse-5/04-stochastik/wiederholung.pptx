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2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3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4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5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6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7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notesSlides/notesSlide8.xml><?xml version="1.0" encoding="utf-8"?>
<ns0:notes xmlns:a="http://schemas.openxmlformats.org/drawingml/2006/main" xmlns:ns0="http://schemas.openxmlformats.org/presentationml/2006/main" xmlns:ns2="http://schemas.microsoft.com/office/powerpoint/2010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Slide Image Placeholder 1"/>
          <ns0:cNvSpPr>
            <a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a:spLocks noGrp="1"/>
          </ns0:cNvSpPr>
          <ns0:nvPr>
            <ns0:ph type="body" idx="1"/>
          </ns0:nvPr>
        </ns0:nvSpPr>
        <ns0:spPr/>
        <ns0:txBody>
          <a:bodyPr/>
          <a:lstStyle/>
          <a:p>
            <a:r>
              <a:rPr lang="en-US" dirty="0"/>
              <a:t/>
            </a:r>
            <a:endParaRPr lang="en-US" dirty="0"/>
          </a:p>
        </ns0:txBody>
      </ns0:sp>
      <ns0:sp>
        <ns0:nvSpPr>
          <ns0:cNvPr id="4" name="Slide Number Placeholder 3"/>
          <ns0:cNvSpPr>
            <a:spLocks noGrp="1"/>
          </ns0:cNvSpPr>
          <ns0:nvPr>
            <ns0:ph type="sldNum" sz="quarter" idx="10"/>
          </ns0:nvPr>
        </ns0:nvSpPr>
        <ns0:spPr/>
        <ns0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ns0:txBody>
      </ns0:sp>
    </ns0:spTree>
    <ns0:extLst>
      <ns0:ext uri="{BB962C8B-B14F-4D97-AF65-F5344CB8AC3E}">
        <ns2:creationId val="1024086991"/>
      </ns0:ext>
    </ns0:extLst>
  </ns0:cSld>
  <ns0:clrMapOvr>
    <a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D9863D"/>
          </a:solidFill>
          <a:ln w="12700">
            <a:solidFill>
              <a:srgbClr val="D9863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Stochastik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 erheben; absolute Häufigkeiten; Tabellen und Diagramme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Arithmetisches Mittel und Median als einfache Kennwerte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ns0:sld xmlns:a="http://schemas.openxmlformats.org/drawingml/2006/main" xmlns:ns0="http://schemas.openxmlformats.org/presentationml/2006/main" xmlns:ns2="http://schemas.microsoft.com/office/mac/drawingml/2011/main">
  <ns0:cSld name="Slide 2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 0"/>
          <ns0:cNvSpPr/>
          <ns0:nvPr/>
        </ns0:nvSpPr>
        <ns0:spPr>
          <a:xfrm>
            <a:off x="658368" y="658368"/>
            <a:ext cx="9784080" cy="47548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ns0:txBody>
      </ns0:sp>
      <ns0:sp>
        <ns0:nvSpPr>
          <ns0:cNvPr id="3" name="Shape 1"/>
          <ns0:cNvSpPr/>
          <ns0:nvPr/>
        </ns0:nvSpPr>
        <ns0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4" name="Text 2"/>
          <ns0:cNvSpPr/>
          <ns0:nvPr/>
        </ns0:nvSpPr>
        <ns0:spPr>
          <a:xfrm>
            <a:off x="676656" y="1152144"/>
            <a:ext cx="7772400" cy="25603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Stochastik</a:t>
            </a:r>
            <a:endParaRPr lang="en-US" sz="1150" dirty="0"/>
          </a:p>
        </ns0:txBody>
      </ns0:sp>
      <ns0:sp>
        <ns0:nvSpPr>
          <ns0:cNvPr id="5" name="Shape 3"/>
          <ns0:cNvSpPr/>
          <ns0:nvPr/>
        </ns0:nvSpPr>
        <ns0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6" name="Shape 4"/>
          <ns0:cNvSpPr/>
          <ns0:nvPr/>
        </ns0:nvSpPr>
        <ns0:spPr>
          <a:xfrm>
            <a:off x="896112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7" name="Text 5"/>
          <ns0:cNvSpPr/>
          <ns0:nvPr/>
        </ns0:nvSpPr>
        <ns0:spPr>
          <a:xfrm>
            <a:off x="896112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ns0:txBody>
      </ns0:sp>
      <ns0:sp>
        <ns0:nvSpPr>
          <ns0:cNvPr id="8" name="Text 6"/>
          <ns0:cNvSpPr/>
          <ns0:nvPr/>
        </ns0:nvSpPr>
        <ns0:spPr>
          <a:xfrm>
            <a:off x="1463040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einer Klasse wählen 8 von 25 „Bus“. Absolute Häufigkeit?</a:t>
            </a:r>
            <a:endParaRPr lang="en-US" sz="1650" dirty="0"/>
          </a:p>
        </ns0:txBody>
      </ns0:sp>
      <ns0:sp>
        <ns0:nvSpPr>
          <ns0:cNvPr id="9" name="Shape 7"/>
          <ns0:cNvSpPr/>
          <ns0:nvPr/>
        </ns0:nvSpPr>
        <ns0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0" name="Shape 8"/>
          <ns0:cNvSpPr/>
          <ns0:nvPr/>
        </ns0:nvSpPr>
        <ns0:spPr>
          <a:xfrm>
            <a:off x="6364224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11" name="Text 9"/>
          <ns0:cNvSpPr/>
          <ns0:nvPr/>
        </ns0:nvSpPr>
        <ns0:spPr>
          <a:xfrm>
            <a:off x="6364224" y="1764792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ns0:txBody>
      </ns0:sp>
      <ns0:sp>
        <ns0:nvSpPr>
          <ns0:cNvPr id="12" name="Text 10"/>
          <ns0:cNvSpPr/>
          <ns0:nvPr/>
        </ns0:nvSpPr>
        <ns0:spPr>
          <a:xfrm>
            <a:off x="6931152" y="1755648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Mittelwert von 4, 6, 8?</a:t>
            </a:r>
            <a:endParaRPr lang="en-US" sz="1650" dirty="0"/>
          </a:p>
        </ns0:txBody>
      </ns0:sp>
      <ns0:sp>
        <ns0:nvSpPr>
          <ns0:cNvPr id="13" name="Shape 11"/>
          <ns0:cNvSpPr/>
          <ns0:nvPr/>
        </ns0:nvSpPr>
        <ns0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4" name="Shape 12"/>
          <ns0:cNvSpPr/>
          <ns0:nvPr/>
        </ns0:nvSpPr>
        <ns0:spPr>
          <a:xfrm>
            <a:off x="896112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15" name="Text 13"/>
          <ns0:cNvSpPr/>
          <ns0:nvPr/>
        </ns0:nvSpPr>
        <ns0:spPr>
          <a:xfrm>
            <a:off x="896112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ns0:txBody>
      </ns0:sp>
      <ns0:sp>
        <ns0:nvSpPr>
          <ns0:cNvPr id="16" name="Text 14"/>
          <ns0:cNvSpPr/>
          <ns0:nvPr/>
        </ns0:nvSpPr>
        <ns0:spPr>
          <a:xfrm>
            <a:off x="1463040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einer Klasse wählen 8 von 25 „Bus“. Absolute Häufigkeit?</a:t>
            </a:r>
            <a:endParaRPr lang="en-US" sz="1650" dirty="0"/>
          </a:p>
        </ns0:txBody>
      </ns0:sp>
      <ns0:sp>
        <ns0:nvSpPr>
          <ns0:cNvPr id="17" name="Shape 15"/>
          <ns0:cNvSpPr/>
          <ns0:nvPr/>
        </ns0:nvSpPr>
        <ns0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ns0:spPr>
      </ns0:sp>
      <ns0:sp>
        <ns0:nvSpPr>
          <ns0:cNvPr id="18" name="Shape 16"/>
          <ns0:cNvSpPr/>
          <ns0:nvPr/>
        </ns0:nvSpPr>
        <ns0:spPr>
          <a:xfrm>
            <a:off x="6364224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ns0:spPr>
      </ns0:sp>
      <ns0:sp>
        <ns0:nvSpPr>
          <ns0:cNvPr id="19" name="Text 17"/>
          <ns0:cNvSpPr/>
          <ns0:nvPr/>
        </ns0:nvSpPr>
        <ns0:spPr>
          <a:xfrm>
            <a:off x="6364224" y="3621024"/>
            <a:ext cx="438912" cy="438912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ns0:txBody>
      </ns0:sp>
      <ns0:sp>
        <ns0:nvSpPr>
          <ns0:cNvPr id="20" name="Text 18"/>
          <ns0:cNvSpPr/>
          <ns0:nvPr/>
        </ns0:nvSpPr>
        <ns0:spPr>
          <a:xfrm>
            <a:off x="6931152" y="3611880"/>
            <a:ext cx="4361688" cy="1344168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Mittelwert von 4, 6, 8?</a:t>
            </a:r>
            <a:endParaRPr lang="en-US" sz="1650" dirty="0"/>
          </a:p>
        </ns0:txBody>
      </ns0:sp>
      <ns0:sp>
        <ns0:nvSpPr>
          <ns0:cNvPr id="21" name="Text 19"/>
          <ns0:cNvSpPr/>
          <ns0:nvPr/>
        </ns0:nvSpPr>
        <ns0:spPr>
          <a:xfrm>
            <a:off x="749808" y="5532120"/>
            <a:ext cx="4754880" cy="274320"/>
          </a:xfrm>
          <a:prstGeom prst="rect">
            <a:avLst/>
          </a:prstGeom>
          <a:noFill/>
          <a:ln/>
        </ns0:spPr>
        <ns0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50" dirty="0"/>
          </a:p>
        </ns0:txBody>
      </ns0:sp>
      <ns0:sp>
        <ns0:nvSpPr>
          <ns0:cNvPr id="25" name="Slide Number Placeholder 0"/>
          <ns0:cNvSpPr>
            <a:spLocks noGrp="1"/>
          </ns0:cNvSpPr>
          <ns0:nvPr>
            <ns0:ph type="sldNum" sz="quarter" idx="4294967295"/>
          </ns0:nvPr>
        </ns0:nvSpPr>
        <ns0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ns0:spPr>
        <ns0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ns0:txBody>
      </ns0:sp>
    </ns0:spTree>
  </ns0:cSld>
  <ns0:clrMapOvr>
    <a:masterClrMapping/>
  </ns0:clrMapOvr>
</ns0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Unterschied zwischen Merkmal und Merkmalsausprägung?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unterscheidet sich Median vom arithmetischen Mittel?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Unterschied zwischen Merkmal und Merkmalsausprägung?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BF0E6"/>
          </a:solidFill>
          <a:ln w="15240">
            <a:solidFill>
              <a:srgbClr val="D98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Absolute Häufigkeit = Anzahl des Auftretens.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Median: Mitte der sortierten Daten; Mittelwert: Summe durch Anzahl.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BF0E6"/>
          </a:solidFill>
          <a:ln w="13970">
            <a:solidFill>
              <a:srgbClr val="D98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Absolute Häufigkeit = Anzahl des Auftretens.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Stelle 3, 5, 2 Stimmen als Balkendiagramm dar. Was ist die höchste Säule?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Daten: 2, 3, 3, 4, 20. Median?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Stelle 3, 5, 2 Stimmen als Balkendiagramm dar. Was ist die höchste Säule?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4473245"/>
            <a:ext cx="594360" cy="921715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4640" y="3880714"/>
            <a:ext cx="594360" cy="1514246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3156509"/>
            <a:ext cx="594360" cy="2238451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551530"/>
            <a:ext cx="594360" cy="1843430"/>
          </a:xfrm>
          <a:prstGeom prst="rect">
            <a:avLst/>
          </a:prstGeom>
          <a:solidFill>
            <a:srgbClr val="D9863D">
              <a:alpha val="75000"/>
            </a:srgbClr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0" y="2761488"/>
            <a:ext cx="594360" cy="2633472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5394960"/>
            <a:ext cx="5303520" cy="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5394960"/>
            <a:ext cx="0" cy="-347472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unterscheidet sich Median vom arithmetischen Mittel?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Daten: 2, 3, 3, 4, 20. Median?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Stelle 3, 5, 2 Stimmen als Balkendiagramm dar. Was ist die höchste Säule?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Daten: 2, 3, 3, 4, 20. Median?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müssen Achsen und Einheiten im Diagramm beschriftet sein?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Welcher Kennwert ist hier robuster gegen den Ausreißer 20?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„Wahrscheinlichkeit 0,7 bedeutet: In 10 Versuchen treten genau 7 Treffer auf.“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5 · Stochastik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einer Klasse wählen 8 von 25 „Bus“. Absolute Häufigkeit?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Mittelwert von 4, 6, 8?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Unterschied zwischen Merkmal und Merkmalsausprägung?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unterscheidet sich Median vom arithmetischen Mittel?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der Unterschied zwischen Merkmal und Merkmalsausprägung?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5 – Stochastik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