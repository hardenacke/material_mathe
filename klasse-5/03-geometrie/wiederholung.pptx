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Themengebiet: Geometrie
Stufe: Klasse 5
Die Präsentation ist als kurze Wiederholung vor bzw. zu Beginn einer Unterrichtsphase gedacht.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Wie heißen die Koordinaten des Punktes P(3|−2)?
Lösung: x=3, y=−2.
2. Wie groß ist ein rechter Winkel?
Lösung: 90°.
3. Rechteck 6 cm × 4 cm: Umfang?
Lösung: 20 cm.
4. Wie heißen die Koordinaten des Punktes P(3|−2)?
Lösung: x=3, y=−2.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Worin unterscheiden sich Strecke und Gerade?
Lösung: Strecke hat zwei Endpunkte; Gerade ist in beide Richtungen unbegrenzt.
2. Was bedeutet „parallel“ und „senkrecht“?
Lösung: Parallel: schneiden sich nicht; senkrecht: schneiden sich im 90°-Winkel.
3. Warum haben Umfang und Fläche verschiedene Einheiten?
Lösung: Umfang misst Länge; Fläche misst zweidimensionale Ausdehnung.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Spiegle P(2|1) an der y-Achse.
Lösung: P′(−2|1).
2. Ein Winkel misst 127°. Ist er spitz, recht oder stumpf?
Lösung: Stumpf.
3. Rechteck 8 cm × 3,5 cm: Fläche?
Lösung: 28 cm².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Was bedeutet „parallel“ und „senkrecht“?
Lösung: Parallel: schneiden sich nicht; senkrecht: schneiden sich im 90°-Winkel.
2. Rechteck 8 cm × 3,5 cm: Fläche?
Lösung: 28 cm².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Ein Winkel misst 127°. Ist er spitz, recht oder stumpf?
Lösung: Stumpf.
2. Rechteck 8 cm × 3,5 cm: Fläche?
Lösung: 28 cm².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Welche Figuren besitzen mindestens zwei Symmetrieachsen? Nenne zwei.
Lösung: Zum Beispiel Rechteck (2), Quadrat (4), Kreis (unendlich viele).
2. Finde zwei verschiedene Rechtecke mit Fläche 24 cm². Welches hat kleineren Umfang?
Lösung: Zum Beispiel 4×6 → 20 cm; 3×8 → 22 cm; 4×6 kleiner.
3. „Was in der Zeichnung gleich aussieht, ist bewiesen gleich.“ – Korrigiere.
Lösung: Eine Zeichnung liefert Hinweise, aber Gleichheit muss über Voraussetzungen/Sätze begründet werden.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Wie heißen die Koordinaten des Punktes P(3|−2)?
Lösung: x=3, y=−2.
2. Wie groß ist ein rechter Winkel?
Lösung: 90°.
3. Rechteck 6 cm × 4 cm: Umfang?
Lösung: 20 cm.
4. Worin unterscheiden sich Strecke und Gerade?
Lösung: Strecke hat zwei Endpunkte; Gerade ist in beide Richtungen unbegrenzt.
5. Was bedeutet „parallel“ und „senkrecht“?
Lösung: Parallel: schneiden sich nicht; senkrecht: schneiden sich im 90°-Winkel.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_TITLE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382512"/>
            <a:ext cx="12191695" cy="475488"/>
          </a:xfrm>
          <a:prstGeom prst="rect">
            <a:avLst/>
          </a:prstGeom>
          <a:solidFill>
            <a:srgbClr val="234A69"/>
          </a:solidFill>
          <a:ln w="12700">
            <a:solidFill>
              <a:srgbClr val="234A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41148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" kern="0" dirty="0">
                <a:solidFill>
                  <a:srgbClr val="BF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MATHEMATIK  •  WIEDERHOLUNG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58368" y="969264"/>
            <a:ext cx="1920240" cy="0"/>
          </a:xfrm>
          <a:prstGeom prst="line">
            <a:avLst/>
          </a:prstGeom>
          <a:noFill/>
          <a:ln w="50800">
            <a:solidFill>
              <a:srgbClr val="F0B44D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235440" y="647395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8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NRW · Gymnasium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_CONTENT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00584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D8E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MATHEMATIK  •  WIEDERHOLUNG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6455664"/>
            <a:ext cx="10881360" cy="0"/>
          </a:xfrm>
          <a:prstGeom prst="line">
            <a:avLst/>
          </a:prstGeom>
          <a:noFill/>
          <a:ln w="12700">
            <a:solidFill>
              <a:srgbClr val="D9E0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6510528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Vom leichten Einstieg zum Transfer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_EXIT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3891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F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5-MINUTEN-CHECK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58368" y="914400"/>
            <a:ext cx="2194560" cy="0"/>
          </a:xfrm>
          <a:prstGeom prst="line">
            <a:avLst/>
          </a:prstGeom>
          <a:noFill/>
          <a:ln w="50800">
            <a:solidFill>
              <a:srgbClr val="F0B4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0" y="647395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8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Wiederholung · Selbstcheck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261872"/>
            <a:ext cx="1691640" cy="329184"/>
          </a:xfrm>
          <a:prstGeom prst="roundRect">
            <a:avLst>
              <a:gd name="adj" fmla="val 22222"/>
            </a:avLst>
          </a:prstGeom>
          <a:solidFill>
            <a:srgbClr val="6F5AA8"/>
          </a:solidFill>
          <a:ln w="12700">
            <a:solidFill>
              <a:srgbClr val="6F5AA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8952" y="1289304"/>
            <a:ext cx="1545336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5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033272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Wiederholung: Geometrie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713232" y="2633472"/>
            <a:ext cx="950976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D8E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Kurze Fragen · sichere Grundlagen · Anwendungen · Transfer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49808" y="3364992"/>
            <a:ext cx="128016" cy="128016"/>
          </a:xfrm>
          <a:prstGeom prst="ellipse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3291840"/>
            <a:ext cx="9784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Punkte, Strecken, Geraden, Grundfiguren, Koordinatensystem, Symmetrie</a:t>
            </a:r>
            <a:endParaRPr lang="en-US" sz="1420" dirty="0"/>
          </a:p>
        </p:txBody>
      </p:sp>
      <p:sp>
        <p:nvSpPr>
          <p:cNvPr id="8" name="Shape 6"/>
          <p:cNvSpPr/>
          <p:nvPr/>
        </p:nvSpPr>
        <p:spPr>
          <a:xfrm>
            <a:off x="749808" y="3794760"/>
            <a:ext cx="128016" cy="128016"/>
          </a:xfrm>
          <a:prstGeom prst="ellipse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3721608"/>
            <a:ext cx="9784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Lagebeziehungen, Winkel messen und zeichnen</a:t>
            </a:r>
            <a:endParaRPr lang="en-US" sz="1420" dirty="0"/>
          </a:p>
        </p:txBody>
      </p:sp>
      <p:sp>
        <p:nvSpPr>
          <p:cNvPr id="10" name="Shape 8"/>
          <p:cNvSpPr/>
          <p:nvPr/>
        </p:nvSpPr>
        <p:spPr>
          <a:xfrm>
            <a:off x="749808" y="4224528"/>
            <a:ext cx="128016" cy="128016"/>
          </a:xfrm>
          <a:prstGeom prst="ellipse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4151376"/>
            <a:ext cx="9784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Umfang und Flächeninhalt von Rechteck und Quadrat; Zerlegen und Ergänzen</a:t>
            </a:r>
            <a:endParaRPr lang="en-US" sz="14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Leichter Einstieg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5 · Geometrie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D6DD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1764792"/>
            <a:ext cx="438912" cy="438912"/>
          </a:xfrm>
          <a:prstGeom prst="ellipse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764792"/>
            <a:ext cx="43891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63040" y="1755648"/>
            <a:ext cx="4361688" cy="1344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 heißen die Koordinaten des Punktes P(3|−2)?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6199632" y="1600200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D6DD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64224" y="1764792"/>
            <a:ext cx="438912" cy="438912"/>
          </a:xfrm>
          <a:prstGeom prst="ellipse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64224" y="1764792"/>
            <a:ext cx="43891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931152" y="1755648"/>
            <a:ext cx="4361688" cy="1344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 groß ist ein rechter Winkel?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731520" y="3456432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D6DD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96112" y="3621024"/>
            <a:ext cx="438912" cy="438912"/>
          </a:xfrm>
          <a:prstGeom prst="ellipse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" y="3621024"/>
            <a:ext cx="43891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63040" y="3611880"/>
            <a:ext cx="4361688" cy="1344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Rechteck 6 cm × 4 cm: Umfang?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6199632" y="3456432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D6DD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64224" y="3621024"/>
            <a:ext cx="438912" cy="438912"/>
          </a:xfrm>
          <a:prstGeom prst="ellipse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64224" y="3621024"/>
            <a:ext cx="43891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931152" y="3611880"/>
            <a:ext cx="4361688" cy="1344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 heißen die Koordinaten des Punktes P(3|−2)?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749808" y="5532120"/>
            <a:ext cx="47548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Ziel: erst Sicherheit gewinnen – dann steigern.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Begriffe &amp; Grundideen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5 · erkläre ohne lange Rechnung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69951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73152" cy="1234440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6675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6F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Begriff 1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6675120" cy="6309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Worin unterscheiden sich Strecke und Gerade?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2999232"/>
            <a:ext cx="69951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2999232"/>
            <a:ext cx="73152" cy="1234440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136392"/>
            <a:ext cx="6675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6F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Begriff 2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914400" y="3483864"/>
            <a:ext cx="6675120" cy="6309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bedeutet „parallel“ und „senkrecht“?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731520" y="4398264"/>
            <a:ext cx="69951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4398264"/>
            <a:ext cx="73152" cy="1234440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535424"/>
            <a:ext cx="6675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6F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Begriff 3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14400" y="4882896"/>
            <a:ext cx="6675120" cy="6309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Warum haben Umfang und Fläche verschiedene Einheiten?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8001000" y="1600200"/>
            <a:ext cx="3429000" cy="2971800"/>
          </a:xfrm>
          <a:prstGeom prst="roundRect">
            <a:avLst>
              <a:gd name="adj" fmla="val 2769"/>
            </a:avLst>
          </a:prstGeom>
          <a:solidFill>
            <a:srgbClr val="F1EDF8"/>
          </a:solidFill>
          <a:ln w="15240">
            <a:solidFill>
              <a:srgbClr val="6F5A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75320" y="1847088"/>
            <a:ext cx="265176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F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Kernideen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75320" y="2267712"/>
            <a:ext cx="2743200" cy="1965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Koordinaten: erst x-Richtung, dann y-Richtung.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Winkel werden in Grad gemessen.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Rechteck: U=2a+2b, A=a·b.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138160" y="4983480"/>
            <a:ext cx="3291840" cy="749808"/>
          </a:xfrm>
          <a:prstGeom prst="roundRect">
            <a:avLst>
              <a:gd name="adj" fmla="val 9756"/>
            </a:avLst>
          </a:prstGeom>
          <a:solidFill>
            <a:srgbClr val="F1EDF8"/>
          </a:solidFill>
          <a:ln w="13970">
            <a:solidFill>
              <a:srgbClr val="6F5AA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21040" y="5120640"/>
            <a:ext cx="6858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6F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MERKE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321040" y="5330952"/>
            <a:ext cx="2880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F29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Koordinaten: erst x-Richtung, dann y-Richtung.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Rechnen – sicher starten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5 · Basisaufgaben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3429000" cy="43434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73152" cy="4343400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31089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6F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3108960" cy="3739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Spiegle P(2|1) an der y-Achse.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4389120" y="1600200"/>
            <a:ext cx="3429000" cy="43434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89120" y="1600200"/>
            <a:ext cx="73152" cy="4343400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737360"/>
            <a:ext cx="31089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6F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0" y="2084832"/>
            <a:ext cx="3108960" cy="3739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Winkel misst 127°. Ist er spitz, recht oder stumpf?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8046720" y="1600200"/>
            <a:ext cx="3429000" cy="43434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46720" y="1600200"/>
            <a:ext cx="73152" cy="4343400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0" y="1737360"/>
            <a:ext cx="31089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6F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229600" y="2084832"/>
            <a:ext cx="3108960" cy="3739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Rechteck 8 cm × 3,5 cm: Fläche?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749808" y="6062472"/>
            <a:ext cx="585216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Arbeite sauber: Ansatz → Rechnung → Ergebnis/Deutung.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Darstellungen lesen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5 · Bild, Graph oder Modell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649224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4305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5458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16611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7764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8917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0070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1223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233934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307848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381762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455676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529590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737360" y="2514600"/>
            <a:ext cx="4389120" cy="2651760"/>
          </a:xfrm>
          <a:prstGeom prst="rect">
            <a:avLst/>
          </a:prstGeom>
          <a:solidFill>
            <a:srgbClr val="FFFFFF">
              <a:alpha val="0"/>
            </a:srgbClr>
          </a:solidFill>
          <a:ln w="38100">
            <a:solidFill>
              <a:srgbClr val="6F5AA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931920" y="2103120"/>
            <a:ext cx="0" cy="3474720"/>
          </a:xfrm>
          <a:prstGeom prst="line">
            <a:avLst/>
          </a:prstGeom>
          <a:noFill/>
          <a:ln w="21590">
            <a:solidFill>
              <a:srgbClr val="C75A5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828800" y="5394960"/>
            <a:ext cx="41148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F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Symmetrie / Konstruktion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498080" y="1600200"/>
            <a:ext cx="3931920" cy="1965960"/>
          </a:xfrm>
          <a:prstGeom prst="roundRect">
            <a:avLst>
              <a:gd name="adj" fmla="val 4186"/>
            </a:avLst>
          </a:prstGeom>
          <a:solidFill>
            <a:srgbClr val="F1EDF8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498080" y="1600200"/>
            <a:ext cx="73152" cy="1965960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80960" y="1737360"/>
            <a:ext cx="36118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6F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Beobachten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680960" y="2084832"/>
            <a:ext cx="3611880" cy="1362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bedeutet „parallel“ und „senkrecht“?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7498080" y="3794760"/>
            <a:ext cx="393192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498080" y="3794760"/>
            <a:ext cx="73152" cy="1965960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80960" y="3931920"/>
            <a:ext cx="36118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6F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Nutzen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7680960" y="4279392"/>
            <a:ext cx="3611880" cy="1362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Rechteck 8 cm × 3,5 cm: Fläche?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Anwenden im Kontext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5 · etwas mehr Denken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5257800" cy="4434840"/>
          </a:xfrm>
          <a:prstGeom prst="roundRect">
            <a:avLst>
              <a:gd name="adj" fmla="val 1856"/>
            </a:avLst>
          </a:prstGeom>
          <a:solidFill>
            <a:srgbClr val="F1EDF8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73152" cy="4434840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4937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6F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Kontext 1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4937760" cy="3831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Winkel misst 127°. Ist er spitz, recht oder stumpf?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6199632" y="1600200"/>
            <a:ext cx="5257800" cy="4434840"/>
          </a:xfrm>
          <a:prstGeom prst="roundRect">
            <a:avLst>
              <a:gd name="adj" fmla="val 1856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99632" y="1600200"/>
            <a:ext cx="73152" cy="4434840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82512" y="1737360"/>
            <a:ext cx="4937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6F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Kontext 2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382512" y="2084832"/>
            <a:ext cx="4937760" cy="3831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Rechteck 8 cm × 3,5 cm: Fläche?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749808" y="6053328"/>
            <a:ext cx="7498080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30" i="1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Tipp: Welche Größe ist gesucht? Welche Darstellung oder Formel hilft?</a:t>
            </a:r>
            <a:endParaRPr lang="en-US" sz="11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Denkfragen &amp; Fehler finden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5 · Konzepte wirklich verstanden?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525780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73152" cy="1874520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4937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6F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Denkfrage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4937760" cy="1271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Welche Figuren besitzen mindestens zwei Symmetrieachsen? Nenne zwei.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6199632" y="1600200"/>
            <a:ext cx="525780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99632" y="1600200"/>
            <a:ext cx="73152" cy="1874520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82512" y="1737360"/>
            <a:ext cx="4937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6F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382512" y="2084832"/>
            <a:ext cx="4937760" cy="1271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Finde zwei verschiedene Rechtecke mit Fläche 24 cm². Welches hat kleineren Umfang?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731520" y="3794760"/>
            <a:ext cx="10725912" cy="1828800"/>
          </a:xfrm>
          <a:prstGeom prst="roundRect">
            <a:avLst>
              <a:gd name="adj" fmla="val 4500"/>
            </a:avLst>
          </a:prstGeom>
          <a:solidFill>
            <a:srgbClr val="F9ECEC"/>
          </a:solidFill>
          <a:ln w="15240">
            <a:solidFill>
              <a:srgbClr val="C75A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9264" y="4041648"/>
            <a:ext cx="18288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7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FEHLER DES TAGES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9264" y="4416552"/>
            <a:ext cx="996696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„Was in der Zeichnung gleich aussieht, ist bewiesen gleich.“ – Korrigiere.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69264" y="5230368"/>
            <a:ext cx="47548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C7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Korrigiere die Aussage und begründe.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234440"/>
            <a:ext cx="685800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Kannst du das noch?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13232" y="1737360"/>
            <a:ext cx="73152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C9DA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5 · Geometrie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2331720"/>
            <a:ext cx="5230368" cy="841248"/>
          </a:xfrm>
          <a:prstGeom prst="roundRect">
            <a:avLst>
              <a:gd name="adj" fmla="val 7609"/>
            </a:avLst>
          </a:prstGeom>
          <a:solidFill>
            <a:srgbClr val="20445F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2478024"/>
            <a:ext cx="34747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353312" y="2450592"/>
            <a:ext cx="4425696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 heißen die Koordinaten des Punktes P(3|−2)?</a:t>
            </a:r>
            <a:endParaRPr lang="en-US" sz="1430" dirty="0"/>
          </a:p>
        </p:txBody>
      </p:sp>
      <p:sp>
        <p:nvSpPr>
          <p:cNvPr id="7" name="Shape 5"/>
          <p:cNvSpPr/>
          <p:nvPr/>
        </p:nvSpPr>
        <p:spPr>
          <a:xfrm>
            <a:off x="6236208" y="2331720"/>
            <a:ext cx="5230368" cy="841248"/>
          </a:xfrm>
          <a:prstGeom prst="roundRect">
            <a:avLst>
              <a:gd name="adj" fmla="val 7609"/>
            </a:avLst>
          </a:prstGeom>
          <a:solidFill>
            <a:srgbClr val="20445F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2478024"/>
            <a:ext cx="34747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0" y="2450592"/>
            <a:ext cx="4425696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 groß ist ein rechter Winkel?</a:t>
            </a:r>
            <a:endParaRPr lang="en-US" sz="1430" dirty="0"/>
          </a:p>
        </p:txBody>
      </p:sp>
      <p:sp>
        <p:nvSpPr>
          <p:cNvPr id="10" name="Shape 8"/>
          <p:cNvSpPr/>
          <p:nvPr/>
        </p:nvSpPr>
        <p:spPr>
          <a:xfrm>
            <a:off x="731520" y="3429000"/>
            <a:ext cx="5230368" cy="841248"/>
          </a:xfrm>
          <a:prstGeom prst="roundRect">
            <a:avLst>
              <a:gd name="adj" fmla="val 7609"/>
            </a:avLst>
          </a:prstGeom>
          <a:solidFill>
            <a:srgbClr val="20445F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3575304"/>
            <a:ext cx="34747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53312" y="3547872"/>
            <a:ext cx="4425696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Rechteck 6 cm × 4 cm: Umfang?</a:t>
            </a:r>
            <a:endParaRPr lang="en-US" sz="1430" dirty="0"/>
          </a:p>
        </p:txBody>
      </p:sp>
      <p:sp>
        <p:nvSpPr>
          <p:cNvPr id="13" name="Shape 11"/>
          <p:cNvSpPr/>
          <p:nvPr/>
        </p:nvSpPr>
        <p:spPr>
          <a:xfrm>
            <a:off x="6236208" y="3429000"/>
            <a:ext cx="5230368" cy="841248"/>
          </a:xfrm>
          <a:prstGeom prst="roundRect">
            <a:avLst>
              <a:gd name="adj" fmla="val 7609"/>
            </a:avLst>
          </a:prstGeom>
          <a:solidFill>
            <a:srgbClr val="20445F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3575304"/>
            <a:ext cx="34747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58000" y="3547872"/>
            <a:ext cx="4425696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Worin unterscheiden sich Strecke und Gerade?</a:t>
            </a:r>
            <a:endParaRPr lang="en-US" sz="1430" dirty="0"/>
          </a:p>
        </p:txBody>
      </p:sp>
      <p:sp>
        <p:nvSpPr>
          <p:cNvPr id="16" name="Shape 14"/>
          <p:cNvSpPr/>
          <p:nvPr/>
        </p:nvSpPr>
        <p:spPr>
          <a:xfrm>
            <a:off x="731520" y="4526280"/>
            <a:ext cx="10762488" cy="841248"/>
          </a:xfrm>
          <a:prstGeom prst="roundRect">
            <a:avLst>
              <a:gd name="adj" fmla="val 7609"/>
            </a:avLst>
          </a:prstGeom>
          <a:solidFill>
            <a:srgbClr val="234A69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" y="4672584"/>
            <a:ext cx="34747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53312" y="4645152"/>
            <a:ext cx="9957816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bedeutet „parallel“ und „senkrecht“?</a:t>
            </a:r>
            <a:endParaRPr lang="en-US" sz="1430" dirty="0"/>
          </a:p>
        </p:txBody>
      </p:sp>
      <p:sp>
        <p:nvSpPr>
          <p:cNvPr id="19" name="Text 17"/>
          <p:cNvSpPr/>
          <p:nvPr/>
        </p:nvSpPr>
        <p:spPr>
          <a:xfrm>
            <a:off x="6263640" y="4645152"/>
            <a:ext cx="10515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9DA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Selbstcheck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315200" y="4572000"/>
            <a:ext cx="1051560" cy="384048"/>
          </a:xfrm>
          <a:prstGeom prst="roundRect">
            <a:avLst>
              <a:gd name="adj" fmla="val 16667"/>
            </a:avLst>
          </a:prstGeom>
          <a:solidFill>
            <a:srgbClr val="4F8B6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60920" y="4636008"/>
            <a:ext cx="9601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sicher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522208" y="4572000"/>
            <a:ext cx="1051560" cy="384048"/>
          </a:xfrm>
          <a:prstGeom prst="roundRect">
            <a:avLst>
              <a:gd name="adj" fmla="val 16667"/>
            </a:avLst>
          </a:prstGeom>
          <a:solidFill>
            <a:srgbClr val="F0B44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67928" y="4636008"/>
            <a:ext cx="9601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729216" y="4572000"/>
            <a:ext cx="1051560" cy="384048"/>
          </a:xfrm>
          <a:prstGeom prst="roundRect">
            <a:avLst>
              <a:gd name="adj" fmla="val 16667"/>
            </a:avLst>
          </a:prstGeom>
          <a:solidFill>
            <a:srgbClr val="C75A5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774936" y="4636008"/>
            <a:ext cx="9601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noch üben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Rivius Gymnasium Attendorn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Klasse 5 – Geometrie – Wiederholung</dc:title>
  <dc:subject>Mathematik Wiederholung</dc:subject>
  <dc:creator>Jonathan Hardenacke / OpenAI</dc:creator>
  <cp:lastModifiedBy>Jonathan Hardenacke / OpenAI</cp:lastModifiedBy>
  <cp:revision>1</cp:revision>
  <dcterms:created xsi:type="dcterms:W3CDTF">2026-09-12T12:19:26Z</dcterms:created>
  <dcterms:modified xsi:type="dcterms:W3CDTF">2026-09-12T12:19:26Z</dcterms:modified>
</cp:coreProperties>
</file>