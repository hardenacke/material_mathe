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notesSlides/notesSlide2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notesSlides/notesSlide3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notesSlides/notesSlide4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notesSlides/notesSlide5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notesSlides/notesSlide6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notesSlides/notesSlide7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notesSlides/notesSlide8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_TITLE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382512"/>
            <a:ext cx="12191695" cy="475488"/>
          </a:xfrm>
          <a:prstGeom prst="rect">
            <a:avLst/>
          </a:prstGeom>
          <a:solidFill>
            <a:srgbClr val="234A69"/>
          </a:solidFill>
          <a:ln w="12700">
            <a:solidFill>
              <a:srgbClr val="234A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41148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" kern="0" dirty="0">
                <a:solidFill>
                  <a:srgbClr val="BF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MATHEMATIK  •  WIEDERHOLUNG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8368" y="969264"/>
            <a:ext cx="1920240" cy="0"/>
          </a:xfrm>
          <a:prstGeom prst="line">
            <a:avLst/>
          </a:prstGeom>
          <a:noFill/>
          <a:ln w="50800">
            <a:solidFill>
              <a:srgbClr val="F0B44D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235440" y="647395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8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NRW · Gymnasium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_CONTENT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00584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D8E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MATHEMATIK  •  WIEDERHOLUNG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6455664"/>
            <a:ext cx="10881360" cy="0"/>
          </a:xfrm>
          <a:prstGeom prst="line">
            <a:avLst/>
          </a:prstGeom>
          <a:noFill/>
          <a:ln w="12700">
            <a:solidFill>
              <a:srgbClr val="D9E0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6510528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Vom leichten Einstieg zum Transfer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_EXIT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3891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F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5-MINUTEN-CHECK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58368" y="914400"/>
            <a:ext cx="2194560" cy="0"/>
          </a:xfrm>
          <a:prstGeom prst="line">
            <a:avLst/>
          </a:prstGeom>
          <a:noFill/>
          <a:ln w="50800">
            <a:solidFill>
              <a:srgbClr val="F0B4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0" y="647395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8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Wiederholung · Selbstcheck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261872"/>
            <a:ext cx="1691640" cy="329184"/>
          </a:xfrm>
          <a:prstGeom prst="roundRect">
            <a:avLst>
              <a:gd name="adj" fmla="val 22222"/>
            </a:avLst>
          </a:prstGeom>
          <a:solidFill>
            <a:srgbClr val="2A7F8E"/>
          </a:solidFill>
          <a:ln w="12700">
            <a:solidFill>
              <a:srgbClr val="2A7F8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8952" y="1289304"/>
            <a:ext cx="154533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Qualifikationsphase – Leistungskurs (Q1/Q2)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033272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Wiederholung: Funktionen und Analysis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713232" y="2633472"/>
            <a:ext cx="950976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D8E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Kurze Fragen · sichere Grundlagen · Anwendungen · Transfer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49808" y="3364992"/>
            <a:ext cx="128016" cy="128016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3291840"/>
            <a:ext cx="9784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Ganzrationale, Exponential-, Sinus- und Kosinusfunktionen</a:t>
            </a:r>
            <a:endParaRPr lang="en-US" sz="1420" dirty="0"/>
          </a:p>
        </p:txBody>
      </p:sp>
      <p:sp>
        <p:nvSpPr>
          <p:cNvPr id="8" name="Shape 6"/>
          <p:cNvSpPr/>
          <p:nvPr/>
        </p:nvSpPr>
        <p:spPr>
          <a:xfrm>
            <a:off x="749808" y="3794760"/>
            <a:ext cx="128016" cy="128016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3721608"/>
            <a:ext cx="9784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Produktregel, Kettenregel, Funktionenscharen</a:t>
            </a:r>
            <a:endParaRPr lang="en-US" sz="1420" dirty="0"/>
          </a:p>
        </p:txBody>
      </p:sp>
      <p:sp>
        <p:nvSpPr>
          <p:cNvPr id="10" name="Shape 8"/>
          <p:cNvSpPr/>
          <p:nvPr/>
        </p:nvSpPr>
        <p:spPr>
          <a:xfrm>
            <a:off x="749808" y="4224528"/>
            <a:ext cx="128016" cy="128016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4151376"/>
            <a:ext cx="9784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Extremwertprobleme und Rekonstruktion von Funktionstermen</a:t>
            </a:r>
            <a:endParaRPr lang="en-US" sz="1420" dirty="0"/>
          </a:p>
        </p:txBody>
      </p:sp>
      <p:sp>
        <p:nvSpPr>
          <p:cNvPr id="12" name="Shape 10"/>
          <p:cNvSpPr/>
          <p:nvPr/>
        </p:nvSpPr>
        <p:spPr>
          <a:xfrm>
            <a:off x="749808" y="4654296"/>
            <a:ext cx="128016" cy="128016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4581144"/>
            <a:ext cx="9784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Natürliche Logarithmusfunktion, Umkehrfunktionen und rationale Potenzfunktionen</a:t>
            </a:r>
            <a:endParaRPr lang="en-US" sz="1420" dirty="0"/>
          </a:p>
        </p:txBody>
      </p:sp>
      <p:sp>
        <p:nvSpPr>
          <p:cNvPr id="14" name="Shape 12"/>
          <p:cNvSpPr/>
          <p:nvPr/>
        </p:nvSpPr>
        <p:spPr>
          <a:xfrm>
            <a:off x="749808" y="5084064"/>
            <a:ext cx="128016" cy="128016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7552" y="5010912"/>
            <a:ext cx="9784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Produktsumme, orientierte Fläche, Bestandsfunktion und Integralfunktion</a:t>
            </a:r>
            <a:endParaRPr lang="en-US" sz="1420" dirty="0"/>
          </a:p>
        </p:txBody>
      </p:sp>
      <p:sp>
        <p:nvSpPr>
          <p:cNvPr id="16" name="Text 14"/>
          <p:cNvSpPr/>
          <p:nvPr/>
        </p:nvSpPr>
        <p:spPr>
          <a:xfrm>
            <a:off x="987552" y="5440680"/>
            <a:ext cx="457200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C7D7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+ 1 weitere Schwerpunkte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ns0:sld xmlns:a="http://schemas.openxmlformats.org/drawingml/2006/main" xmlns:ns0="http://schemas.openxmlformats.org/presentationml/2006/main" xmlns:ns2="http://schemas.microsoft.com/office/mac/drawingml/2011/main">
  <ns0:cSld name="Slide 2"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Text 0"/>
          <ns0:cNvSpPr/>
          <ns0:nvPr/>
        </ns0:nvSpPr>
        <ns0:spPr>
          <a:xfrm>
            <a:off x="658368" y="658368"/>
            <a:ext cx="9784080" cy="475488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Leichter Einstieg</a:t>
            </a:r>
            <a:endParaRPr lang="en-US" sz="2600" dirty="0"/>
          </a:p>
        </ns0:txBody>
      </ns0:sp>
      <ns0:sp>
        <ns0:nvSpPr>
          <ns0:cNvPr id="3" name="Shape 1"/>
          <ns0:cNvSpPr/>
          <ns0:nvPr/>
        </ns0:nvSpPr>
        <ns0:spPr>
          <a:xfrm>
            <a:off x="10744200" y="694944"/>
            <a:ext cx="685800" cy="109728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ns0:spPr>
      </ns0:sp>
      <ns0:sp>
        <ns0:nvSpPr>
          <ns0:cNvPr id="4" name="Text 2"/>
          <ns0:cNvSpPr/>
          <ns0:nvPr/>
        </ns0:nvSpPr>
        <ns0:spPr>
          <a:xfrm>
            <a:off x="676656" y="1152144"/>
            <a:ext cx="7772400" cy="25603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Qualifikationsphase – Leistungskurs (Q1/Q2) · Funktionen und Analysis</a:t>
            </a:r>
            <a:endParaRPr lang="en-US" sz="1150" dirty="0"/>
          </a:p>
        </ns0:txBody>
      </ns0:sp>
      <ns0:sp>
        <ns0:nvSpPr>
          <ns0:cNvPr id="5" name="Shape 3"/>
          <ns0:cNvSpPr/>
          <ns0:nvPr/>
        </ns0:nvSpPr>
        <ns0:spPr>
          <a:xfrm>
            <a:off x="731520" y="1600200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ns0:spPr>
      </ns0:sp>
      <ns0:sp>
        <ns0:nvSpPr>
          <ns0:cNvPr id="6" name="Shape 4"/>
          <ns0:cNvSpPr/>
          <ns0:nvPr/>
        </ns0:nvSpPr>
        <ns0:spPr>
          <a:xfrm>
            <a:off x="896112" y="1764792"/>
            <a:ext cx="438912" cy="438912"/>
          </a:xfrm>
          <a:prstGeom prst="ellipse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ns0:spPr>
      </ns0:sp>
      <ns0:sp>
        <ns0:nvSpPr>
          <ns0:cNvPr id="7" name="Text 5"/>
          <ns0:cNvSpPr/>
          <ns0:nvPr/>
        </ns0:nvSpPr>
        <ns0:spPr>
          <a:xfrm>
            <a:off x="896112" y="1764792"/>
            <a:ext cx="438912" cy="43891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ns0:txBody>
      </ns0:sp>
      <ns0:sp>
        <ns0:nvSpPr>
          <ns0:cNvPr id="8" name="Text 6"/>
          <ns0:cNvSpPr/>
          <ns0:nvPr/>
        </ns0:nvSpPr>
        <ns0:spPr>
          <a:xfrm>
            <a:off x="1463040" y="1755648"/>
            <a:ext cx="4361688" cy="1344168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Leite f(x)=sin(x)+eˣ ab.</a:t>
            </a:r>
            <a:endParaRPr lang="en-US" sz="1650" dirty="0"/>
          </a:p>
        </ns0:txBody>
      </ns0:sp>
      <ns0:sp>
        <ns0:nvSpPr>
          <ns0:cNvPr id="9" name="Shape 7"/>
          <ns0:cNvSpPr/>
          <ns0:nvPr/>
        </ns0:nvSpPr>
        <ns0:spPr>
          <a:xfrm>
            <a:off x="6199632" y="1600200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ns0:spPr>
      </ns0:sp>
      <ns0:sp>
        <ns0:nvSpPr>
          <ns0:cNvPr id="10" name="Shape 8"/>
          <ns0:cNvSpPr/>
          <ns0:nvPr/>
        </ns0:nvSpPr>
        <ns0:spPr>
          <a:xfrm>
            <a:off x="6364224" y="1764792"/>
            <a:ext cx="438912" cy="438912"/>
          </a:xfrm>
          <a:prstGeom prst="ellipse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ns0:spPr>
      </ns0:sp>
      <ns0:sp>
        <ns0:nvSpPr>
          <ns0:cNvPr id="11" name="Text 9"/>
          <ns0:cNvSpPr/>
          <ns0:nvPr/>
        </ns0:nvSpPr>
        <ns0:spPr>
          <a:xfrm>
            <a:off x="6364224" y="1764792"/>
            <a:ext cx="438912" cy="43891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ns0:txBody>
      </ns0:sp>
      <ns0:sp>
        <ns0:nvSpPr>
          <ns0:cNvPr id="12" name="Text 10"/>
          <ns0:cNvSpPr/>
          <ns0:nvPr/>
        </ns0:nvSpPr>
        <ns0:spPr>
          <a:xfrm>
            <a:off x="6931152" y="1755648"/>
            <a:ext cx="4361688" cy="1344168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Leite f(x)=x²·eˣ ab.</a:t>
            </a:r>
            <a:endParaRPr lang="en-US" sz="1650" dirty="0"/>
          </a:p>
        </ns0:txBody>
      </ns0:sp>
      <ns0:sp>
        <ns0:nvSpPr>
          <ns0:cNvPr id="13" name="Shape 11"/>
          <ns0:cNvSpPr/>
          <ns0:nvPr/>
        </ns0:nvSpPr>
        <ns0:spPr>
          <a:xfrm>
            <a:off x="731520" y="3456432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ns0:spPr>
      </ns0:sp>
      <ns0:sp>
        <ns0:nvSpPr>
          <ns0:cNvPr id="14" name="Shape 12"/>
          <ns0:cNvSpPr/>
          <ns0:nvPr/>
        </ns0:nvSpPr>
        <ns0:spPr>
          <a:xfrm>
            <a:off x="896112" y="3621024"/>
            <a:ext cx="438912" cy="438912"/>
          </a:xfrm>
          <a:prstGeom prst="ellipse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ns0:spPr>
      </ns0:sp>
      <ns0:sp>
        <ns0:nvSpPr>
          <ns0:cNvPr id="15" name="Text 13"/>
          <ns0:cNvSpPr/>
          <ns0:nvPr/>
        </ns0:nvSpPr>
        <ns0:spPr>
          <a:xfrm>
            <a:off x="896112" y="3621024"/>
            <a:ext cx="438912" cy="43891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ns0:txBody>
      </ns0:sp>
      <ns0:sp>
        <ns0:nvSpPr>
          <ns0:cNvPr id="16" name="Text 14"/>
          <ns0:cNvSpPr/>
          <ns0:nvPr/>
        </ns0:nvSpPr>
        <ns0:spPr>
          <a:xfrm>
            <a:off x="1463040" y="3611880"/>
            <a:ext cx="4361688" cy="1344168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Welche notwendige Bedingung gilt an einer inneren Extremstelle?</a:t>
            </a:r>
            <a:endParaRPr lang="en-US" sz="1650" dirty="0"/>
          </a:p>
        </ns0:txBody>
      </ns0:sp>
      <ns0:sp>
        <ns0:nvSpPr>
          <ns0:cNvPr id="17" name="Shape 15"/>
          <ns0:cNvSpPr/>
          <ns0:nvPr/>
        </ns0:nvSpPr>
        <ns0:spPr>
          <a:xfrm>
            <a:off x="6199632" y="3456432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ns0:spPr>
      </ns0:sp>
      <ns0:sp>
        <ns0:nvSpPr>
          <ns0:cNvPr id="18" name="Shape 16"/>
          <ns0:cNvSpPr/>
          <ns0:nvPr/>
        </ns0:nvSpPr>
        <ns0:spPr>
          <a:xfrm>
            <a:off x="6364224" y="3621024"/>
            <a:ext cx="438912" cy="438912"/>
          </a:xfrm>
          <a:prstGeom prst="ellipse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ns0:spPr>
      </ns0:sp>
      <ns0:sp>
        <ns0:nvSpPr>
          <ns0:cNvPr id="19" name="Text 17"/>
          <ns0:cNvSpPr/>
          <ns0:nvPr/>
        </ns0:nvSpPr>
        <ns0:spPr>
          <a:xfrm>
            <a:off x="6364224" y="3621024"/>
            <a:ext cx="438912" cy="43891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ns0:txBody>
      </ns0:sp>
      <ns0:sp>
        <ns0:nvSpPr>
          <ns0:cNvPr id="20" name="Text 18"/>
          <ns0:cNvSpPr/>
          <ns0:nvPr/>
        </ns0:nvSpPr>
        <ns0:spPr>
          <a:xfrm>
            <a:off x="6931152" y="3611880"/>
            <a:ext cx="4361688" cy="1344168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ist ln(e³)?</a:t>
            </a:r>
            <a:endParaRPr lang="en-US" sz="1650" dirty="0"/>
          </a:p>
        </ns0:txBody>
      </ns0:sp>
      <ns0:sp>
        <ns0:nvSpPr>
          <ns0:cNvPr id="21" name="Text 19"/>
          <ns0:cNvSpPr/>
          <ns0:nvPr/>
        </ns0:nvSpPr>
        <ns0:spPr>
          <a:xfrm>
            <a:off x="749808" y="5532120"/>
            <a:ext cx="4754880" cy="274320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150" dirty="0"/>
          </a:p>
        </ns0:txBody>
      </ns0:sp>
      <ns0:sp>
        <ns0:nvSpPr>
          <ns0:cNvPr id="25" name="Slide Number Placeholder 0"/>
          <ns0:cNvSpPr>
            <a:spLocks noGrp="1"/>
          </ns0:cNvSpPr>
          <ns0:nvPr>
            <ns0:ph type="sldNum" sz="quarter" idx="4294967295"/>
          </ns0:nvPr>
        </ns0:nvSpPr>
        <ns0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ns2:wrappingTextBoxFlag val="0"/>
            </a:ext>
          </a:extLst>
        </ns0:spPr>
        <ns0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ns0:txBody>
      </ns0:sp>
    </ns0:spTree>
  </ns0:cSld>
  <ns0:clrMapOvr>
    <a:masterClrMapping/>
  </ns0:clrMapOvr>
</ns0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Begriffe &amp; Grundideen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Qualifikationsphase – Leistungskurs (Q1/Q2) · erkläre ohne lange Rechnung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6995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123444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6675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 1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6675120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Welche Ableitung hat cos(x)?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2999232"/>
            <a:ext cx="6995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999232"/>
            <a:ext cx="73152" cy="123444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136392"/>
            <a:ext cx="6675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 2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14400" y="3483864"/>
            <a:ext cx="6675120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lautet die Kettenregel?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31520" y="4398264"/>
            <a:ext cx="6995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4398264"/>
            <a:ext cx="73152" cy="123444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535424"/>
            <a:ext cx="6675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 3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14400" y="4882896"/>
            <a:ext cx="6675120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ist der Unterschied zwischen Extremwertproblem und Steckbriefaufgabe?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001000" y="1600200"/>
            <a:ext cx="3429000" cy="2971800"/>
          </a:xfrm>
          <a:prstGeom prst="roundRect">
            <a:avLst>
              <a:gd name="adj" fmla="val 2769"/>
            </a:avLst>
          </a:prstGeom>
          <a:solidFill>
            <a:srgbClr val="EAF5F5"/>
          </a:solidFill>
          <a:ln w="15240">
            <a:solidFill>
              <a:srgbClr val="2A7F8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75320" y="1847088"/>
            <a:ext cx="26517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Kernideen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75320" y="2267712"/>
            <a:ext cx="2743200" cy="1965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(sin x)′=cos x; (cos x)′=−sin x; (eˣ)′=eˣ.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(g(h(x)))′=g′(h(x))·h′(x)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Modell → Zielfunktion → Definitionsbereich → Ableiten → prüfen → deuten.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138160" y="4983480"/>
            <a:ext cx="3291840" cy="749808"/>
          </a:xfrm>
          <a:prstGeom prst="roundRect">
            <a:avLst>
              <a:gd name="adj" fmla="val 9756"/>
            </a:avLst>
          </a:prstGeom>
          <a:solidFill>
            <a:srgbClr val="EAF5F5"/>
          </a:solidFill>
          <a:ln w="13970">
            <a:solidFill>
              <a:srgbClr val="2A7F8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0" y="5120640"/>
            <a:ext cx="6858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MERKE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321040" y="5330952"/>
            <a:ext cx="2880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F29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(sin x)′=cos x; (cos x)′=−sin x; (eˣ)′=eˣ.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Rechnen – sicher starten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Qualifikationsphase – Leistungskurs (Q1/Q2) · Basisaufgaben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3429000" cy="43434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434340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3108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3108960" cy="3739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Bestimme Extremstellen von sin(x) auf [0,2π].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4389120" y="1600200"/>
            <a:ext cx="3429000" cy="43434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89120" y="1600200"/>
            <a:ext cx="73152" cy="434340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737360"/>
            <a:ext cx="3108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0" y="2084832"/>
            <a:ext cx="3108960" cy="3739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Leite f(x)=e^(3x−1) ab.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8046720" y="1600200"/>
            <a:ext cx="3429000" cy="43434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46720" y="1600200"/>
            <a:ext cx="73152" cy="434340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0" y="1737360"/>
            <a:ext cx="3108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229600" y="2084832"/>
            <a:ext cx="3108960" cy="3739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Rechteck mit Umfang 20: A(x)=x(10−x). Wo liegt das Maximum?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749808" y="6062472"/>
            <a:ext cx="585216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Arbeite sauber: Ansatz → Rechnung → Ergebnis/Deutung.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Darstellungen lesen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Qualifikationsphase – Leistungskurs (Q1/Q2) · Bild, Graph oder Modell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649224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4305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5458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6611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7764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8917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0070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1223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233934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307848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381762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455676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529590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25880" y="5440680"/>
            <a:ext cx="5394960" cy="0"/>
          </a:xfrm>
          <a:prstGeom prst="line">
            <a:avLst/>
          </a:prstGeom>
          <a:noFill/>
          <a:ln w="16510">
            <a:solidFill>
              <a:srgbClr val="1F2933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325880" y="5440680"/>
            <a:ext cx="0" cy="-3337560"/>
          </a:xfrm>
          <a:prstGeom prst="line">
            <a:avLst/>
          </a:prstGeom>
          <a:noFill/>
          <a:ln w="16510">
            <a:solidFill>
              <a:srgbClr val="1F2933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325880" y="4619252"/>
            <a:ext cx="67437" cy="-2330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393317" y="4616923"/>
            <a:ext cx="67437" cy="-2446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60754" y="4614476"/>
            <a:ext cx="67437" cy="-2568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528191" y="4611908"/>
            <a:ext cx="67437" cy="-2697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595628" y="4609211"/>
            <a:ext cx="67437" cy="-2832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63065" y="4606379"/>
            <a:ext cx="67437" cy="-2973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730502" y="4603406"/>
            <a:ext cx="67437" cy="-3122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797939" y="4600285"/>
            <a:ext cx="67437" cy="-3277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865376" y="4597008"/>
            <a:ext cx="67437" cy="-3441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932813" y="4593566"/>
            <a:ext cx="67437" cy="-3613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000250" y="4589953"/>
            <a:ext cx="67437" cy="-3794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067687" y="4586160"/>
            <a:ext cx="67437" cy="-3983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135124" y="4582177"/>
            <a:ext cx="67437" cy="-4182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02561" y="4577994"/>
            <a:ext cx="67437" cy="-4391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269998" y="4573603"/>
            <a:ext cx="67437" cy="-4610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337435" y="4568993"/>
            <a:ext cx="67437" cy="-4841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404872" y="4564152"/>
            <a:ext cx="67437" cy="-5083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472309" y="4559070"/>
            <a:ext cx="67437" cy="-5336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539746" y="4553733"/>
            <a:ext cx="67437" cy="-5603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607183" y="4548130"/>
            <a:ext cx="67437" cy="-5883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674620" y="4542247"/>
            <a:ext cx="67437" cy="-6177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742057" y="4536070"/>
            <a:ext cx="67437" cy="-648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809494" y="4529585"/>
            <a:ext cx="67437" cy="-6809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876931" y="4522775"/>
            <a:ext cx="67437" cy="-7150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944368" y="4515626"/>
            <a:ext cx="67437" cy="-7507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011805" y="4508119"/>
            <a:ext cx="67437" cy="-7882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079242" y="4500237"/>
            <a:ext cx="67437" cy="-8276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146679" y="4491961"/>
            <a:ext cx="67437" cy="-8689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214116" y="4483272"/>
            <a:ext cx="67437" cy="-9123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281553" y="4474149"/>
            <a:ext cx="67437" cy="-9579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348990" y="4464570"/>
            <a:ext cx="67437" cy="-10057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416427" y="4454513"/>
            <a:ext cx="67437" cy="-10560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483864" y="4443953"/>
            <a:ext cx="67437" cy="-11087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551301" y="4432865"/>
            <a:ext cx="67437" cy="-11641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618738" y="4421224"/>
            <a:ext cx="67437" cy="-12223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686175" y="4409001"/>
            <a:ext cx="67437" cy="-12834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753612" y="4396167"/>
            <a:ext cx="67437" cy="-1347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821049" y="4382693"/>
            <a:ext cx="67437" cy="-14148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888486" y="4368545"/>
            <a:ext cx="67437" cy="-1485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955923" y="4353690"/>
            <a:ext cx="67437" cy="-15597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023360" y="4338093"/>
            <a:ext cx="67437" cy="-16376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090797" y="4321717"/>
            <a:ext cx="67437" cy="-17194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158234" y="4304523"/>
            <a:ext cx="67437" cy="-18053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225671" y="4286470"/>
            <a:ext cx="67437" cy="-1895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293108" y="4267515"/>
            <a:ext cx="67437" cy="-19902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360545" y="4247613"/>
            <a:ext cx="67437" cy="-20896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427982" y="4226717"/>
            <a:ext cx="67437" cy="-21940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495419" y="4204777"/>
            <a:ext cx="67437" cy="-23036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562856" y="4181741"/>
            <a:ext cx="67437" cy="-24187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630293" y="4157554"/>
            <a:ext cx="67437" cy="-2539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697730" y="4132158"/>
            <a:ext cx="67437" cy="-26664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765167" y="4105494"/>
            <a:ext cx="67437" cy="-27996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832604" y="4077498"/>
            <a:ext cx="67437" cy="-2939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900041" y="4048104"/>
            <a:ext cx="67437" cy="-30863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967478" y="4017240"/>
            <a:ext cx="67437" cy="-3240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5034915" y="3984835"/>
            <a:ext cx="67437" cy="-34024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5102352" y="3950811"/>
            <a:ext cx="67437" cy="-35724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5169789" y="3915088"/>
            <a:ext cx="67437" cy="-37508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5237226" y="3877579"/>
            <a:ext cx="67437" cy="-39382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304663" y="3838197"/>
            <a:ext cx="67437" cy="-41350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5372100" y="3796847"/>
            <a:ext cx="67437" cy="-4341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5439537" y="3753432"/>
            <a:ext cx="67437" cy="-45584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5506974" y="3707847"/>
            <a:ext cx="67437" cy="-47862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5574411" y="3659986"/>
            <a:ext cx="67437" cy="-50253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5641848" y="3609733"/>
            <a:ext cx="67437" cy="-52763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5709285" y="3556969"/>
            <a:ext cx="67437" cy="-55399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5776722" y="3501570"/>
            <a:ext cx="67437" cy="-58167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5844159" y="3443403"/>
            <a:ext cx="67437" cy="-61073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5911596" y="3382331"/>
            <a:ext cx="67437" cy="-64124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5979033" y="3318207"/>
            <a:ext cx="67437" cy="-67327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6046470" y="3250880"/>
            <a:ext cx="67437" cy="-70691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6113907" y="3180189"/>
            <a:ext cx="67437" cy="-74222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6181344" y="3105966"/>
            <a:ext cx="67437" cy="-77930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6248781" y="3028036"/>
            <a:ext cx="67437" cy="-81824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6316218" y="2946212"/>
            <a:ext cx="67437" cy="-85911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6383655" y="2860301"/>
            <a:ext cx="67437" cy="-90203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6451092" y="2770098"/>
            <a:ext cx="67437" cy="-94710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6518529" y="2675388"/>
            <a:ext cx="67437" cy="-99441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585966" y="2575947"/>
            <a:ext cx="67437" cy="-104409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6653403" y="2471538"/>
            <a:ext cx="67437" cy="-1096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1024128" y="1828800"/>
            <a:ext cx="25603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Exponentialfunktion</a:t>
            </a:r>
            <a:endParaRPr lang="en-US" sz="1050" dirty="0"/>
          </a:p>
        </p:txBody>
      </p:sp>
      <p:sp>
        <p:nvSpPr>
          <p:cNvPr id="101" name="Shape 99"/>
          <p:cNvSpPr/>
          <p:nvPr/>
        </p:nvSpPr>
        <p:spPr>
          <a:xfrm>
            <a:off x="7498080" y="1600200"/>
            <a:ext cx="3931920" cy="1965960"/>
          </a:xfrm>
          <a:prstGeom prst="roundRect">
            <a:avLst>
              <a:gd name="adj" fmla="val 4186"/>
            </a:avLst>
          </a:prstGeom>
          <a:solidFill>
            <a:srgbClr val="EAF5F5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2" name="Shape 100"/>
          <p:cNvSpPr/>
          <p:nvPr/>
        </p:nvSpPr>
        <p:spPr>
          <a:xfrm>
            <a:off x="7498080" y="1600200"/>
            <a:ext cx="73152" cy="196596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7680960" y="1737360"/>
            <a:ext cx="36118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Beobachten</a:t>
            </a:r>
            <a:endParaRPr lang="en-US" sz="1150" dirty="0"/>
          </a:p>
        </p:txBody>
      </p:sp>
      <p:sp>
        <p:nvSpPr>
          <p:cNvPr id="104" name="Text 102"/>
          <p:cNvSpPr/>
          <p:nvPr/>
        </p:nvSpPr>
        <p:spPr>
          <a:xfrm>
            <a:off x="7680960" y="2084832"/>
            <a:ext cx="3611880" cy="1362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lautet die Kettenregel?</a:t>
            </a:r>
            <a:endParaRPr lang="en-US" sz="1650" dirty="0"/>
          </a:p>
        </p:txBody>
      </p:sp>
      <p:sp>
        <p:nvSpPr>
          <p:cNvPr id="105" name="Shape 103"/>
          <p:cNvSpPr/>
          <p:nvPr/>
        </p:nvSpPr>
        <p:spPr>
          <a:xfrm>
            <a:off x="7498080" y="3794760"/>
            <a:ext cx="393192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6" name="Shape 104"/>
          <p:cNvSpPr/>
          <p:nvPr/>
        </p:nvSpPr>
        <p:spPr>
          <a:xfrm>
            <a:off x="7498080" y="3794760"/>
            <a:ext cx="73152" cy="196596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7680960" y="3931920"/>
            <a:ext cx="36118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Nutzen</a:t>
            </a:r>
            <a:endParaRPr lang="en-US" sz="1150" dirty="0"/>
          </a:p>
        </p:txBody>
      </p:sp>
      <p:sp>
        <p:nvSpPr>
          <p:cNvPr id="108" name="Text 106"/>
          <p:cNvSpPr/>
          <p:nvPr/>
        </p:nvSpPr>
        <p:spPr>
          <a:xfrm>
            <a:off x="7680960" y="4279392"/>
            <a:ext cx="3611880" cy="1362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Rechteck mit Umfang 20: A(x)=x(10−x). Wo liegt das Maximum?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Anwenden im Kontext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Qualifikationsphase – Leistungskurs (Q1/Q2) · etwas mehr Denken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5257800" cy="4434840"/>
          </a:xfrm>
          <a:prstGeom prst="roundRect">
            <a:avLst>
              <a:gd name="adj" fmla="val 1856"/>
            </a:avLst>
          </a:prstGeom>
          <a:solidFill>
            <a:srgbClr val="EAF5F5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443484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Kontext 1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4937760" cy="3831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Konstante Rate 4 Einheiten/h über 3 h: Bestandsänderung?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199632" y="1600200"/>
            <a:ext cx="5257800" cy="4434840"/>
          </a:xfrm>
          <a:prstGeom prst="roundRect">
            <a:avLst>
              <a:gd name="adj" fmla="val 1856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99632" y="1600200"/>
            <a:ext cx="73152" cy="443484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82512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Kontext 2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382512" y="2084832"/>
            <a:ext cx="4937760" cy="3831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Berechne ∫₀² 2x dx.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49808" y="6053328"/>
            <a:ext cx="7498080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30" i="1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Tipp: Welche Größe ist gesucht? Welche Darstellung oder Formel hilft?</a:t>
            </a:r>
            <a:endParaRPr lang="en-US" sz="11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Denkfragen &amp; Fehler finden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Qualifikationsphase – Leistungskurs (Q1/Q2) · Konzepte wirklich verstanden?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187452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Denkfrage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4937760" cy="1271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 eignen sich Sinusfunktionen für periodische Modelle?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6199632" y="160020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99632" y="1600200"/>
            <a:ext cx="73152" cy="187452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82512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382512" y="2084832"/>
            <a:ext cx="4937760" cy="1271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 verschwindet die Konstante C beim bestimmten Integral?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31520" y="3794760"/>
            <a:ext cx="10725912" cy="1828800"/>
          </a:xfrm>
          <a:prstGeom prst="roundRect">
            <a:avLst>
              <a:gd name="adj" fmla="val 4500"/>
            </a:avLst>
          </a:prstGeom>
          <a:solidFill>
            <a:srgbClr val="F9ECEC"/>
          </a:solidFill>
          <a:ln w="15240">
            <a:solidFill>
              <a:srgbClr val="C75A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9264" y="4041648"/>
            <a:ext cx="1828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7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FEHLER DES TAGES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9264" y="4416552"/>
            <a:ext cx="996696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„Ein steigender Graph hat immer positive Funktionswerte.“ – Korrigiere.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69264" y="5230368"/>
            <a:ext cx="47548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C7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Korrigiere die Aussage und begründe.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ns0:sld xmlns:a="http://schemas.openxmlformats.org/drawingml/2006/main" xmlns:ns0="http://schemas.openxmlformats.org/presentationml/2006/main" xmlns:ns2="http://schemas.microsoft.com/office/mac/drawingml/2011/main">
  <ns0:cSld name="Slide 8"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Text 0"/>
          <ns0:cNvSpPr/>
          <ns0:nvPr/>
        </ns0:nvSpPr>
        <ns0:spPr>
          <a:xfrm>
            <a:off x="685800" y="1207008"/>
            <a:ext cx="7680960" cy="512064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Kontrollfragen</a:t>
            </a:r>
            <a:endParaRPr lang="en-US" sz="2700" dirty="0"/>
          </a:p>
        </ns0:txBody>
      </ns0:sp>
      <ns0:sp>
        <ns0:nvSpPr>
          <ns0:cNvPr id="3" name="Text 1"/>
          <ns0:cNvSpPr/>
          <ns0:nvPr/>
        </ns0:nvSpPr>
        <ns0:spPr>
          <a:xfrm>
            <a:off x="713232" y="1737360"/>
            <a:ext cx="10424160" cy="25603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C9DA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Qualifikationsphase – Leistungskurs (Q1/Q2) · Funktionen und Analysis</a:t>
            </a:r>
            <a:endParaRPr lang="en-US" sz="1250" dirty="0"/>
          </a:p>
        </ns0:txBody>
      </ns0:sp>
      <ns0:sp>
        <ns0:nvSpPr>
          <ns0:cNvPr id="4" name="Shape 2"/>
          <ns0:cNvSpPr/>
          <ns0:nvPr/>
        </ns0:nvSpPr>
        <ns0:spPr>
          <a:xfrm>
            <a:off x="731520" y="233172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ns0:spPr>
      </ns0:sp>
      <ns0:sp>
        <ns0:nvSpPr>
          <ns0:cNvPr id="5" name="Shape 3"/>
          <ns0:cNvSpPr/>
          <ns0:nvPr/>
        </ns0:nvSpPr>
        <ns0:spPr>
          <a:xfrm>
            <a:off x="859536" y="2496312"/>
            <a:ext cx="1170432" cy="274320"/>
          </a:xfrm>
          <a:prstGeom prst="roundRect">
            <a:avLst>
              <a:gd name="adj" fmla="val 20000"/>
            </a:avLst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ns0:spPr>
      </ns0:sp>
      <ns0:sp>
        <ns0:nvSpPr>
          <ns0:cNvPr id="6" name="Text 4"/>
          <ns0:cNvSpPr/>
          <ns0:nvPr/>
        </ns0:nvSpPr>
        <ns0:spPr>
          <a:xfrm>
            <a:off x="896112" y="2514600"/>
            <a:ext cx="1097280" cy="21031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BERECHNEN</a:t>
            </a:r>
            <a:endParaRPr lang="en-US" sz="820" dirty="0"/>
          </a:p>
        </ns0:txBody>
      </ns0:sp>
      <ns0:sp>
        <ns0:nvSpPr>
          <ns0:cNvPr id="7" name="Text 5"/>
          <ns0:cNvSpPr/>
          <ns0:nvPr/>
        </ns0:nvSpPr>
        <ns0:spPr>
          <a:xfrm>
            <a:off x="2194560" y="2432304"/>
            <a:ext cx="3621024" cy="62179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Berechnen Sie die Ableitung von f(x)=x·e²ˣ.</a:t>
            </a:r>
            <a:endParaRPr lang="en-US" sz="1230" dirty="0"/>
          </a:p>
        </ns0:txBody>
      </ns0:sp>
      <ns0:sp>
        <ns0:nvSpPr>
          <ns0:cNvPr id="8" name="Shape 6"/>
          <ns0:cNvSpPr/>
          <ns0:nvPr/>
        </ns0:nvSpPr>
        <ns0:spPr>
          <a:xfrm>
            <a:off x="6236208" y="233172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ns0:spPr>
      </ns0:sp>
      <ns0:sp>
        <ns0:nvSpPr>
          <ns0:cNvPr id="9" name="Shape 7"/>
          <ns0:cNvSpPr/>
          <ns0:nvPr/>
        </ns0:nvSpPr>
        <ns0:spPr>
          <a:xfrm>
            <a:off x="6364224" y="2496312"/>
            <a:ext cx="1170432" cy="274320"/>
          </a:xfrm>
          <a:prstGeom prst="roundRect">
            <a:avLst>
              <a:gd name="adj" fmla="val 20000"/>
            </a:avLst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ns0:spPr>
      </ns0:sp>
      <ns0:sp>
        <ns0:nvSpPr>
          <ns0:cNvPr id="10" name="Text 8"/>
          <ns0:cNvSpPr/>
          <ns0:nvPr/>
        </ns0:nvSpPr>
        <ns0:spPr>
          <a:xfrm>
            <a:off x="6400800" y="2514600"/>
            <a:ext cx="1097280" cy="21031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BESTIMMEN</a:t>
            </a:r>
            <a:endParaRPr lang="en-US" sz="820" dirty="0"/>
          </a:p>
        </ns0:txBody>
      </ns0:sp>
      <ns0:sp>
        <ns0:nvSpPr>
          <ns0:cNvPr id="11" name="Text 9"/>
          <ns0:cNvSpPr/>
          <ns0:nvPr/>
        </ns0:nvSpPr>
        <ns0:spPr>
          <a:xfrm>
            <a:off x="7699248" y="2432304"/>
            <a:ext cx="3621024" cy="62179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Bestimmen Sie die Periodenlänge von f(x)=2·sin(3x)+1.</a:t>
            </a:r>
            <a:endParaRPr lang="en-US" sz="1230" dirty="0"/>
          </a:p>
        </ns0:txBody>
      </ns0:sp>
      <ns0:sp>
        <ns0:nvSpPr>
          <ns0:cNvPr id="12" name="Shape 10"/>
          <ns0:cNvSpPr/>
          <ns0:nvPr/>
        </ns0:nvSpPr>
        <ns0:spPr>
          <a:xfrm>
            <a:off x="731520" y="342900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ns0:spPr>
      </ns0:sp>
      <ns0:sp>
        <ns0:nvSpPr>
          <ns0:cNvPr id="13" name="Shape 11"/>
          <ns0:cNvSpPr/>
          <ns0:nvPr/>
        </ns0:nvSpPr>
        <ns0:spPr>
          <a:xfrm>
            <a:off x="859536" y="3593592"/>
            <a:ext cx="1170432" cy="274320"/>
          </a:xfrm>
          <a:prstGeom prst="roundRect">
            <a:avLst>
              <a:gd name="adj" fmla="val 20000"/>
            </a:avLst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ns0:spPr>
      </ns0:sp>
      <ns0:sp>
        <ns0:nvSpPr>
          <ns0:cNvPr id="14" name="Text 12"/>
          <ns0:cNvSpPr/>
          <ns0:nvPr/>
        </ns0:nvSpPr>
        <ns0:spPr>
          <a:xfrm>
            <a:off x="896112" y="3611880"/>
            <a:ext cx="1097280" cy="21031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UNTERSUCHEN</a:t>
            </a:r>
            <a:endParaRPr lang="en-US" sz="820" dirty="0"/>
          </a:p>
        </ns0:txBody>
      </ns0:sp>
      <ns0:sp>
        <ns0:nvSpPr>
          <ns0:cNvPr id="15" name="Text 13"/>
          <ns0:cNvSpPr/>
          <ns0:nvPr/>
        </ns0:nvSpPr>
        <ns0:spPr>
          <a:xfrm>
            <a:off x="2194560" y="3529584"/>
            <a:ext cx="3621024" cy="62179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Untersuchen Sie fₐ(x)=x²+a·x auf Extremstellen.</a:t>
            </a:r>
            <a:endParaRPr lang="en-US" sz="1230" dirty="0"/>
          </a:p>
        </ns0:txBody>
      </ns0:sp>
      <ns0:sp>
        <ns0:nvSpPr>
          <ns0:cNvPr id="16" name="Shape 14"/>
          <ns0:cNvSpPr/>
          <ns0:nvPr/>
        </ns0:nvSpPr>
        <ns0:spPr>
          <a:xfrm>
            <a:off x="6236208" y="342900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ns0:spPr>
      </ns0:sp>
      <ns0:sp>
        <ns0:nvSpPr>
          <ns0:cNvPr id="17" name="Shape 15"/>
          <ns0:cNvSpPr/>
          <ns0:nvPr/>
        </ns0:nvSpPr>
        <ns0:spPr>
          <a:xfrm>
            <a:off x="6364224" y="3593592"/>
            <a:ext cx="1170432" cy="274320"/>
          </a:xfrm>
          <a:prstGeom prst="roundRect">
            <a:avLst>
              <a:gd name="adj" fmla="val 20000"/>
            </a:avLst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ns0:spPr>
      </ns0:sp>
      <ns0:sp>
        <ns0:nvSpPr>
          <ns0:cNvPr id="18" name="Text 16"/>
          <ns0:cNvSpPr/>
          <ns0:nvPr/>
        </ns0:nvSpPr>
        <ns0:spPr>
          <a:xfrm>
            <a:off x="6400800" y="3611880"/>
            <a:ext cx="1097280" cy="21031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ZEIGEN</a:t>
            </a:r>
            <a:endParaRPr lang="en-US" sz="820" dirty="0"/>
          </a:p>
        </ns0:txBody>
      </ns0:sp>
      <ns0:sp>
        <ns0:nvSpPr>
          <ns0:cNvPr id="19" name="Text 17"/>
          <ns0:cNvSpPr/>
          <ns0:nvPr/>
        </ns0:nvSpPr>
        <ns0:spPr>
          <a:xfrm>
            <a:off x="7699248" y="3529584"/>
            <a:ext cx="3621024" cy="62179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Zeigen Sie für x&gt;0, dass F(x)=x·ln(x)−x eine Stammfunktion von f(x)=ln(x) ist.</a:t>
            </a:r>
            <a:endParaRPr lang="en-US" sz="1230" dirty="0"/>
          </a:p>
        </ns0:txBody>
      </ns0:sp>
      <ns0:sp>
        <ns0:nvSpPr>
          <ns0:cNvPr id="20" name="Shape 18"/>
          <ns0:cNvSpPr/>
          <ns0:nvPr/>
        </ns0:nvSpPr>
        <ns0:spPr>
          <a:xfrm>
            <a:off x="731520" y="4526280"/>
            <a:ext cx="10762488" cy="841248"/>
          </a:xfrm>
          <a:prstGeom prst="roundRect">
            <a:avLst>
              <a:gd name="adj" fmla="val 7609"/>
            </a:avLst>
          </a:prstGeom>
          <a:solidFill>
            <a:srgbClr val="234A69"/>
          </a:solidFill>
          <a:ln w="12700">
            <a:solidFill>
              <a:srgbClr val="4A6C86"/>
            </a:solidFill>
            <a:prstDash val="solid"/>
          </a:ln>
        </ns0:spPr>
      </ns0:sp>
      <ns0:sp>
        <ns0:nvSpPr>
          <ns0:cNvPr id="21" name="Shape 19"/>
          <ns0:cNvSpPr/>
          <ns0:nvPr/>
        </ns0:nvSpPr>
        <ns0:spPr>
          <a:xfrm>
            <a:off x="859536" y="4690872"/>
            <a:ext cx="1234440" cy="274320"/>
          </a:xfrm>
          <a:prstGeom prst="roundRect">
            <a:avLst>
              <a:gd name="adj" fmla="val 20000"/>
            </a:avLst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ns0:spPr>
      </ns0:sp>
      <ns0:sp>
        <ns0:nvSpPr>
          <ns0:cNvPr id="22" name="Text 20"/>
          <ns0:cNvSpPr/>
          <ns0:nvPr/>
        </ns0:nvSpPr>
        <ns0:spPr>
          <a:xfrm>
            <a:off x="896112" y="4709160"/>
            <a:ext cx="1161288" cy="21031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BEURTEILEN</a:t>
            </a:r>
            <a:endParaRPr lang="en-US" sz="820" dirty="0"/>
          </a:p>
        </ns0:txBody>
      </ns0:sp>
      <ns0:sp>
        <ns0:nvSpPr>
          <ns0:cNvPr id="23" name="Text 21"/>
          <ns0:cNvSpPr/>
          <ns0:nvPr/>
        </ns0:nvSpPr>
        <ns0:spPr>
          <a:xfrm>
            <a:off x="2258568" y="4626864"/>
            <a:ext cx="9089136" cy="62179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Beurteilen Sie die Aussage: „Bei fₐ(x)=eᵃˣ mit a&gt;0 erfolgt die Verdopplung immer nach gleich langen Zeitabständen.“</a:t>
            </a:r>
            <a:endParaRPr lang="en-US" sz="1300" dirty="0"/>
          </a:p>
        </ns0:txBody>
      </ns0:sp>
      <ns0:sp>
        <ns0:nvSpPr>
          <ns0:cNvPr id="24" name="Text 22"/>
          <ns0:cNvSpPr/>
          <ns0:nvPr/>
        </ns0:nvSpPr>
        <ns0:spPr>
          <a:xfrm>
            <a:off x="749808" y="5632704"/>
            <a:ext cx="5760720" cy="219456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40" i="1" dirty="0">
                <a:solidFill>
                  <a:srgbClr val="BF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940" dirty="0"/>
          </a:p>
        </ns0:txBody>
      </ns0:sp>
      <ns0:sp>
        <ns0:nvSpPr>
          <ns0:cNvPr id="25" name="Text 23"/>
          <ns0:cNvSpPr/>
          <ns0:nvPr/>
        </ns0:nvSpPr>
        <ns0:spPr>
          <a:xfrm>
            <a:off x="6629400" y="5605272"/>
            <a:ext cx="960120" cy="201168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C9DA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Selbstcheck</a:t>
            </a:r>
            <a:endParaRPr lang="en-US" sz="980" dirty="0"/>
          </a:p>
        </ns0:txBody>
      </ns0:sp>
      <ns0:sp>
        <ns0:nvSpPr>
          <ns0:cNvPr id="26" name="Shape 24"/>
          <ns0:cNvSpPr/>
          <ns0:nvPr/>
        </ns0:nvSpPr>
        <ns0:spPr>
          <a:xfrm>
            <a:off x="7635240" y="5513832"/>
            <a:ext cx="1051560" cy="384048"/>
          </a:xfrm>
          <a:prstGeom prst="roundRect">
            <a:avLst>
              <a:gd name="adj" fmla="val 16667"/>
            </a:avLst>
          </a:prstGeom>
          <a:solidFill>
            <a:srgbClr val="4F8B67"/>
          </a:solidFill>
          <a:ln w="12700">
            <a:solidFill>
              <a:srgbClr val="FFFFFF">
                <a:alpha val="0"/>
              </a:srgbClr>
            </a:solidFill>
            <a:prstDash val="solid"/>
          </a:ln>
        </ns0:spPr>
      </ns0:sp>
      <ns0:sp>
        <ns0:nvSpPr>
          <ns0:cNvPr id="27" name="Text 25"/>
          <ns0:cNvSpPr/>
          <ns0:nvPr/>
        </ns0:nvSpPr>
        <ns0:spPr>
          <a:xfrm>
            <a:off x="7680960" y="5577840"/>
            <a:ext cx="960120" cy="219456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sicher</a:t>
            </a:r>
            <a:endParaRPr lang="en-US" sz="930" dirty="0"/>
          </a:p>
        </ns0:txBody>
      </ns0:sp>
      <ns0:sp>
        <ns0:nvSpPr>
          <ns0:cNvPr id="28" name="Shape 26"/>
          <ns0:cNvSpPr/>
          <ns0:nvPr/>
        </ns0:nvSpPr>
        <ns0:spPr>
          <a:xfrm>
            <a:off x="8842248" y="5513832"/>
            <a:ext cx="1051560" cy="384048"/>
          </a:xfrm>
          <a:prstGeom prst="roundRect">
            <a:avLst>
              <a:gd name="adj" fmla="val 16667"/>
            </a:avLst>
          </a:prstGeom>
          <a:solidFill>
            <a:srgbClr val="F0B44D"/>
          </a:solidFill>
          <a:ln w="12700">
            <a:solidFill>
              <a:srgbClr val="FFFFFF">
                <a:alpha val="0"/>
              </a:srgbClr>
            </a:solidFill>
            <a:prstDash val="solid"/>
          </a:ln>
        </ns0:spPr>
      </ns0:sp>
      <ns0:sp>
        <ns0:nvSpPr>
          <ns0:cNvPr id="29" name="Text 27"/>
          <ns0:cNvSpPr/>
          <ns0:nvPr/>
        </ns0:nvSpPr>
        <ns0:spPr>
          <a:xfrm>
            <a:off x="8887968" y="5577840"/>
            <a:ext cx="960120" cy="219456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</a:t>
            </a:r>
            <a:endParaRPr lang="en-US" sz="930" dirty="0"/>
          </a:p>
        </ns0:txBody>
      </ns0:sp>
      <ns0:sp>
        <ns0:nvSpPr>
          <ns0:cNvPr id="30" name="Shape 28"/>
          <ns0:cNvSpPr/>
          <ns0:nvPr/>
        </ns0:nvSpPr>
        <ns0:spPr>
          <a:xfrm>
            <a:off x="10049256" y="5513832"/>
            <a:ext cx="1051560" cy="384048"/>
          </a:xfrm>
          <a:prstGeom prst="roundRect">
            <a:avLst>
              <a:gd name="adj" fmla="val 16667"/>
            </a:avLst>
          </a:prstGeom>
          <a:solidFill>
            <a:srgbClr val="C75A5A"/>
          </a:solidFill>
          <a:ln w="12700">
            <a:solidFill>
              <a:srgbClr val="FFFFFF">
                <a:alpha val="0"/>
              </a:srgbClr>
            </a:solidFill>
            <a:prstDash val="solid"/>
          </a:ln>
        </ns0:spPr>
      </ns0:sp>
      <ns0:sp>
        <ns0:nvSpPr>
          <ns0:cNvPr id="31" name="Text 29"/>
          <ns0:cNvSpPr/>
          <ns0:nvPr/>
        </ns0:nvSpPr>
        <ns0:spPr>
          <a:xfrm>
            <a:off x="10094976" y="5577840"/>
            <a:ext cx="960120" cy="219456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noch üben</a:t>
            </a:r>
            <a:endParaRPr lang="en-US" sz="930" dirty="0"/>
          </a:p>
        </ns0:txBody>
      </ns0:sp>
      <ns0:sp>
        <ns0:nvSpPr>
          <ns0:cNvPr id="25" name="Slide Number Placeholder 0"/>
          <ns0:cNvSpPr>
            <a:spLocks noGrp="1"/>
          </ns0:cNvSpPr>
          <ns0:nvPr>
            <ns0:ph type="sldNum" sz="quarter" idx="4294967295"/>
          </ns0:nvPr>
        </ns0:nvSpPr>
        <ns0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ns2:wrappingTextBoxFlag val="0"/>
            </a:ext>
          </a:extLst>
        </ns0:spPr>
        <ns0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ns0:txBody>
      </ns0:sp>
    </ns0:spTree>
  </ns0:cSld>
  <ns0:clrMapOvr>
    <a:masterClrMapping/>
  </ns0:clrMapOvr>
</ns0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Rivius Gymnasium Attendorn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Qualifikationsphase – Leistungskurs (Q1/Q2) – Funktionen und Analysis – Wiederholung</dc:title>
  <dc:subject>Mathematik Wiederholung</dc:subject>
  <dc:creator>Jonathan Hardenacke / OpenAI</dc:creator>
  <cp:lastModifiedBy>Jonathan Hardenacke / OpenAI</cp:lastModifiedBy>
  <cp:revision>1</cp:revision>
  <dcterms:created xsi:type="dcterms:W3CDTF">2026-09-12T12:19:26Z</dcterms:created>
  <dcterms:modified xsi:type="dcterms:W3CDTF">2026-09-12T12:19:26Z</dcterms:modified>
</cp:coreProperties>
</file>