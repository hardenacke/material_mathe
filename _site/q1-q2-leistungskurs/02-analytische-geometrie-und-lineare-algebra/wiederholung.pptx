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Themengebiet: Analytische Geometrie und Lineare Algebra
Stufe: Qualifikationsphase – Leistungskurs (Q1/Q2)
Die Präsentation ist als kurze Wiederholung vor bzw. zu Beginn einer Unterrichtsphase gedacht.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u·v bei u=(1,2), v=(3,−1)?
Lösung: 1·3+2·(−1)=1.
2. Was ist ein Normalenvektor einer Ebene?
Lösung: Ein Vektor senkrecht zu allen Richtungen der Ebene.
3. Wie findet man den Schnittpunkt einer Geraden mit einer Ebene?
Lösung: Gerade in Ebenengleichung einsetzen und Parameter lösen.
4. Abstand zweier Punkte A,B?
Lösung: |AB|.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Wann sind Vektoren orthogonal?
Lösung: Wenn ihr Skalarprodukt 0 ist.
2. Wie hängen Normalen- und Koordinatenform zusammen?
Lösung: Normalenkomponenten sind die Koeffizienten der Koordinatenform.
3. Wodurch wird der Winkel Gerade–Ebene berechnet?
Lösung: Über Richtungsvektor der Geraden und Normalenvektor der Ebene.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u=(1,0,0), v=(1,1,0): Winkel?
Lösung: 45°.
2. n=(2,−1,3), P(1|0|2): Normalenform?
Lösung: (x−(1,0,2))·(2,−1,3)=0.
3. g: x=(0,0,0)+t(1,1,1), E: x₁+x₂+x₃=6. Schnittparameter?
Lösung: 3t=6 → t=2; S=(2,2,2).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Wie hängen Normalen- und Koordinatenform zusammen?
Lösung: Normalenkomponenten sind die Koeffizienten der Koordinatenform.
2. g: x=(0,0,0)+t(1,1,1), E: x₁+x₂+x₃=6. Schnittparameter?
Lösung: 3t=6 → t=2; S=(2,2,2).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P(1|2|3), E: z=0. Abstand?
Lösung: 3.
2. Interpretiere die Zeile 0x+0y+0z=5.
Lösung: Widerspruch → keine Lösung.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Warum braucht die Winkelberechnung die Vektorlängen?
Lösung: Das Skalarprodukt enthält auch die Größen; Normierung trennt Richtung und Länge.
2. Wie kann die Lösungsmenge eines LGS geometrisch gedeutet werden?
Lösung: Als Schnittmenge von Geraden/Ebenen je nach Dimension.
3. „Was in der Zeichnung gleich aussieht, ist bewiesen gleich.“ – Korrigiere.
Lösung: Eine Zeichnung liefert Hinweise, aber Gleichheit muss über Voraussetzungen/Sätze begründet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Berechnen Sie den Winkel zwischen u=(1|0|0) und v=(1|1|0).
Lösung: cos(α)=1/√2 ⇒ α=45°.
2. Bestimmen Sie eine Ebenengleichung durch P(1|2|3) mit Normalenvektor n=(0|0|1).
Lösung: E: x₃=3 bzw. z=3.
3. Ermitteln Sie den Abstand von P(1|2|3) zur Ebene E: z=0.
Lösung: Der Abstand beträgt 3.
4. Weisen Sie nach, dass g mit Richtungsvektor (1|1|1) senkrecht auf E: x₁+x₂+x₃=3 steht.
Lösung: Der Richtungsvektor von g ist parallel zum Normalenvektor n=(1|1|1) der Ebene.
5. Beurteilen Sie die Aussage: „Zwei Geraden im Raum mit nicht parallelen Richtungsvektoren schneiden sich immer.“
Lösung: Falsch. Nicht parallele Geraden können windschief sein.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TITLE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82512"/>
            <a:ext cx="12191695" cy="475488"/>
          </a:xfrm>
          <a:prstGeom prst="rect">
            <a:avLst/>
          </a:prstGeom>
          <a:solidFill>
            <a:srgbClr val="234A69"/>
          </a:solidFill>
          <a:ln w="12700">
            <a:solidFill>
              <a:srgbClr val="234A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41148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8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58368" y="969264"/>
            <a:ext cx="192024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235440" y="6473952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NRW · Gymnasium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CONTENT">
    <p:bg>
      <p:bgPr>
        <a:solidFill>
          <a:srgbClr val="F7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00584"/>
            <a:ext cx="4023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MATHEMATIK  •  WIEDERHOLUNG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640080" y="6455664"/>
            <a:ext cx="10881360" cy="0"/>
          </a:xfrm>
          <a:prstGeom prst="line">
            <a:avLst/>
          </a:prstGeom>
          <a:noFill/>
          <a:ln w="12700">
            <a:solidFill>
              <a:srgbClr val="D9E0E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65105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leichten Einstieg zum Transfer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_EXIT">
    <p:bg>
      <p:bgPr>
        <a:solidFill>
          <a:srgbClr val="1732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324D"/>
          </a:solidFill>
          <a:ln w="12700">
            <a:solidFill>
              <a:srgbClr val="17324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3891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5-MINUTEN-CHECK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658368" y="914400"/>
            <a:ext cx="2194560" cy="0"/>
          </a:xfrm>
          <a:prstGeom prst="line">
            <a:avLst/>
          </a:prstGeom>
          <a:noFill/>
          <a:ln w="50800">
            <a:solidFill>
              <a:srgbClr val="F0B4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0" y="6473952"/>
            <a:ext cx="3017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8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 · Selbstcheck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261872"/>
            <a:ext cx="1691640" cy="329184"/>
          </a:xfrm>
          <a:prstGeom prst="roundRect">
            <a:avLst>
              <a:gd name="adj" fmla="val 22222"/>
            </a:avLst>
          </a:prstGeom>
          <a:solidFill>
            <a:srgbClr val="6F5AA8"/>
          </a:solidFill>
          <a:ln w="12700">
            <a:solidFill>
              <a:srgbClr val="6F5AA8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58952" y="1289304"/>
            <a:ext cx="1545336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Leistungskurs (Q1/Q2)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33272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Wiederholung: Analytische Geometrie und Lineare Algebra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713232" y="2633472"/>
            <a:ext cx="950976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D8E6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Kurze Fragen · sichere Grundlagen · Anwendungen · Transfer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49808" y="3364992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3291840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Skalarprodukt, Orthogonalität und Winkel</a:t>
            </a:r>
            <a:endParaRPr lang="en-US" sz="1420" dirty="0"/>
          </a:p>
        </p:txBody>
      </p:sp>
      <p:sp>
        <p:nvSpPr>
          <p:cNvPr id="8" name="Shape 6"/>
          <p:cNvSpPr/>
          <p:nvPr/>
        </p:nvSpPr>
        <p:spPr>
          <a:xfrm>
            <a:off x="749808" y="3794760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87552" y="3721608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Ebenen in Parameter-, Koordinaten- und Normalenform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749808" y="4224528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7552" y="4151376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Schnittwinkel und Schnittpunkte von Geraden/Ebenen</a:t>
            </a:r>
            <a:endParaRPr lang="en-US" sz="1420" dirty="0"/>
          </a:p>
        </p:txBody>
      </p:sp>
      <p:sp>
        <p:nvSpPr>
          <p:cNvPr id="12" name="Shape 10"/>
          <p:cNvSpPr/>
          <p:nvPr/>
        </p:nvSpPr>
        <p:spPr>
          <a:xfrm>
            <a:off x="749808" y="4654296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4581144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Lagebeziehungen und Abstände zwischen Punkten, Geraden und Ebenen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749808" y="5084064"/>
            <a:ext cx="128016" cy="128016"/>
          </a:xfrm>
          <a:prstGeom prst="ellipse">
            <a:avLst/>
          </a:prstGeom>
          <a:solidFill>
            <a:srgbClr val="F0B44D"/>
          </a:solidFill>
          <a:ln w="12700">
            <a:solidFill>
              <a:srgbClr val="F0B4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87552" y="5010912"/>
            <a:ext cx="978408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Lineare Gleichungssysteme und algorithmische Lösungsverfahren</a:t>
            </a:r>
            <a:endParaRPr lang="en-US" sz="14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Einstieg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Leistungskurs (Q1/Q2) · Analytische Geometrie und Lineare Algebra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u·v bei u=(1,2), v=(3,−1)?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64224" y="1764792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64224" y="1764792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31152" y="1755648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ist ein Normalenvektor einer Ebene?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31520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96112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96112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63040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findet man den Schnittpunkt einer Geraden mit einer Ebene?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6199632" y="3456432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FD6DD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64224" y="3621024"/>
            <a:ext cx="438912" cy="438912"/>
          </a:xfrm>
          <a:prstGeom prst="ellipse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64224" y="3621024"/>
            <a:ext cx="438912" cy="4389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931152" y="3611880"/>
            <a:ext cx="4361688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Abstand zweier Punkte A,B?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49808" y="5532120"/>
            <a:ext cx="475488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Ziel: erst Sicherheit gewinnen – dann steigern.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Begriffe &amp; Grundideen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Leistungskurs (Q1/Q2) · erkläre ohne lange Rechnung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Wann sind Vektoren orthogonal?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999232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31520" y="2999232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136392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914400" y="3483864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hängen Normalen- und Koordinatenform zusammen?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398264"/>
            <a:ext cx="69951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31520" y="4398264"/>
            <a:ext cx="73152" cy="12344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4535424"/>
            <a:ext cx="66751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Begriff 3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914400" y="4882896"/>
            <a:ext cx="6675120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Wodurch wird der Winkel Gerade–Ebene berechnet?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8001000" y="1600200"/>
            <a:ext cx="3429000" cy="2971800"/>
          </a:xfrm>
          <a:prstGeom prst="roundRect">
            <a:avLst>
              <a:gd name="adj" fmla="val 2769"/>
            </a:avLst>
          </a:prstGeom>
          <a:solidFill>
            <a:srgbClr val="F1EDF8"/>
          </a:solidFill>
          <a:ln w="15240">
            <a:solidFill>
              <a:srgbClr val="6F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75320" y="1847088"/>
            <a:ext cx="2651760" cy="3200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Kernideen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75320" y="2267712"/>
            <a:ext cx="2743200" cy="1965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cos α = (u·v)/(|u||v|).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Normalenform: (x−a)·n=0.</a:t>
            </a:r>
            <a:endParaRPr lang="en-US" sz="1400" dirty="0"/>
          </a:p>
          <a:p>
            <a:pPr algn="l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Gerade–Ebene: α = 90° − Winkel(u,n).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138160" y="4983480"/>
            <a:ext cx="3291840" cy="749808"/>
          </a:xfrm>
          <a:prstGeom prst="roundRect">
            <a:avLst>
              <a:gd name="adj" fmla="val 9756"/>
            </a:avLst>
          </a:prstGeom>
          <a:solidFill>
            <a:srgbClr val="F1EDF8"/>
          </a:solidFill>
          <a:ln w="13970">
            <a:solidFill>
              <a:srgbClr val="6F5A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21040" y="5120640"/>
            <a:ext cx="68580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MERKE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8321040" y="5330952"/>
            <a:ext cx="28803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450" b="1" dirty="0">
                <a:solidFill>
                  <a:srgbClr val="1F2933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cos α = (u·v)/(|u||v|).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Rechnen – sicher starten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Leistungskurs (Q1/Q2) · Basisaufgaben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u=(1,0,0), v=(1,1,0): Winkel?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891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5720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n=(2,−1,3), P(1|0|2): Normalenform?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046720" y="1600200"/>
            <a:ext cx="3429000" cy="43434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600200"/>
            <a:ext cx="73152" cy="434340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0" y="1737360"/>
            <a:ext cx="31089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229600" y="2084832"/>
            <a:ext cx="3108960" cy="373989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g: x=(0,0,0)+t(1,1,1), E: x₁+x₂+x₃=6. Schnittparameter?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" y="6062472"/>
            <a:ext cx="585216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 sauber: Ansatz → Rechnung → Ergebnis/Deutung.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Darstellungen lesen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Leistungskurs (Q1/Q2) · Bild, Graph oder Modell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6492240" cy="443484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54305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5458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16611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7764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8917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0070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12230" y="1783080"/>
            <a:ext cx="0" cy="406908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233934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307848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81762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55676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5295900"/>
            <a:ext cx="6126480" cy="0"/>
          </a:xfrm>
          <a:prstGeom prst="line">
            <a:avLst/>
          </a:prstGeom>
          <a:noFill/>
          <a:ln w="7620">
            <a:solidFill>
              <a:srgbClr val="EEF1F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0" y="4892040"/>
            <a:ext cx="3383280" cy="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560320" y="4892040"/>
            <a:ext cx="0" cy="-237744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2560320" y="4892040"/>
            <a:ext cx="-822960" cy="822960"/>
          </a:xfrm>
          <a:prstGeom prst="line">
            <a:avLst/>
          </a:prstGeom>
          <a:noFill/>
          <a:ln w="17780">
            <a:solidFill>
              <a:srgbClr val="1F2933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2560320" y="4892040"/>
            <a:ext cx="2377440" cy="-1645920"/>
          </a:xfrm>
          <a:prstGeom prst="line">
            <a:avLst/>
          </a:prstGeom>
          <a:noFill/>
          <a:ln w="38100">
            <a:solidFill>
              <a:srgbClr val="6F5AA8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3794760" y="3840480"/>
            <a:ext cx="3200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3840480" y="3520440"/>
            <a:ext cx="2560320" cy="1417320"/>
          </a:xfrm>
          <a:prstGeom prst="parallelogram">
            <a:avLst/>
          </a:prstGeom>
          <a:solidFill>
            <a:srgbClr val="F1EDF8">
              <a:alpha val="82000"/>
            </a:srgbClr>
          </a:solidFill>
          <a:ln w="21590">
            <a:solidFill>
              <a:srgbClr val="6F5AA8">
                <a:alpha val="80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498080" y="160020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498080" y="160020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0" y="173736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Beobachten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7680960" y="208483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hängen Normalen- und Koordinatenform zusammen?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7498080" y="3794760"/>
            <a:ext cx="3931920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498080" y="3794760"/>
            <a:ext cx="73152" cy="196596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0" y="3931920"/>
            <a:ext cx="3611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Nutzen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4279392"/>
            <a:ext cx="3611880" cy="1362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g: x=(0,0,0)+t(1,1,1), E: x₁+x₂+x₃=6. Schnittparameter?</a:t>
            </a:r>
            <a:endParaRPr 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Anwenden im Kontext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Leistungskurs (Q1/Q2) · etwas mehr Denken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1EDF8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P(1|2|3), E: z=0. Abstand?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4434840"/>
          </a:xfrm>
          <a:prstGeom prst="roundRect">
            <a:avLst>
              <a:gd name="adj" fmla="val 1856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443484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 2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38313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90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Interpretiere die Zeile 0x+0y+0z=5.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749808" y="6053328"/>
            <a:ext cx="7498080" cy="2468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30" i="1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Tipp: Welche Größe ist gesucht? Welche Darstellung oder Formel hilft?</a:t>
            </a:r>
            <a:endParaRPr lang="en-US" sz="11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658368"/>
            <a:ext cx="978408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Denkfragen &amp; Fehler finden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0744200" y="694944"/>
            <a:ext cx="685800" cy="109728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76656" y="1152144"/>
            <a:ext cx="77724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6372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Leistungskurs (Q1/Q2) · Konzepte wirklich verstanden?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Denkfrage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Warum braucht die Winkelberechnung die Vektorlängen?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6199632" y="1600200"/>
            <a:ext cx="525780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 w="13970">
            <a:solidFill>
              <a:srgbClr val="D9E0E6"/>
            </a:solidFill>
            <a:prstDash val="solid"/>
          </a:ln>
          <a:effectLst>
            <a:outerShdw sx="100000" sy="100000" kx="0" ky="0" algn="bl" rotWithShape="0" blurRad="12700" dist="50800" dir="2700000">
              <a:srgbClr val="C7CED6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99632" y="1600200"/>
            <a:ext cx="73152" cy="1874520"/>
          </a:xfrm>
          <a:prstGeom prst="rect">
            <a:avLst/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82512" y="1737360"/>
            <a:ext cx="49377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6F5A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Transfer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6382512" y="2084832"/>
            <a:ext cx="4937760" cy="127101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algn="l" indent="0" marL="0">
              <a:buNone/>
            </a:pPr>
            <a:r>
              <a:rPr lang="en-US" sz="1750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kann die Lösungsmenge eines LGS geometrisch gedeutet werden?</a:t>
            </a:r>
            <a:endParaRPr lang="en-US" sz="1750" dirty="0"/>
          </a:p>
        </p:txBody>
      </p:sp>
      <p:sp>
        <p:nvSpPr>
          <p:cNvPr id="13" name="Shape 11"/>
          <p:cNvSpPr/>
          <p:nvPr/>
        </p:nvSpPr>
        <p:spPr>
          <a:xfrm>
            <a:off x="731520" y="3794760"/>
            <a:ext cx="10725912" cy="1828800"/>
          </a:xfrm>
          <a:prstGeom prst="roundRect">
            <a:avLst>
              <a:gd name="adj" fmla="val 4500"/>
            </a:avLst>
          </a:prstGeom>
          <a:solidFill>
            <a:srgbClr val="F9ECEC"/>
          </a:solidFill>
          <a:ln w="15240">
            <a:solidFill>
              <a:srgbClr val="C75A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4041648"/>
            <a:ext cx="1828800" cy="2286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FEHLER DES TAGES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9264" y="4416552"/>
            <a:ext cx="996696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„Was in der Zeichnung gleich aussieht, ist bewiesen gleich.“ – Korrigiere.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9264" y="5230368"/>
            <a:ext cx="47548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C75A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Korrigiere die Aussage und begründe.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84280" y="6492240"/>
            <a:ext cx="32004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3728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1207008"/>
            <a:ext cx="7680960" cy="5120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Kontrollfragen im Abiturstil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713232" y="1737360"/>
            <a:ext cx="1042416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50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Qualifikationsphase – Leistungskurs (Q1/Q2) · Analytische Geometrie und Lineare Algebra · an wiederkehrenden Abitur-Schwerpunkten orientiert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731520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59536" y="249631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96112" y="251460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BERECHNEN</a:t>
            </a:r>
            <a:endParaRPr lang="en-US" sz="820" dirty="0"/>
          </a:p>
        </p:txBody>
      </p:sp>
      <p:sp>
        <p:nvSpPr>
          <p:cNvPr id="7" name="Text 5"/>
          <p:cNvSpPr/>
          <p:nvPr/>
        </p:nvSpPr>
        <p:spPr>
          <a:xfrm>
            <a:off x="2194560" y="243230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Berechnen Sie den Winkel zwischen u=(1|0|0) und v=(1|1|0).</a:t>
            </a:r>
            <a:endParaRPr lang="en-US" sz="1230" dirty="0"/>
          </a:p>
        </p:txBody>
      </p:sp>
      <p:sp>
        <p:nvSpPr>
          <p:cNvPr id="8" name="Shape 6"/>
          <p:cNvSpPr/>
          <p:nvPr/>
        </p:nvSpPr>
        <p:spPr>
          <a:xfrm>
            <a:off x="6236208" y="233172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64224" y="249631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0" y="251460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BESTIMMEN</a:t>
            </a:r>
            <a:endParaRPr lang="en-US" sz="820" dirty="0"/>
          </a:p>
        </p:txBody>
      </p:sp>
      <p:sp>
        <p:nvSpPr>
          <p:cNvPr id="11" name="Text 9"/>
          <p:cNvSpPr/>
          <p:nvPr/>
        </p:nvSpPr>
        <p:spPr>
          <a:xfrm>
            <a:off x="7699248" y="243230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Bestimmen Sie eine Ebenengleichung durch P(1|2|3) mit Normalenvektor n=(0|0|1).</a:t>
            </a:r>
            <a:endParaRPr lang="en-US" sz="1230" dirty="0"/>
          </a:p>
        </p:txBody>
      </p:sp>
      <p:sp>
        <p:nvSpPr>
          <p:cNvPr id="12" name="Shape 10"/>
          <p:cNvSpPr/>
          <p:nvPr/>
        </p:nvSpPr>
        <p:spPr>
          <a:xfrm>
            <a:off x="731520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59536" y="359359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96112" y="361188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ERMITTELN</a:t>
            </a:r>
            <a:endParaRPr lang="en-US" sz="820" dirty="0"/>
          </a:p>
        </p:txBody>
      </p:sp>
      <p:sp>
        <p:nvSpPr>
          <p:cNvPr id="15" name="Text 13"/>
          <p:cNvSpPr/>
          <p:nvPr/>
        </p:nvSpPr>
        <p:spPr>
          <a:xfrm>
            <a:off x="2194560" y="352958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Ermitteln Sie den Abstand von P(1|2|3) zur Ebene E: z=0.</a:t>
            </a:r>
            <a:endParaRPr lang="en-US" sz="1230" dirty="0"/>
          </a:p>
        </p:txBody>
      </p:sp>
      <p:sp>
        <p:nvSpPr>
          <p:cNvPr id="16" name="Shape 14"/>
          <p:cNvSpPr/>
          <p:nvPr/>
        </p:nvSpPr>
        <p:spPr>
          <a:xfrm>
            <a:off x="6236208" y="3429000"/>
            <a:ext cx="5230368" cy="841248"/>
          </a:xfrm>
          <a:prstGeom prst="roundRect">
            <a:avLst>
              <a:gd name="adj" fmla="val 7609"/>
            </a:avLst>
          </a:prstGeom>
          <a:solidFill>
            <a:srgbClr val="20445F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364224" y="3593592"/>
            <a:ext cx="1170432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0" y="3611880"/>
            <a:ext cx="1097280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NACHWEISEN</a:t>
            </a:r>
            <a:endParaRPr lang="en-US" sz="820" dirty="0"/>
          </a:p>
        </p:txBody>
      </p:sp>
      <p:sp>
        <p:nvSpPr>
          <p:cNvPr id="19" name="Text 17"/>
          <p:cNvSpPr/>
          <p:nvPr/>
        </p:nvSpPr>
        <p:spPr>
          <a:xfrm>
            <a:off x="7699248" y="3529584"/>
            <a:ext cx="3621024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2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Weisen Sie nach, dass g mit Richtungsvektor (1|1|1) senkrecht auf E: x₁+x₂+x₃=3 steht.</a:t>
            </a:r>
            <a:endParaRPr lang="en-US" sz="1230" dirty="0"/>
          </a:p>
        </p:txBody>
      </p:sp>
      <p:sp>
        <p:nvSpPr>
          <p:cNvPr id="20" name="Shape 18"/>
          <p:cNvSpPr/>
          <p:nvPr/>
        </p:nvSpPr>
        <p:spPr>
          <a:xfrm>
            <a:off x="731520" y="4526280"/>
            <a:ext cx="10762488" cy="841248"/>
          </a:xfrm>
          <a:prstGeom prst="roundRect">
            <a:avLst>
              <a:gd name="adj" fmla="val 7609"/>
            </a:avLst>
          </a:prstGeom>
          <a:solidFill>
            <a:srgbClr val="234A69"/>
          </a:solidFill>
          <a:ln w="12700">
            <a:solidFill>
              <a:srgbClr val="4A6C8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59536" y="4690872"/>
            <a:ext cx="1234440" cy="274320"/>
          </a:xfrm>
          <a:prstGeom prst="roundRect">
            <a:avLst>
              <a:gd name="adj" fmla="val 20000"/>
            </a:avLst>
          </a:prstGeom>
          <a:solidFill>
            <a:srgbClr val="6F5AA8"/>
          </a:solidFill>
          <a:ln w="12700">
            <a:solidFill>
              <a:srgbClr val="6F5A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4709160"/>
            <a:ext cx="1161288" cy="21031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BEURTEILEN</a:t>
            </a:r>
            <a:endParaRPr lang="en-US" sz="820" dirty="0"/>
          </a:p>
        </p:txBody>
      </p:sp>
      <p:sp>
        <p:nvSpPr>
          <p:cNvPr id="23" name="Text 21"/>
          <p:cNvSpPr/>
          <p:nvPr/>
        </p:nvSpPr>
        <p:spPr>
          <a:xfrm>
            <a:off x="2258568" y="4626864"/>
            <a:ext cx="9089136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Beurteilen Sie die Aussage: „Zwei Geraden im Raum mit nicht parallelen Richtungsvektoren schneiden sich immer.“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749808" y="5632704"/>
            <a:ext cx="57607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40" i="1" dirty="0">
                <a:solidFill>
                  <a:srgbClr val="BF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Operatoren gemäß Standardsicherung NRW · gültig ab Abitur 2023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6629400" y="5605272"/>
            <a:ext cx="9601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l" indent="0" marL="0">
              <a:buNone/>
            </a:pPr>
            <a:r>
              <a:rPr lang="en-US" sz="980" b="1" dirty="0">
                <a:solidFill>
                  <a:srgbClr val="C9DA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Selbstcheck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635240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4F8B6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80960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sicher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8842248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F0B44D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87968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</a:t>
            </a:r>
            <a:endParaRPr lang="en-US" sz="930" dirty="0"/>
          </a:p>
        </p:txBody>
      </p:sp>
      <p:sp>
        <p:nvSpPr>
          <p:cNvPr id="30" name="Shape 28"/>
          <p:cNvSpPr/>
          <p:nvPr/>
        </p:nvSpPr>
        <p:spPr>
          <a:xfrm>
            <a:off x="10049256" y="5513832"/>
            <a:ext cx="1051560" cy="384048"/>
          </a:xfrm>
          <a:prstGeom prst="roundRect">
            <a:avLst>
              <a:gd name="adj" fmla="val 16667"/>
            </a:avLst>
          </a:prstGeom>
          <a:solidFill>
            <a:srgbClr val="C75A5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94976" y="5577840"/>
            <a:ext cx="9601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algn="ctr" indent="0" marL="0"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üben</a:t>
            </a:r>
            <a:endParaRPr lang="en-US" sz="9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658600" y="6446520"/>
            <a:ext cx="27432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C8D5E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Rivius Gymnasium Attendorn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Qualifikationsphase – Leistungskurs (Q1/Q2) – Analytische Geometrie und Lineare Algebra – Wiederholung</dc:title>
  <dc:subject>Mathematik Wiederholung</dc:subject>
  <dc:creator>Jonathan Hardenacke / OpenAI</dc:creator>
  <cp:lastModifiedBy>Jonathan Hardenacke / OpenAI</cp:lastModifiedBy>
  <cp:revision>1</cp:revision>
  <dcterms:created xsi:type="dcterms:W3CDTF">2026-09-12T12:19:26Z</dcterms:created>
  <dcterms:modified xsi:type="dcterms:W3CDTF">2026-09-12T12:19:26Z</dcterms:modified>
</cp:coreProperties>
</file>