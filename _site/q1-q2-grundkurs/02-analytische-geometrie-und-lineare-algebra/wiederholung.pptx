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6F5AA8"/>
          </a:solidFill>
          <a:ln w="12700">
            <a:solidFill>
              <a:srgbClr val="6F5A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Analytische Geometrie und Lineare Algebra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Skalarprodukt, Orthogonalität, Winkel zwischen Vektoren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Ebenen in Parameter- und Koordinatenform; Normalenvektor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Schnittwinkel; Schnittpunkte von Geraden und Ebenen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49808" y="4654296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581144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Lineare Gleichungssysteme und algorithmisches Lösungsverfahren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Analytische Geometrie und Lineare Algebra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u·v bei u=(1,2), v=(3,−1)?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Koordinatenform einer Ebene: Welche Größen stehen im Normalenvektor?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findet man den Schnittpunkt einer Geraden mit einer Ebene?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heißt Gauß ein algorithmisches Verfahren?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sind Vektoren orthogonal?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viele unabhängige Richtungsvektoren braucht eine Ebene in Parameterform?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Wodurch wird der Winkel Gerade–Ebene berechnet?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1EDF8"/>
          </a:solidFill>
          <a:ln w="15240">
            <a:solidFill>
              <a:srgbClr val="6F5A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 α = (u·v)/(|u||v|).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E: x=a+r·u+s·v bzw. n·x=d.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Gerade–Ebene: α = 90° − Winkel(u,n).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1EDF8"/>
          </a:solidFill>
          <a:ln w="13970">
            <a:solidFill>
              <a:srgbClr val="6F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cos α = (u·v)/(|u||v|).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u=(1,0,0), v=(1,1,0): Winkel?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x₁+x₂+x₃=6. Liegt P(1|2|3) auf E?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g: x=(0,0,0)+t(1,1,1), E: x₁+x₂+x₃=6. Schnittparameter?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4892040"/>
            <a:ext cx="3383280" cy="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560320" y="4892040"/>
            <a:ext cx="0" cy="-237744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560320" y="4892040"/>
            <a:ext cx="-822960" cy="82296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560320" y="4892040"/>
            <a:ext cx="2377440" cy="-164592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794760" y="3840480"/>
            <a:ext cx="320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840480" y="3520440"/>
            <a:ext cx="2560320" cy="1417320"/>
          </a:xfrm>
          <a:prstGeom prst="parallelogram">
            <a:avLst/>
          </a:prstGeom>
          <a:solidFill>
            <a:srgbClr val="F1EDF8">
              <a:alpha val="82000"/>
            </a:srgbClr>
          </a:solidFill>
          <a:ln w="21590">
            <a:solidFill>
              <a:srgbClr val="6F5AA8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viele unabhängige Richtungsvektoren braucht eine Ebene in Parameterform?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g: x=(0,0,0)+t(1,1,1), E: x₁+x₂+x₃=6. Schnittparameter?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g: x=(0,0,0)+t(1,1,1), E: x₁+x₂+x₃=6. Schnittparameter?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Interpretiere die Zeile 0x+0y+0z=5.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braucht die Winkelberechnung die Vektorlängen?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kann die Lösungsmenge eines LGS geometrisch gedeutet werden?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„Was in der Zeichnung gleich aussieht, ist bewiesen gleich.“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8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85800" y="1207008"/>
            <a:ext cx="7680960" cy="512064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Kontrollfragen</a:t>
            </a:r>
            <a:endParaRPr lang="en-US" sz="27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713232" y="1737360"/>
            <a:ext cx="1042416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Analytische Geometrie und Lineare Algebra</a:t>
            </a:r>
            <a:endParaRPr lang="en-US" sz="125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5" name="Shape 3"/>
          <ns0:cNvSpPr/>
          <ns0:nvPr/>
        </ns0:nvSpPr>
        <ns0:spPr>
          <a:xfrm>
            <a:off x="859536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6" name="Text 4"/>
          <ns0:cNvSpPr/>
          <ns0:nvPr/>
        </ns0:nvSpPr>
        <ns0:spPr>
          <a:xfrm>
            <a:off x="896112" y="251460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</a:t>
            </a:r>
            <a:endParaRPr lang="en-US" sz="820" dirty="0"/>
          </a:p>
        </ns0:txBody>
      </ns0:sp>
      <ns0:sp>
        <ns0:nvSpPr>
          <ns0:cNvPr id="7" name="Text 5"/>
          <ns0:cNvSpPr/>
          <ns0:nvPr/>
        </ns0:nvSpPr>
        <ns0:spPr>
          <a:xfrm>
            <a:off x="2194560" y="243230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 Sie u·v für u=(1|2|0) und v=(3|−1|0).</a:t>
            </a:r>
            <a:endParaRPr lang="en-US" sz="123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9" name="Shape 7"/>
          <ns0:cNvSpPr/>
          <ns0:nvPr/>
        </ns0:nvSpPr>
        <ns0:spPr>
          <a:xfrm>
            <a:off x="6364224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6400800" y="251460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ENTSCHEIDEN</a:t>
            </a:r>
            <a:endParaRPr lang="en-US" sz="82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7699248" y="243230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Entscheiden Sie, ob u=(1|1|0) und v=(1|−1|0) orthogonal sind.</a:t>
            </a:r>
            <a:endParaRPr lang="en-US" sz="123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13" name="Shape 11"/>
          <ns0:cNvSpPr/>
          <ns0:nvPr/>
        </ns0:nvSpPr>
        <ns0:spPr>
          <a:xfrm>
            <a:off x="859536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896112" y="361188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</a:t>
            </a:r>
            <a:endParaRPr lang="en-US" sz="82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2194560" y="352958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 Sie den Schnittpunkt von g: x=t·(1|1|1) mit E: x₁+x₂+x₃=6.</a:t>
            </a:r>
            <a:endParaRPr lang="en-US" sz="123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17" name="Shape 15"/>
          <ns0:cNvSpPr/>
          <ns0:nvPr/>
        </ns0:nvSpPr>
        <ns0:spPr>
          <a:xfrm>
            <a:off x="6364224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6400800" y="361188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BESCHREIBEN</a:t>
            </a:r>
            <a:endParaRPr lang="en-US" sz="82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7699248" y="352958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Beschreiben Sie die Bedeutung eines Normalenvektors einer Ebene.</a:t>
            </a:r>
            <a:endParaRPr lang="en-US" sz="123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21" name="Shape 19"/>
          <ns0:cNvSpPr/>
          <ns0:nvPr/>
        </ns0:nvSpPr>
        <ns0:spPr>
          <a:xfrm>
            <a:off x="859536" y="469087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896112" y="4709160"/>
            <a:ext cx="1161288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BEURTEILEN</a:t>
            </a:r>
            <a:endParaRPr lang="en-US" sz="82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2258568" y="4626864"/>
            <a:ext cx="9089136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Beurteilen Sie die Aussage: „Zwei Geraden im Raum, die sich nicht schneiden, sind parallel.“</a:t>
            </a:r>
            <a:endParaRPr lang="en-US" sz="1300" dirty="0"/>
          </a:p>
        </ns0:txBody>
      </ns0:sp>
      <ns0:sp>
        <ns0:nvSpPr>
          <ns0:cNvPr id="24" name="Text 22"/>
          <ns0:cNvSpPr/>
          <ns0:nvPr/>
        </ns0:nvSpPr>
        <ns0:spPr>
          <a:xfrm>
            <a:off x="749808" y="5632704"/>
            <a:ext cx="57607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40" dirty="0"/>
          </a:p>
        </ns0:txBody>
      </ns0:sp>
      <ns0:sp>
        <ns0:nvSpPr>
          <ns0:cNvPr id="25" name="Text 23"/>
          <ns0:cNvSpPr/>
          <ns0:nvPr/>
        </ns0:nvSpPr>
        <ns0:spPr>
          <a:xfrm>
            <a:off x="6629400" y="5605272"/>
            <a:ext cx="960120" cy="201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980" dirty="0"/>
          </a:p>
        </ns0:txBody>
      </ns0:sp>
      <ns0:sp>
        <ns0:nvSpPr>
          <ns0:cNvPr id="26" name="Shape 24"/>
          <ns0:cNvSpPr/>
          <ns0:nvPr/>
        </ns0:nvSpPr>
        <ns0:spPr>
          <a:xfrm>
            <a:off x="7635240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27" name="Text 25"/>
          <ns0:cNvSpPr/>
          <ns0:nvPr/>
        </ns0:nvSpPr>
        <ns0:spPr>
          <a:xfrm>
            <a:off x="7680960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30" dirty="0"/>
          </a:p>
        </ns0:txBody>
      </ns0:sp>
      <ns0:sp>
        <ns0:nvSpPr>
          <ns0:cNvPr id="28" name="Shape 26"/>
          <ns0:cNvSpPr/>
          <ns0:nvPr/>
        </ns0:nvSpPr>
        <ns0:spPr>
          <a:xfrm>
            <a:off x="8842248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29" name="Text 27"/>
          <ns0:cNvSpPr/>
          <ns0:nvPr/>
        </ns0:nvSpPr>
        <ns0:spPr>
          <a:xfrm>
            <a:off x="8887968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30" dirty="0"/>
          </a:p>
        </ns0:txBody>
      </ns0:sp>
      <ns0:sp>
        <ns0:nvSpPr>
          <ns0:cNvPr id="30" name="Shape 28"/>
          <ns0:cNvSpPr/>
          <ns0:nvPr/>
        </ns0:nvSpPr>
        <ns0:spPr>
          <a:xfrm>
            <a:off x="10049256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31" name="Text 29"/>
          <ns0:cNvSpPr/>
          <ns0:nvPr/>
        </ns0:nvSpPr>
        <ns0:spPr>
          <a:xfrm>
            <a:off x="10094976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3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ns0:txBody>
      </ns0:sp>
    </ns0:spTree>
  </ns0:cSld>
  <ns0:clrMapOvr>
    <a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Qualifikationsphase – Grundkurs (Q1/Q2) – Analytische Geometrie und Lineare Algebra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