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2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3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4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5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6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7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8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TITLE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234A69"/>
          </a:solidFill>
          <a:ln w="12700">
            <a:solidFill>
              <a:srgbClr val="234A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41148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BF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MATHEMATIK  •  WIEDERHOLUNG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969264"/>
            <a:ext cx="1920240" cy="0"/>
          </a:xfrm>
          <a:prstGeom prst="line">
            <a:avLst/>
          </a:prstGeom>
          <a:noFill/>
          <a:ln w="50800">
            <a:solidFill>
              <a:srgbClr val="F0B44D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235440" y="647395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NRW · Gymnasium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CONTENT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0584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D8E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MATHEMATIK  •  WIEDERHOLUNG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6455664"/>
            <a:ext cx="10881360" cy="0"/>
          </a:xfrm>
          <a:prstGeom prst="line">
            <a:avLst/>
          </a:prstGeom>
          <a:noFill/>
          <a:ln w="12700">
            <a:solidFill>
              <a:srgbClr val="D9E0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510528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Vom leichten Einstieg zum Transfer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EXIT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3891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F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5-MINUTEN-CHECK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58368" y="914400"/>
            <a:ext cx="2194560" cy="0"/>
          </a:xfrm>
          <a:prstGeom prst="line">
            <a:avLst/>
          </a:prstGeom>
          <a:noFill/>
          <a:ln w="50800">
            <a:solidFill>
              <a:srgbClr val="F0B4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0" y="647395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Wiederholung · Selbstcheck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261872"/>
            <a:ext cx="1691640" cy="329184"/>
          </a:xfrm>
          <a:prstGeom prst="roundRect">
            <a:avLst>
              <a:gd name="adj" fmla="val 22222"/>
            </a:avLst>
          </a:prstGeom>
          <a:solidFill>
            <a:srgbClr val="3B6EA5"/>
          </a:solidFill>
          <a:ln w="12700">
            <a:solidFill>
              <a:srgbClr val="3B6EA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" y="1289304"/>
            <a:ext cx="154533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8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033272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Wiederholung: Arithmetik/Algebra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713232" y="2633472"/>
            <a:ext cx="95097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D8E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Kurze Fragen · sichere Grundlagen · Anwendungen · Transfer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49808" y="3364992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3291840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Termumformungen, Rechengesetze und binomische Formeln</a:t>
            </a:r>
            <a:endParaRPr lang="en-US" sz="1420" dirty="0"/>
          </a:p>
        </p:txBody>
      </p:sp>
      <p:sp>
        <p:nvSpPr>
          <p:cNvPr id="8" name="Shape 6"/>
          <p:cNvSpPr/>
          <p:nvPr/>
        </p:nvSpPr>
        <p:spPr>
          <a:xfrm>
            <a:off x="749808" y="3794760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3721608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Lineare Gleichungssysteme mit zwei Variablen; algebraische und grafische Verfahren</a:t>
            </a:r>
            <a:endParaRPr lang="en-US" sz="1420" dirty="0"/>
          </a:p>
        </p:txBody>
      </p:sp>
      <p:sp>
        <p:nvSpPr>
          <p:cNvPr id="10" name="Shape 8"/>
          <p:cNvSpPr/>
          <p:nvPr/>
        </p:nvSpPr>
        <p:spPr>
          <a:xfrm>
            <a:off x="749808" y="4224528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4151376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Bruchterme und elementare Bruchgleichungen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ns0:sld xmlns:a="http://schemas.openxmlformats.org/drawingml/2006/main" xmlns:ns0="http://schemas.openxmlformats.org/presentationml/2006/main" xmlns:ns2="http://schemas.microsoft.com/office/mac/drawingml/2011/main">
  <ns0:cSld name="Slide 2"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Text 0"/>
          <ns0:cNvSpPr/>
          <ns0:nvPr/>
        </ns0:nvSpPr>
        <ns0:spPr>
          <a:xfrm>
            <a:off x="658368" y="658368"/>
            <a:ext cx="9784080" cy="475488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Leichter Einstieg</a:t>
            </a:r>
            <a:endParaRPr lang="en-US" sz="2600" dirty="0"/>
          </a:p>
        </ns0:txBody>
      </ns0:sp>
      <ns0:sp>
        <ns0:nvSpPr>
          <ns0:cNvPr id="3" name="Shape 1"/>
          <ns0:cNvSpPr/>
          <ns0:nvPr/>
        </ns0:nvSpPr>
        <ns0:spPr>
          <a:xfrm>
            <a:off x="10744200" y="694944"/>
            <a:ext cx="685800" cy="109728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ns0:spPr>
      </ns0:sp>
      <ns0:sp>
        <ns0:nvSpPr>
          <ns0:cNvPr id="4" name="Text 2"/>
          <ns0:cNvSpPr/>
          <ns0:nvPr/>
        </ns0:nvSpPr>
        <ns0:spPr>
          <a:xfrm>
            <a:off x="676656" y="1152144"/>
            <a:ext cx="7772400" cy="25603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8 · Arithmetik/Algebra</a:t>
            </a:r>
            <a:endParaRPr lang="en-US" sz="1150" dirty="0"/>
          </a:p>
        </ns0:txBody>
      </ns0:sp>
      <ns0:sp>
        <ns0:nvSpPr>
          <ns0:cNvPr id="5" name="Shape 3"/>
          <ns0:cNvSpPr/>
          <ns0:nvPr/>
        </ns0:nvSpPr>
        <ns0:spPr>
          <a:xfrm>
            <a:off x="731520" y="1600200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ns0:spPr>
      </ns0:sp>
      <ns0:sp>
        <ns0:nvSpPr>
          <ns0:cNvPr id="6" name="Shape 4"/>
          <ns0:cNvSpPr/>
          <ns0:nvPr/>
        </ns0:nvSpPr>
        <ns0:spPr>
          <a:xfrm>
            <a:off x="896112" y="1764792"/>
            <a:ext cx="438912" cy="438912"/>
          </a:xfrm>
          <a:prstGeom prst="ellipse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ns0:spPr>
      </ns0:sp>
      <ns0:sp>
        <ns0:nvSpPr>
          <ns0:cNvPr id="7" name="Text 5"/>
          <ns0:cNvSpPr/>
          <ns0:nvPr/>
        </ns0:nvSpPr>
        <ns0:spPr>
          <a:xfrm>
            <a:off x="896112" y="1764792"/>
            <a:ext cx="438912" cy="43891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ns0:txBody>
      </ns0:sp>
      <ns0:sp>
        <ns0:nvSpPr>
          <ns0:cNvPr id="8" name="Text 6"/>
          <ns0:cNvSpPr/>
          <ns0:nvPr/>
        </ns0:nvSpPr>
        <ns0:spPr>
          <a:xfrm>
            <a:off x="1463040" y="1755648"/>
            <a:ext cx="4361688" cy="1344168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Vereinfache: 4x − 2x + 7.</a:t>
            </a:r>
            <a:endParaRPr lang="en-US" sz="1650" dirty="0"/>
          </a:p>
        </ns0:txBody>
      </ns0:sp>
      <ns0:sp>
        <ns0:nvSpPr>
          <ns0:cNvPr id="9" name="Shape 7"/>
          <ns0:cNvSpPr/>
          <ns0:nvPr/>
        </ns0:nvSpPr>
        <ns0:spPr>
          <a:xfrm>
            <a:off x="6199632" y="1600200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ns0:spPr>
      </ns0:sp>
      <ns0:sp>
        <ns0:nvSpPr>
          <ns0:cNvPr id="10" name="Shape 8"/>
          <ns0:cNvSpPr/>
          <ns0:nvPr/>
        </ns0:nvSpPr>
        <ns0:spPr>
          <a:xfrm>
            <a:off x="6364224" y="1764792"/>
            <a:ext cx="438912" cy="438912"/>
          </a:xfrm>
          <a:prstGeom prst="ellipse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ns0:spPr>
      </ns0:sp>
      <ns0:sp>
        <ns0:nvSpPr>
          <ns0:cNvPr id="11" name="Text 9"/>
          <ns0:cNvSpPr/>
          <ns0:nvPr/>
        </ns0:nvSpPr>
        <ns0:spPr>
          <a:xfrm>
            <a:off x="6364224" y="1764792"/>
            <a:ext cx="438912" cy="43891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ns0:txBody>
      </ns0:sp>
      <ns0:sp>
        <ns0:nvSpPr>
          <ns0:cNvPr id="12" name="Text 10"/>
          <ns0:cNvSpPr/>
          <ns0:nvPr/>
        </ns0:nvSpPr>
        <ns0:spPr>
          <a:xfrm>
            <a:off x="6931152" y="1755648"/>
            <a:ext cx="4361688" cy="1344168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 (2|3) Lösung von x+y=5?</a:t>
            </a:r>
            <a:endParaRPr lang="en-US" sz="1650" dirty="0"/>
          </a:p>
        </ns0:txBody>
      </ns0:sp>
      <ns0:sp>
        <ns0:nvSpPr>
          <ns0:cNvPr id="13" name="Shape 11"/>
          <ns0:cNvSpPr/>
          <ns0:nvPr/>
        </ns0:nvSpPr>
        <ns0:spPr>
          <a:xfrm>
            <a:off x="731520" y="3456432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ns0:spPr>
      </ns0:sp>
      <ns0:sp>
        <ns0:nvSpPr>
          <ns0:cNvPr id="14" name="Shape 12"/>
          <ns0:cNvSpPr/>
          <ns0:nvPr/>
        </ns0:nvSpPr>
        <ns0:spPr>
          <a:xfrm>
            <a:off x="896112" y="3621024"/>
            <a:ext cx="438912" cy="438912"/>
          </a:xfrm>
          <a:prstGeom prst="ellipse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ns0:spPr>
      </ns0:sp>
      <ns0:sp>
        <ns0:nvSpPr>
          <ns0:cNvPr id="15" name="Text 13"/>
          <ns0:cNvSpPr/>
          <ns0:nvPr/>
        </ns0:nvSpPr>
        <ns0:spPr>
          <a:xfrm>
            <a:off x="896112" y="3621024"/>
            <a:ext cx="438912" cy="43891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ns0:txBody>
      </ns0:sp>
      <ns0:sp>
        <ns0:nvSpPr>
          <ns0:cNvPr id="16" name="Text 14"/>
          <ns0:cNvSpPr/>
          <ns0:nvPr/>
        </ns0:nvSpPr>
        <ns0:spPr>
          <a:xfrm>
            <a:off x="1463040" y="3611880"/>
            <a:ext cx="4361688" cy="1344168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Für welche x ist 3/(x−2) nicht definiert?</a:t>
            </a:r>
            <a:endParaRPr lang="en-US" sz="1650" dirty="0"/>
          </a:p>
        </ns0:txBody>
      </ns0:sp>
      <ns0:sp>
        <ns0:nvSpPr>
          <ns0:cNvPr id="17" name="Shape 15"/>
          <ns0:cNvSpPr/>
          <ns0:nvPr/>
        </ns0:nvSpPr>
        <ns0:spPr>
          <a:xfrm>
            <a:off x="6199632" y="3456432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ns0:spPr>
      </ns0:sp>
      <ns0:sp>
        <ns0:nvSpPr>
          <ns0:cNvPr id="18" name="Shape 16"/>
          <ns0:cNvSpPr/>
          <ns0:nvPr/>
        </ns0:nvSpPr>
        <ns0:spPr>
          <a:xfrm>
            <a:off x="6364224" y="3621024"/>
            <a:ext cx="438912" cy="438912"/>
          </a:xfrm>
          <a:prstGeom prst="ellipse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ns0:spPr>
      </ns0:sp>
      <ns0:sp>
        <ns0:nvSpPr>
          <ns0:cNvPr id="19" name="Text 17"/>
          <ns0:cNvSpPr/>
          <ns0:nvPr/>
        </ns0:nvSpPr>
        <ns0:spPr>
          <a:xfrm>
            <a:off x="6364224" y="3621024"/>
            <a:ext cx="438912" cy="43891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ns0:txBody>
      </ns0:sp>
      <ns0:sp>
        <ns0:nvSpPr>
          <ns0:cNvPr id="20" name="Text 18"/>
          <ns0:cNvSpPr/>
          <ns0:nvPr/>
        </ns0:nvSpPr>
        <ns0:spPr>
          <a:xfrm>
            <a:off x="6931152" y="3611880"/>
            <a:ext cx="4361688" cy="1344168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Vereinfache: 4x − 2x + 7.</a:t>
            </a:r>
            <a:endParaRPr lang="en-US" sz="1650" dirty="0"/>
          </a:p>
        </ns0:txBody>
      </ns0:sp>
      <ns0:sp>
        <ns0:nvSpPr>
          <ns0:cNvPr id="21" name="Text 19"/>
          <ns0:cNvSpPr/>
          <ns0:nvPr/>
        </ns0:nvSpPr>
        <ns0:spPr>
          <a:xfrm>
            <a:off x="749808" y="5532120"/>
            <a:ext cx="4754880" cy="274320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150" dirty="0"/>
          </a:p>
        </ns0:txBody>
      </ns0:sp>
      <ns0:sp>
        <ns0:nvSpPr>
          <ns0:cNvPr id="25" name="Slide Number Placeholder 0"/>
          <ns0:cNvSpPr>
            <a:spLocks noGrp="1"/>
          </ns0:cNvSpPr>
          <ns0:nvPr>
            <ns0:ph type="sldNum" sz="quarter" idx="4294967295"/>
          </ns0:nvPr>
        </ns0:nvSpPr>
        <ns0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ns2:wrappingTextBoxFlag val="0"/>
            </a:ext>
          </a:extLst>
        </ns0:spPr>
        <ns0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ns0:txBody>
      </ns0:sp>
    </ns0:spTree>
  </ns0:cSld>
  <ns0:clrMapOvr>
    <a:masterClrMapping/>
  </ns0:clrMapOvr>
</ns0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Begriffe &amp; Grundideen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8 · erkläre ohne lange Rechnung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1234440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B6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 Struktur steckt in (a+b)²?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2999232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999232"/>
            <a:ext cx="73152" cy="1234440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136392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B6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14400" y="3483864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bedeutet der Schnittpunkt zweier Geraden im LGS?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31520" y="4398264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4398264"/>
            <a:ext cx="73152" cy="1234440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535424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B6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3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14400" y="4882896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muss man bei Bruchtermen die Definitionsmenge beachten?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001000" y="1600200"/>
            <a:ext cx="3429000" cy="2971800"/>
          </a:xfrm>
          <a:prstGeom prst="roundRect">
            <a:avLst>
              <a:gd name="adj" fmla="val 2769"/>
            </a:avLst>
          </a:prstGeom>
          <a:solidFill>
            <a:srgbClr val="EAF1F7"/>
          </a:solidFill>
          <a:ln w="15240">
            <a:solidFill>
              <a:srgbClr val="3B6E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75320" y="1847088"/>
            <a:ext cx="26517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B6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Kernideen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75320" y="2267712"/>
            <a:ext cx="2743200" cy="1965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(a±b)²=a²±2ab+b²; (a+b)(a−b)=a²−b²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Lösung eines LGS = gemeinsamer Punkt aller Gleichungen.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Nenner ≠ 0; danach sinnvoll kürzen oder Hauptnenner verwenden.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138160" y="4983480"/>
            <a:ext cx="3291840" cy="749808"/>
          </a:xfrm>
          <a:prstGeom prst="roundRect">
            <a:avLst>
              <a:gd name="adj" fmla="val 9756"/>
            </a:avLst>
          </a:prstGeom>
          <a:solidFill>
            <a:srgbClr val="EAF1F7"/>
          </a:solidFill>
          <a:ln w="13970">
            <a:solidFill>
              <a:srgbClr val="3B6EA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5120640"/>
            <a:ext cx="685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B6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MERKE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321040" y="5330952"/>
            <a:ext cx="2880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(a±b)²=a²±2ab+b²; (a+b)(a−b)=a²−b²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Rechnen – sicher starten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8 · Basisaufgaben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4343400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B6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Multipliziere aus: (x+3)(x−3).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43891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0" y="1600200"/>
            <a:ext cx="73152" cy="4343400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B6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Löse: x+y=7 und x−y=1.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80467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0" y="1600200"/>
            <a:ext cx="73152" cy="4343400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B6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2296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Vereinfache: 6x/(3x), x≠0.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749808" y="6062472"/>
            <a:ext cx="585216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Arbeite sauber: Ansatz → Rechnung → Ergebnis/Deutung.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Darstellungen lesen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8 · Bild, Graph oder Modell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649224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4305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5458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6611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7764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8917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0070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1223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233934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307848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381762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455676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529590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91640" y="2606040"/>
            <a:ext cx="914400" cy="960120"/>
          </a:xfrm>
          <a:prstGeom prst="rect">
            <a:avLst/>
          </a:prstGeom>
          <a:solidFill>
            <a:srgbClr val="3B6EA5"/>
          </a:solidFill>
          <a:ln w="17780">
            <a:solidFill>
              <a:srgbClr val="D9E0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06040" y="2606040"/>
            <a:ext cx="914400" cy="960120"/>
          </a:xfrm>
          <a:prstGeom prst="rect">
            <a:avLst/>
          </a:prstGeom>
          <a:solidFill>
            <a:srgbClr val="3B6EA5"/>
          </a:solidFill>
          <a:ln w="17780">
            <a:solidFill>
              <a:srgbClr val="D9E0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0440" y="2606040"/>
            <a:ext cx="914400" cy="960120"/>
          </a:xfrm>
          <a:prstGeom prst="rect">
            <a:avLst/>
          </a:prstGeom>
          <a:solidFill>
            <a:srgbClr val="3B6EA5"/>
          </a:solidFill>
          <a:ln w="17780">
            <a:solidFill>
              <a:srgbClr val="D9E0E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34840" y="2606040"/>
            <a:ext cx="914400" cy="960120"/>
          </a:xfrm>
          <a:prstGeom prst="rect">
            <a:avLst/>
          </a:prstGeom>
          <a:solidFill>
            <a:srgbClr val="FFFFFF"/>
          </a:solidFill>
          <a:ln w="17780">
            <a:solidFill>
              <a:srgbClr val="D9E0E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49240" y="2606040"/>
            <a:ext cx="914400" cy="960120"/>
          </a:xfrm>
          <a:prstGeom prst="rect">
            <a:avLst/>
          </a:prstGeom>
          <a:solidFill>
            <a:srgbClr val="FFFFFF"/>
          </a:solidFill>
          <a:ln w="17780">
            <a:solidFill>
              <a:srgbClr val="D9E0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3794760"/>
            <a:ext cx="100584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B6EA5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3/5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1645920" y="4846320"/>
            <a:ext cx="4754880" cy="0"/>
          </a:xfrm>
          <a:prstGeom prst="line">
            <a:avLst/>
          </a:prstGeom>
          <a:noFill/>
          <a:ln w="17780">
            <a:solidFill>
              <a:srgbClr val="1F2933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645920" y="4736592"/>
            <a:ext cx="0" cy="219456"/>
          </a:xfrm>
          <a:prstGeom prst="line">
            <a:avLst/>
          </a:prstGeom>
          <a:noFill/>
          <a:ln w="12700">
            <a:solidFill>
              <a:srgbClr val="1F29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60320" y="4736592"/>
            <a:ext cx="0" cy="219456"/>
          </a:xfrm>
          <a:prstGeom prst="line">
            <a:avLst/>
          </a:prstGeom>
          <a:noFill/>
          <a:ln w="12700">
            <a:solidFill>
              <a:srgbClr val="1F29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74720" y="4736592"/>
            <a:ext cx="0" cy="219456"/>
          </a:xfrm>
          <a:prstGeom prst="line">
            <a:avLst/>
          </a:prstGeom>
          <a:noFill/>
          <a:ln w="12700">
            <a:solidFill>
              <a:srgbClr val="1F29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389120" y="4736592"/>
            <a:ext cx="0" cy="219456"/>
          </a:xfrm>
          <a:prstGeom prst="line">
            <a:avLst/>
          </a:prstGeom>
          <a:noFill/>
          <a:ln w="12700">
            <a:solidFill>
              <a:srgbClr val="1F29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303520" y="4736592"/>
            <a:ext cx="0" cy="219456"/>
          </a:xfrm>
          <a:prstGeom prst="line">
            <a:avLst/>
          </a:prstGeom>
          <a:noFill/>
          <a:ln w="12700">
            <a:solidFill>
              <a:srgbClr val="1F29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17920" y="4736592"/>
            <a:ext cx="0" cy="219456"/>
          </a:xfrm>
          <a:prstGeom prst="line">
            <a:avLst/>
          </a:prstGeom>
          <a:noFill/>
          <a:ln w="12700">
            <a:solidFill>
              <a:srgbClr val="1F29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498080" y="1600200"/>
            <a:ext cx="3931920" cy="1965960"/>
          </a:xfrm>
          <a:prstGeom prst="roundRect">
            <a:avLst>
              <a:gd name="adj" fmla="val 4186"/>
            </a:avLst>
          </a:prstGeom>
          <a:solidFill>
            <a:srgbClr val="EAF1F7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498080" y="1600200"/>
            <a:ext cx="73152" cy="1965960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80960" y="1737360"/>
            <a:ext cx="3611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B6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Beobachten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7680960" y="2084832"/>
            <a:ext cx="3611880" cy="1362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bedeutet der Schnittpunkt zweier Geraden im LGS?</a:t>
            </a:r>
            <a:endParaRPr lang="en-US" sz="1650" dirty="0"/>
          </a:p>
        </p:txBody>
      </p:sp>
      <p:sp>
        <p:nvSpPr>
          <p:cNvPr id="35" name="Shape 33"/>
          <p:cNvSpPr/>
          <p:nvPr/>
        </p:nvSpPr>
        <p:spPr>
          <a:xfrm>
            <a:off x="7498080" y="3794760"/>
            <a:ext cx="393192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498080" y="3794760"/>
            <a:ext cx="73152" cy="1965960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680960" y="3931920"/>
            <a:ext cx="3611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B6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Nutzen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7680960" y="4279392"/>
            <a:ext cx="3611880" cy="1362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Vereinfache: 6x/(3x), x≠0.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Anwenden im Kontext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8 · etwas mehr Denken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257800" cy="4434840"/>
          </a:xfrm>
          <a:prstGeom prst="roundRect">
            <a:avLst>
              <a:gd name="adj" fmla="val 1856"/>
            </a:avLst>
          </a:prstGeom>
          <a:solidFill>
            <a:srgbClr val="EAF1F7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4434840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B6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Kontext 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4937760" cy="3831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Löse: x+y=7 und x−y=1.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199632" y="1600200"/>
            <a:ext cx="5257800" cy="4434840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99632" y="1600200"/>
            <a:ext cx="73152" cy="4434840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2512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B6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Kontext 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82512" y="2084832"/>
            <a:ext cx="4937760" cy="3831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Vereinfache: 6x/(3x), x≠0.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49808" y="6053328"/>
            <a:ext cx="7498080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3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Tipp: Welche Größe ist gesucht? Welche Darstellung oder Formel hilft?</a:t>
            </a:r>
            <a:endParaRPr lang="en-US" sz="11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Denkfragen &amp; Fehler finden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8 · Konzepte wirklich verstanden?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1874520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B6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Denkfrage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4937760" cy="1271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Faktorisiere: x² + 10x + 25.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6199632" y="160020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99632" y="1600200"/>
            <a:ext cx="73152" cy="1874520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2512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B6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82512" y="2084832"/>
            <a:ext cx="4937760" cy="1271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Löse: 2/x = 1/3.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31520" y="3794760"/>
            <a:ext cx="10725912" cy="1828800"/>
          </a:xfrm>
          <a:prstGeom prst="roundRect">
            <a:avLst>
              <a:gd name="adj" fmla="val 4500"/>
            </a:avLst>
          </a:prstGeom>
          <a:solidFill>
            <a:srgbClr val="F9ECEC"/>
          </a:solidFill>
          <a:ln w="15240">
            <a:solidFill>
              <a:srgbClr val="C75A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9264" y="4041648"/>
            <a:ext cx="1828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7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FEHLER DES TAGES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9264" y="4416552"/>
            <a:ext cx="996696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„Beim Addieren von Brüchen addiert man Zähler und Nenner.“ – Korrigiere.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69264" y="5230368"/>
            <a:ext cx="47548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C7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Korrigiere die Aussage und begründe.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234440"/>
            <a:ext cx="685800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Kannst du das noch?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13232" y="1737360"/>
            <a:ext cx="73152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C9DA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8 · Arithmetik/Algebra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233172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247802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353312" y="245059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Vereinfache: 4x − 2x + 7.</a:t>
            </a:r>
            <a:endParaRPr lang="en-US" sz="1430" dirty="0"/>
          </a:p>
        </p:txBody>
      </p:sp>
      <p:sp>
        <p:nvSpPr>
          <p:cNvPr id="7" name="Shape 5"/>
          <p:cNvSpPr/>
          <p:nvPr/>
        </p:nvSpPr>
        <p:spPr>
          <a:xfrm>
            <a:off x="6236208" y="233172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247802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0" y="245059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 (2|3) Lösung von x+y=5?</a:t>
            </a:r>
            <a:endParaRPr lang="en-US" sz="1430" dirty="0"/>
          </a:p>
        </p:txBody>
      </p:sp>
      <p:sp>
        <p:nvSpPr>
          <p:cNvPr id="10" name="Shape 8"/>
          <p:cNvSpPr/>
          <p:nvPr/>
        </p:nvSpPr>
        <p:spPr>
          <a:xfrm>
            <a:off x="731520" y="342900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357530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53312" y="354787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Für welche x ist 3/(x−2) nicht definiert?</a:t>
            </a:r>
            <a:endParaRPr lang="en-US" sz="1430" dirty="0"/>
          </a:p>
        </p:txBody>
      </p:sp>
      <p:sp>
        <p:nvSpPr>
          <p:cNvPr id="13" name="Shape 11"/>
          <p:cNvSpPr/>
          <p:nvPr/>
        </p:nvSpPr>
        <p:spPr>
          <a:xfrm>
            <a:off x="6236208" y="342900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357530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0" y="354787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 Struktur steckt in (a+b)²?</a:t>
            </a:r>
            <a:endParaRPr lang="en-US" sz="1430" dirty="0"/>
          </a:p>
        </p:txBody>
      </p:sp>
      <p:sp>
        <p:nvSpPr>
          <p:cNvPr id="16" name="Shape 14"/>
          <p:cNvSpPr/>
          <p:nvPr/>
        </p:nvSpPr>
        <p:spPr>
          <a:xfrm>
            <a:off x="731520" y="4526280"/>
            <a:ext cx="10762488" cy="841248"/>
          </a:xfrm>
          <a:prstGeom prst="roundRect">
            <a:avLst>
              <a:gd name="adj" fmla="val 7609"/>
            </a:avLst>
          </a:prstGeom>
          <a:solidFill>
            <a:srgbClr val="234A69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467258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53312" y="4645152"/>
            <a:ext cx="995781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bedeutet der Schnittpunkt zweier Geraden im LGS?</a:t>
            </a:r>
            <a:endParaRPr lang="en-US" sz="1430" dirty="0"/>
          </a:p>
        </p:txBody>
      </p:sp>
      <p:sp>
        <p:nvSpPr>
          <p:cNvPr id="19" name="Text 17"/>
          <p:cNvSpPr/>
          <p:nvPr/>
        </p:nvSpPr>
        <p:spPr>
          <a:xfrm>
            <a:off x="6263640" y="4645152"/>
            <a:ext cx="10515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DA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Selbstcheck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15200" y="4572000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4F8B6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60920" y="4636008"/>
            <a:ext cx="960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sicher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522208" y="4572000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F0B44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67928" y="4636008"/>
            <a:ext cx="960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729216" y="4572000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C75A5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74936" y="4636008"/>
            <a:ext cx="960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noch üben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Rivius Gymnasium Attendorn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Klasse 8 – Arithmetik/Algebra – Wiederholung</dc:title>
  <dc:subject>Mathematik Wiederholung</dc:subject>
  <dc:creator>Jonathan Hardenacke / OpenAI</dc:creator>
  <cp:lastModifiedBy>Jonathan Hardenacke / OpenAI</cp:lastModifiedBy>
  <cp:revision>1</cp:revision>
  <dcterms:created xsi:type="dcterms:W3CDTF">2026-09-12T12:19:26Z</dcterms:created>
  <dcterms:modified xsi:type="dcterms:W3CDTF">2026-09-12T12:19:26Z</dcterms:modified>
</cp:coreProperties>
</file>