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5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6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7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8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2A7F8E"/>
          </a:solidFill>
          <a:ln w="12700">
            <a:solidFill>
              <a:srgbClr val="2A7F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Funktionen und Analysis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Potenzfunktionen mit ganzzahligen Exponenten und ganzrationale Funktionen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Graphenverlauf, Definitions-/Wertebereich, Nullstellen, Symmetrie, Verhalten im Unendlichen; Spiegelung/Verschiebung/Streckung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Mittlere und lokale Änderungsrate; Sekante und Tangente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49808" y="4654296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581144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Grundverständnis des Ableitungsbegriffs und graphisches Ableiten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749808" y="5084064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5010912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Potenz-, Summen- und Faktorregel; Monotonie, Extrema, Krümmung, Wendepunkte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Funktionen und Analysis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896112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896112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463040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 f(2) für f(x)=x³−2x.</a:t>
            </a:r>
            <a:endParaRPr lang="en-US" sz="16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364224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64224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931152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bewirkt f(x−3) gegenüber f(x)?</a:t>
            </a:r>
            <a:endParaRPr lang="en-US" sz="16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896112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896112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463040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berechnet (f(b)−f(a))/(b−a)?</a:t>
            </a:r>
            <a:endParaRPr lang="en-US" sz="16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6364224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6364224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931152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f′(x₀) geometrisch?</a:t>
            </a:r>
            <a:endParaRPr lang="en-US" sz="16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49808" y="5532120"/>
            <a:ext cx="4754880" cy="27432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typischen Symmetrien besitzen x² und x³?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erkennt man y-Achsensymmetrie algebraisch?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geometrisch der Unterschied zwischen Sekante und Tangente?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5F5"/>
          </a:solidFill>
          <a:ln w="15240">
            <a:solidFill>
              <a:srgbClr val="2A7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Ganzrationale Funktion: Summe von a_k x^k.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Transformationen: außen wirken vertikal, innen horizontal.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f′(x₀)=lim_{h→0}[f(x₀+h)−f(x₀)]/h.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5F5"/>
          </a:solidFill>
          <a:ln w="13970">
            <a:solidFill>
              <a:srgbClr val="2A7F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Ganzrationale Funktion: Summe von a_k x^k.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 die Nullstellen von x³−4x.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Beschreibe g(x)=−2·f(x)+1.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f(x)=x²: mittlere Änderungsrate von 1 bis 3.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5440680"/>
            <a:ext cx="5394960" cy="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25880" y="5440680"/>
            <a:ext cx="0" cy="-333756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325880" y="5291682"/>
            <a:ext cx="67437" cy="-16968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93317" y="5121993"/>
            <a:ext cx="67437" cy="-15968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0754" y="4962307"/>
            <a:ext cx="67437" cy="-14994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28191" y="4812366"/>
            <a:ext cx="67437" cy="-14045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95628" y="4671915"/>
            <a:ext cx="67437" cy="-13121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3065" y="4540696"/>
            <a:ext cx="67437" cy="-12224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0502" y="4418453"/>
            <a:ext cx="67437" cy="-11352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97939" y="4304930"/>
            <a:ext cx="67437" cy="-10506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65376" y="4199871"/>
            <a:ext cx="67437" cy="-9685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32813" y="4103018"/>
            <a:ext cx="67437" cy="-8890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0250" y="4014115"/>
            <a:ext cx="67437" cy="-8120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67687" y="3932907"/>
            <a:ext cx="67437" cy="-7377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35124" y="3859135"/>
            <a:ext cx="67437" cy="-6659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02561" y="3792545"/>
            <a:ext cx="67437" cy="-5966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69998" y="3732880"/>
            <a:ext cx="67437" cy="-5299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37435" y="3679882"/>
            <a:ext cx="67437" cy="-4658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04872" y="3633296"/>
            <a:ext cx="67437" cy="-4043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72309" y="3592865"/>
            <a:ext cx="67437" cy="-3453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39746" y="3558333"/>
            <a:ext cx="67437" cy="-2889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7183" y="3529443"/>
            <a:ext cx="67437" cy="-2350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74620" y="3505938"/>
            <a:ext cx="67437" cy="-1837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2057" y="3487563"/>
            <a:ext cx="67437" cy="-1350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09494" y="3474061"/>
            <a:ext cx="67437" cy="-888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76931" y="3465175"/>
            <a:ext cx="67437" cy="-452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44368" y="3460649"/>
            <a:ext cx="67437" cy="-42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11805" y="3460226"/>
            <a:ext cx="67437" cy="342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79242" y="3463650"/>
            <a:ext cx="67437" cy="701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46679" y="3470665"/>
            <a:ext cx="67437" cy="1034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14116" y="3481014"/>
            <a:ext cx="67437" cy="1342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81553" y="3494440"/>
            <a:ext cx="67437" cy="1624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48990" y="3510688"/>
            <a:ext cx="67437" cy="1881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16427" y="3529500"/>
            <a:ext cx="67437" cy="2112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83864" y="3550620"/>
            <a:ext cx="67437" cy="2317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51301" y="3573792"/>
            <a:ext cx="67437" cy="2496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18738" y="3598759"/>
            <a:ext cx="67437" cy="2650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86175" y="3625265"/>
            <a:ext cx="67437" cy="2778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53612" y="3653053"/>
            <a:ext cx="67437" cy="2881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21049" y="3681867"/>
            <a:ext cx="67437" cy="2958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88486" y="3711451"/>
            <a:ext cx="67437" cy="3009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55923" y="3741547"/>
            <a:ext cx="67437" cy="3035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23360" y="3771900"/>
            <a:ext cx="67437" cy="3035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90797" y="3802253"/>
            <a:ext cx="67437" cy="3009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58234" y="3832349"/>
            <a:ext cx="67437" cy="2958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25671" y="3861933"/>
            <a:ext cx="67437" cy="2881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93108" y="3890747"/>
            <a:ext cx="67437" cy="2778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60545" y="3918535"/>
            <a:ext cx="67437" cy="2650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27982" y="3945041"/>
            <a:ext cx="67437" cy="2496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95419" y="3970008"/>
            <a:ext cx="67437" cy="2317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62856" y="3993180"/>
            <a:ext cx="67437" cy="2112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30293" y="4014300"/>
            <a:ext cx="67437" cy="1881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97730" y="4033112"/>
            <a:ext cx="67437" cy="1624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65167" y="4049360"/>
            <a:ext cx="67437" cy="1342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32604" y="4062786"/>
            <a:ext cx="67437" cy="1034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00041" y="4073135"/>
            <a:ext cx="67437" cy="701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67478" y="4080150"/>
            <a:ext cx="67437" cy="342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34915" y="4083574"/>
            <a:ext cx="67437" cy="-42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02352" y="4083151"/>
            <a:ext cx="67437" cy="-452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69789" y="4078625"/>
            <a:ext cx="67437" cy="-888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237226" y="4069739"/>
            <a:ext cx="67437" cy="-1350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304663" y="4056237"/>
            <a:ext cx="67437" cy="-1837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72100" y="4037862"/>
            <a:ext cx="67437" cy="-2350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439537" y="4014357"/>
            <a:ext cx="67437" cy="-2889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06974" y="3985467"/>
            <a:ext cx="67437" cy="-3453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574411" y="3950935"/>
            <a:ext cx="67437" cy="-4043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41848" y="3910504"/>
            <a:ext cx="67437" cy="-4658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09285" y="3863918"/>
            <a:ext cx="67437" cy="-5299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76722" y="3810920"/>
            <a:ext cx="67437" cy="-5966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44159" y="3751255"/>
            <a:ext cx="67437" cy="-6659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911596" y="3684665"/>
            <a:ext cx="67437" cy="-7377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979033" y="3610893"/>
            <a:ext cx="67437" cy="-8120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46470" y="3529685"/>
            <a:ext cx="67437" cy="-8890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13907" y="3440782"/>
            <a:ext cx="67437" cy="-9685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81344" y="3343929"/>
            <a:ext cx="67437" cy="-10506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48781" y="3238870"/>
            <a:ext cx="67437" cy="-11352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16218" y="3125347"/>
            <a:ext cx="67437" cy="-12224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383655" y="3003104"/>
            <a:ext cx="67437" cy="-13121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51092" y="2871885"/>
            <a:ext cx="67437" cy="-14045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518529" y="2731434"/>
            <a:ext cx="67437" cy="-14994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585966" y="2581493"/>
            <a:ext cx="67437" cy="-15968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53403" y="2421807"/>
            <a:ext cx="67437" cy="-16968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24128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Funktionsgraph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104" name="Text 10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erkennt man y-Achsensymmetrie algebraisch?</a:t>
            </a:r>
            <a:endParaRPr lang="en-US" sz="1650" dirty="0"/>
          </a:p>
        </p:txBody>
      </p:sp>
      <p:sp>
        <p:nvSpPr>
          <p:cNvPr id="105" name="Shape 10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108" name="Text 10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f(x)=x²: mittlere Änderungsrate von 1 bis 3.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f bei x=2 ein lokales Maximum hat: Welche notwendige Bedingung gilt meist?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f(x)=x³−3x²: Bestimme kritische Stellen.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bestimmt der höchste Exponent das Verhalten für |x|→∞?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unterscheidet Wendestelle und Extremstelle?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„Ein steigender Graph hat immer positive Funktionswerte.“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8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85800" y="1207008"/>
            <a:ext cx="7680960" cy="512064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Kontrollfragen</a:t>
            </a:r>
            <a:endParaRPr lang="en-US" sz="2700" dirty="0"/>
          </a:p>
        </ns0:txBody>
      </ns0:sp>
      <ns0:sp>
        <ns0:nvSpPr>
          <ns0:cNvPr id="3" name="Text 1"/>
          <ns0:cNvSpPr/>
          <ns0:nvPr/>
        </ns0:nvSpPr>
        <ns0:spPr>
          <a:xfrm>
            <a:off x="713232" y="1737360"/>
            <a:ext cx="1042416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Funktionen und Analysis</a:t>
            </a:r>
            <a:endParaRPr lang="en-US" sz="125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5" name="Shape 3"/>
          <ns0:cNvSpPr/>
          <ns0:nvPr/>
        </ns0:nvSpPr>
        <ns0:spPr>
          <a:xfrm>
            <a:off x="859536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6" name="Text 4"/>
          <ns0:cNvSpPr/>
          <ns0:nvPr/>
        </ns0:nvSpPr>
        <ns0:spPr>
          <a:xfrm>
            <a:off x="896112" y="251460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</a:t>
            </a:r>
            <a:endParaRPr lang="en-US" sz="820" dirty="0"/>
          </a:p>
        </ns0:txBody>
      </ns0:sp>
      <ns0:sp>
        <ns0:nvSpPr>
          <ns0:cNvPr id="7" name="Text 5"/>
          <ns0:cNvSpPr/>
          <ns0:nvPr/>
        </ns0:nvSpPr>
        <ns0:spPr>
          <a:xfrm>
            <a:off x="2194560" y="243230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 Sie f(2) für f(x)=x³−2x.</a:t>
            </a:r>
            <a:endParaRPr lang="en-US" sz="123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9" name="Shape 7"/>
          <ns0:cNvSpPr/>
          <ns0:nvPr/>
        </ns0:nvSpPr>
        <ns0:spPr>
          <a:xfrm>
            <a:off x="6364224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6400800" y="251460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</a:t>
            </a:r>
            <a:endParaRPr lang="en-US" sz="82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7699248" y="243230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 Sie die Nullstellen von g(x)=x²−4.</a:t>
            </a:r>
            <a:endParaRPr lang="en-US" sz="123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13" name="Shape 11"/>
          <ns0:cNvSpPr/>
          <ns0:nvPr/>
        </ns0:nvSpPr>
        <ns0:spPr>
          <a:xfrm>
            <a:off x="859536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896112" y="361188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BESCHREIBEN</a:t>
            </a:r>
            <a:endParaRPr lang="en-US" sz="82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2194560" y="352958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Beschreiben Sie die Verschiebung von y=x² zu h(x)=(x−2)²+1.</a:t>
            </a:r>
            <a:endParaRPr lang="en-US" sz="123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17" name="Shape 15"/>
          <ns0:cNvSpPr/>
          <ns0:nvPr/>
        </ns0:nvSpPr>
        <ns0:spPr>
          <a:xfrm>
            <a:off x="6364224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6400800" y="361188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BEGRÜNDEN</a:t>
            </a:r>
            <a:endParaRPr lang="en-US" sz="82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7699248" y="352958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Begründen Sie, dass x=0 eine Nullstelle von p(x)=x³−4x ist.</a:t>
            </a:r>
            <a:endParaRPr lang="en-US" sz="123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21" name="Shape 19"/>
          <ns0:cNvSpPr/>
          <ns0:nvPr/>
        </ns0:nvSpPr>
        <ns0:spPr>
          <a:xfrm>
            <a:off x="859536" y="4690872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22" name="Text 20"/>
          <ns0:cNvSpPr/>
          <ns0:nvPr/>
        </ns0:nvSpPr>
        <ns0:spPr>
          <a:xfrm>
            <a:off x="896112" y="4709160"/>
            <a:ext cx="1161288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SKIZZIEREN</a:t>
            </a:r>
            <a:endParaRPr lang="en-US" sz="82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2258568" y="4626864"/>
            <a:ext cx="9089136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Skizzieren Sie den Graphen von f(x)=x² und markieren Sie Scheitelpunkt und Symmetrieachse.</a:t>
            </a:r>
            <a:endParaRPr lang="en-US" sz="1300" dirty="0"/>
          </a:p>
        </ns0:txBody>
      </ns0:sp>
      <ns0:sp>
        <ns0:nvSpPr>
          <ns0:cNvPr id="24" name="Text 22"/>
          <ns0:cNvSpPr/>
          <ns0:nvPr/>
        </ns0:nvSpPr>
        <ns0:spPr>
          <a:xfrm>
            <a:off x="749808" y="5632704"/>
            <a:ext cx="57607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40" dirty="0"/>
          </a:p>
        </ns0:txBody>
      </ns0:sp>
      <ns0:sp>
        <ns0:nvSpPr>
          <ns0:cNvPr id="25" name="Text 23"/>
          <ns0:cNvSpPr/>
          <ns0:nvPr/>
        </ns0:nvSpPr>
        <ns0:spPr>
          <a:xfrm>
            <a:off x="6629400" y="5605272"/>
            <a:ext cx="960120" cy="201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980" dirty="0"/>
          </a:p>
        </ns0:txBody>
      </ns0:sp>
      <ns0:sp>
        <ns0:nvSpPr>
          <ns0:cNvPr id="26" name="Shape 24"/>
          <ns0:cNvSpPr/>
          <ns0:nvPr/>
        </ns0:nvSpPr>
        <ns0:spPr>
          <a:xfrm>
            <a:off x="7635240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27" name="Text 25"/>
          <ns0:cNvSpPr/>
          <ns0:nvPr/>
        </ns0:nvSpPr>
        <ns0:spPr>
          <a:xfrm>
            <a:off x="7680960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30" dirty="0"/>
          </a:p>
        </ns0:txBody>
      </ns0:sp>
      <ns0:sp>
        <ns0:nvSpPr>
          <ns0:cNvPr id="28" name="Shape 26"/>
          <ns0:cNvSpPr/>
          <ns0:nvPr/>
        </ns0:nvSpPr>
        <ns0:spPr>
          <a:xfrm>
            <a:off x="8842248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29" name="Text 27"/>
          <ns0:cNvSpPr/>
          <ns0:nvPr/>
        </ns0:nvSpPr>
        <ns0:spPr>
          <a:xfrm>
            <a:off x="8887968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30" dirty="0"/>
          </a:p>
        </ns0:txBody>
      </ns0:sp>
      <ns0:sp>
        <ns0:nvSpPr>
          <ns0:cNvPr id="30" name="Shape 28"/>
          <ns0:cNvSpPr/>
          <ns0:nvPr/>
        </ns0:nvSpPr>
        <ns0:spPr>
          <a:xfrm>
            <a:off x="10049256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31" name="Text 29"/>
          <ns0:cNvSpPr/>
          <ns0:nvPr/>
        </ns0:nvSpPr>
        <ns0:spPr>
          <a:xfrm>
            <a:off x="10094976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3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ns0:txBody>
      </ns0:sp>
    </ns0:spTree>
  </ns0:cSld>
  <ns0:clrMapOvr>
    <a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Einführungsphase (EF) – Funktionen und Analysis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