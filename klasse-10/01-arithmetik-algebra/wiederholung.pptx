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2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3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4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5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6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7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8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3B6EA5"/>
          </a:solidFill>
          <a:ln w="12700">
            <a:solidFill>
              <a:srgbClr val="3B6EA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Arithmetik/Algebra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Potenzgesetze; Potenzen mit rationalen Exponenten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Exponentielle Gleichungen und Logarithmus als Umkehroperation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ns0:sld xmlns:a="http://schemas.openxmlformats.org/drawingml/2006/main" xmlns:ns0="http://schemas.openxmlformats.org/presentationml/2006/main" xmlns:ns2="http://schemas.microsoft.com/office/mac/drawingml/2011/main">
  <ns0:cSld name="Slide 2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658368" y="658368"/>
            <a:ext cx="9784080" cy="47548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ns0:txBody>
      </ns0:sp>
      <ns0:sp>
        <ns0:nvSpPr>
          <ns0:cNvPr id="3" name="Shape 1"/>
          <ns0:cNvSpPr/>
          <ns0:nvPr/>
        </ns0:nvSpPr>
        <ns0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ns0:spPr>
      </ns0:sp>
      <ns0:sp>
        <ns0:nvSpPr>
          <ns0:cNvPr id="4" name="Text 2"/>
          <ns0:cNvSpPr/>
          <ns0:nvPr/>
        </ns0:nvSpPr>
        <ns0:spPr>
          <a:xfrm>
            <a:off x="676656" y="1152144"/>
            <a:ext cx="7772400" cy="25603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 · Arithmetik/Algebra</a:t>
            </a:r>
            <a:endParaRPr lang="en-US" sz="11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6" name="Shape 4"/>
          <ns0:cNvSpPr/>
          <ns0:nvPr/>
        </ns0:nvSpPr>
        <ns0:spPr>
          <a:xfrm>
            <a:off x="896112" y="1764792"/>
            <a:ext cx="438912" cy="438912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ns0:spPr>
      </ns0:sp>
      <ns0:sp>
        <ns0:nvSpPr>
          <ns0:cNvPr id="7" name="Text 5"/>
          <ns0:cNvSpPr/>
          <ns0:nvPr/>
        </ns0:nvSpPr>
        <ns0:spPr>
          <a:xfrm>
            <a:off x="896112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1463040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Berechne: 16^(1/2).</a:t>
            </a:r>
            <a:endParaRPr lang="en-US" sz="1650" dirty="0"/>
          </a:p>
        </ns0:txBody>
      </ns0:sp>
      <ns0:sp>
        <ns0:nvSpPr>
          <ns0:cNvPr id="9" name="Shape 7"/>
          <ns0:cNvSpPr/>
          <ns0:nvPr/>
        </ns0:nvSpPr>
        <ns0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0" name="Shape 8"/>
          <ns0:cNvSpPr/>
          <ns0:nvPr/>
        </ns0:nvSpPr>
        <ns0:spPr>
          <a:xfrm>
            <a:off x="6364224" y="1764792"/>
            <a:ext cx="438912" cy="438912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ns0:spPr>
      </ns0:sp>
      <ns0:sp>
        <ns0:nvSpPr>
          <ns0:cNvPr id="11" name="Text 9"/>
          <ns0:cNvSpPr/>
          <ns0:nvPr/>
        </ns0:nvSpPr>
        <ns0:spPr>
          <a:xfrm>
            <a:off x="6364224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6931152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2ˣ = 8.</a:t>
            </a:r>
            <a:endParaRPr lang="en-US" sz="16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4" name="Shape 12"/>
          <ns0:cNvSpPr/>
          <ns0:nvPr/>
        </ns0:nvSpPr>
        <ns0:spPr>
          <a:xfrm>
            <a:off x="896112" y="3621024"/>
            <a:ext cx="438912" cy="438912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ns0:spPr>
      </ns0:sp>
      <ns0:sp>
        <ns0:nvSpPr>
          <ns0:cNvPr id="15" name="Text 13"/>
          <ns0:cNvSpPr/>
          <ns0:nvPr/>
        </ns0:nvSpPr>
        <ns0:spPr>
          <a:xfrm>
            <a:off x="896112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1463040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Berechne: 16^(1/2).</a:t>
            </a:r>
            <a:endParaRPr lang="en-US" sz="16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8" name="Shape 16"/>
          <ns0:cNvSpPr/>
          <ns0:nvPr/>
        </ns0:nvSpPr>
        <ns0:spPr>
          <a:xfrm>
            <a:off x="6364224" y="3621024"/>
            <a:ext cx="438912" cy="438912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ns0:spPr>
      </ns0:sp>
      <ns0:sp>
        <ns0:nvSpPr>
          <ns0:cNvPr id="19" name="Text 17"/>
          <ns0:cNvSpPr/>
          <ns0:nvPr/>
        </ns0:nvSpPr>
        <ns0:spPr>
          <a:xfrm>
            <a:off x="6364224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6931152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2ˣ = 8.</a:t>
            </a:r>
            <a:endParaRPr lang="en-US" sz="165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749808" y="5532120"/>
            <a:ext cx="4754880" cy="274320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50" dirty="0"/>
          </a:p>
        </ns0:txBody>
      </ns0:sp>
      <ns0:sp>
        <ns0:nvSpPr>
          <ns0:cNvPr id="25" name="Slide Number Placeholder 0"/>
          <ns0:cNvSpPr>
            <a:spLocks noGrp="1"/>
          </ns0:cNvSpPr>
          <ns0:nvPr>
            <ns0:ph type="sldNum" sz="quarter" idx="4294967295"/>
          </ns0:nvPr>
        </ns0:nvSpPr>
        <ns0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ns0:spPr>
        <ns0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ns0:txBody>
      </ns0:sp>
    </ns0:spTree>
  </ns0:cSld>
  <ns0:clrMapOvr>
    <a:masterClrMapping/>
  </ns0:clrMapOvr>
</ns0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bedeutet a^(1/n)?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log_b(a)?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bedeutet a^(1/n)?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EAF1F7"/>
          </a:solidFill>
          <a:ln w="15240">
            <a:solidFill>
              <a:srgbClr val="3B6E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a^(m/n) = (ⁿ√a)^m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bˣ=a ⇔ x=log_b(a)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EAF1F7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a^(m/n) = (ⁿ√a)^m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Schreibe ∛(x²) als Potenz.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5·1,2ˣ = 10.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Schreibe ∛(x²) als Potenz.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54480" y="4069080"/>
            <a:ext cx="4892040" cy="0"/>
          </a:xfrm>
          <a:prstGeom prst="line">
            <a:avLst/>
          </a:prstGeom>
          <a:noFill/>
          <a:ln w="2032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7373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093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231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951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089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809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7947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667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4805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525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1663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383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8521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241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434840" y="3922776"/>
            <a:ext cx="292608" cy="292608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45920" y="2606040"/>
            <a:ext cx="45720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Zahlen · Terme · Strukturen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EAF1F7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log_b(a)?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5·1,2ˣ = 10.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EAF1F7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Schreibe ∛(x²) als Potenz.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5·1,2ˣ = 10.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Vereinfache: 27^(2/3).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ist log(−3) im Reellen nicht definiert?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„Ein Rechenergebnis ohne Einheit ist immer vollständig.“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4440"/>
            <a:ext cx="68580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Kannst du das noch?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7315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 · Arithmetik/Algebra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Berechne: 16^(1/2).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2ˣ = 8.</a:t>
            </a:r>
            <a:endParaRPr lang="en-US" sz="1430" dirty="0"/>
          </a:p>
        </p:txBody>
      </p:sp>
      <p:sp>
        <p:nvSpPr>
          <p:cNvPr id="10" name="Shape 8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53312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bedeutet a^(1/n)?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log_b(a)?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67258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645152"/>
            <a:ext cx="995781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bedeutet a^(1/n)?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6263640" y="4645152"/>
            <a:ext cx="1051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522208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67928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729216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74936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Klasse 10 – Arithmetik/Algebra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