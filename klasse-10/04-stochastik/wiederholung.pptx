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2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3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4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5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6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7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8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TITLE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234A69"/>
          </a:solidFill>
          <a:ln w="12700">
            <a:solidFill>
              <a:srgbClr val="234A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114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969264"/>
            <a:ext cx="192024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235440" y="64739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NRW · Gymnasium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CONTENT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058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6455664"/>
            <a:ext cx="10881360" cy="0"/>
          </a:xfrm>
          <a:prstGeom prst="line">
            <a:avLst/>
          </a:prstGeom>
          <a:noFill/>
          <a:ln w="12700">
            <a:solidFill>
              <a:srgbClr val="D9E0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10528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leichten Einstieg zum Transfer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EXIT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5-MINUTEN-CHECK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914400"/>
            <a:ext cx="219456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647395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 · Selbstcheck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261872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D9863D"/>
          </a:solidFill>
          <a:ln w="12700">
            <a:solidFill>
              <a:srgbClr val="D9863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1289304"/>
            <a:ext cx="15453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10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33272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Wiederholung: Stochastik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713232" y="2633472"/>
            <a:ext cx="95097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Kurze Fragen · sichere Grundlagen · Anwendungen · Transfer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" y="3364992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3291840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Bedingte Wahrscheinlichkeit und Vierfeldertafel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749808" y="3794760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3721608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Stochastische Unabhängigkeit prüfen und interpretieren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749808" y="4224528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4151376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Baumdiagramme und Pfadregeln bei mehrstufigen Zufallsexperimenten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749808" y="4654296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4581144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Statistische Daten, Erhebungen und Darstellungen kritisch beurteilen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ns0:sld xmlns:a="http://schemas.openxmlformats.org/drawingml/2006/main" xmlns:ns0="http://schemas.openxmlformats.org/presentationml/2006/main" xmlns:ns2="http://schemas.microsoft.com/office/mac/drawingml/2011/main">
  <ns0:cSld name="Slide 2"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Text 0"/>
          <ns0:cNvSpPr/>
          <ns0:nvPr/>
        </ns0:nvSpPr>
        <ns0:spPr>
          <a:xfrm>
            <a:off x="658368" y="658368"/>
            <a:ext cx="9784080" cy="47548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Leichter Einstieg</a:t>
            </a:r>
            <a:endParaRPr lang="en-US" sz="2600" dirty="0"/>
          </a:p>
        </ns0:txBody>
      </ns0:sp>
      <ns0:sp>
        <ns0:nvSpPr>
          <ns0:cNvPr id="3" name="Shape 1"/>
          <ns0:cNvSpPr/>
          <ns0:nvPr/>
        </ns0:nvSpPr>
        <ns0:spPr>
          <a:xfrm>
            <a:off x="10744200" y="694944"/>
            <a:ext cx="685800" cy="109728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ns0:spPr>
      </ns0:sp>
      <ns0:sp>
        <ns0:nvSpPr>
          <ns0:cNvPr id="4" name="Text 2"/>
          <ns0:cNvSpPr/>
          <ns0:nvPr/>
        </ns0:nvSpPr>
        <ns0:spPr>
          <a:xfrm>
            <a:off x="676656" y="1152144"/>
            <a:ext cx="7772400" cy="25603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10 · Stochastik</a:t>
            </a:r>
            <a:endParaRPr lang="en-US" sz="1150" dirty="0"/>
          </a:p>
        </ns0:txBody>
      </ns0:sp>
      <ns0:sp>
        <ns0:nvSpPr>
          <ns0:cNvPr id="5" name="Shape 3"/>
          <ns0:cNvSpPr/>
          <ns0:nvPr/>
        </ns0:nvSpPr>
        <ns0:spPr>
          <a:xfrm>
            <a:off x="731520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6" name="Shape 4"/>
          <ns0:cNvSpPr/>
          <ns0:nvPr/>
        </ns0:nvSpPr>
        <ns0:spPr>
          <a:xfrm>
            <a:off x="896112" y="1764792"/>
            <a:ext cx="438912" cy="438912"/>
          </a:xfrm>
          <a:prstGeom prst="ellipse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ns0:spPr>
      </ns0:sp>
      <ns0:sp>
        <ns0:nvSpPr>
          <ns0:cNvPr id="7" name="Text 5"/>
          <ns0:cNvSpPr/>
          <ns0:nvPr/>
        </ns0:nvSpPr>
        <ns0:spPr>
          <a:xfrm>
            <a:off x="896112" y="1764792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ns0:txBody>
      </ns0:sp>
      <ns0:sp>
        <ns0:nvSpPr>
          <ns0:cNvPr id="8" name="Text 6"/>
          <ns0:cNvSpPr/>
          <ns0:nvPr/>
        </ns0:nvSpPr>
        <ns0:spPr>
          <a:xfrm>
            <a:off x="1463040" y="1755648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bedeutet P(A|B)?</a:t>
            </a:r>
            <a:endParaRPr lang="en-US" sz="1650" dirty="0"/>
          </a:p>
        </ns0:txBody>
      </ns0:sp>
      <ns0:sp>
        <ns0:nvSpPr>
          <ns0:cNvPr id="9" name="Shape 7"/>
          <ns0:cNvSpPr/>
          <ns0:nvPr/>
        </ns0:nvSpPr>
        <ns0:spPr>
          <a:xfrm>
            <a:off x="6199632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10" name="Shape 8"/>
          <ns0:cNvSpPr/>
          <ns0:nvPr/>
        </ns0:nvSpPr>
        <ns0:spPr>
          <a:xfrm>
            <a:off x="6364224" y="1764792"/>
            <a:ext cx="438912" cy="438912"/>
          </a:xfrm>
          <a:prstGeom prst="ellipse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ns0:spPr>
      </ns0:sp>
      <ns0:sp>
        <ns0:nvSpPr>
          <ns0:cNvPr id="11" name="Text 9"/>
          <ns0:cNvSpPr/>
          <ns0:nvPr/>
        </ns0:nvSpPr>
        <ns0:spPr>
          <a:xfrm>
            <a:off x="6364224" y="1764792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ns0:txBody>
      </ns0:sp>
      <ns0:sp>
        <ns0:nvSpPr>
          <ns0:cNvPr id="12" name="Text 10"/>
          <ns0:cNvSpPr/>
          <ns0:nvPr/>
        </ns0:nvSpPr>
        <ns0:spPr>
          <a:xfrm>
            <a:off x="6931152" y="1755648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Bedingung gilt bei Unabhängigkeit von A und B?</a:t>
            </a:r>
            <a:endParaRPr lang="en-US" sz="1650" dirty="0"/>
          </a:p>
        </ns0:txBody>
      </ns0:sp>
      <ns0:sp>
        <ns0:nvSpPr>
          <ns0:cNvPr id="13" name="Shape 11"/>
          <ns0:cNvSpPr/>
          <ns0:nvPr/>
        </ns0:nvSpPr>
        <ns0:spPr>
          <a:xfrm>
            <a:off x="731520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14" name="Shape 12"/>
          <ns0:cNvSpPr/>
          <ns0:nvPr/>
        </ns0:nvSpPr>
        <ns0:spPr>
          <a:xfrm>
            <a:off x="896112" y="3621024"/>
            <a:ext cx="438912" cy="438912"/>
          </a:xfrm>
          <a:prstGeom prst="ellipse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ns0:spPr>
      </ns0:sp>
      <ns0:sp>
        <ns0:nvSpPr>
          <ns0:cNvPr id="15" name="Text 13"/>
          <ns0:cNvSpPr/>
          <ns0:nvPr/>
        </ns0:nvSpPr>
        <ns0:spPr>
          <a:xfrm>
            <a:off x="896112" y="3621024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ns0:txBody>
      </ns0:sp>
      <ns0:sp>
        <ns0:nvSpPr>
          <ns0:cNvPr id="16" name="Text 14"/>
          <ns0:cNvSpPr/>
          <ns0:nvPr/>
        </ns0:nvSpPr>
        <ns0:spPr>
          <a:xfrm>
            <a:off x="1463040" y="3611880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bedeutet „entlang eines Pfades“?</a:t>
            </a:r>
            <a:endParaRPr lang="en-US" sz="1650" dirty="0"/>
          </a:p>
        </ns0:txBody>
      </ns0:sp>
      <ns0:sp>
        <ns0:nvSpPr>
          <ns0:cNvPr id="17" name="Shape 15"/>
          <ns0:cNvSpPr/>
          <ns0:nvPr/>
        </ns0:nvSpPr>
        <ns0:spPr>
          <a:xfrm>
            <a:off x="6199632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18" name="Shape 16"/>
          <ns0:cNvSpPr/>
          <ns0:nvPr/>
        </ns0:nvSpPr>
        <ns0:spPr>
          <a:xfrm>
            <a:off x="6364224" y="3621024"/>
            <a:ext cx="438912" cy="438912"/>
          </a:xfrm>
          <a:prstGeom prst="ellipse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ns0:spPr>
      </ns0:sp>
      <ns0:sp>
        <ns0:nvSpPr>
          <ns0:cNvPr id="19" name="Text 17"/>
          <ns0:cNvSpPr/>
          <ns0:nvPr/>
        </ns0:nvSpPr>
        <ns0:spPr>
          <a:xfrm>
            <a:off x="6364224" y="3621024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ns0:txBody>
      </ns0:sp>
      <ns0:sp>
        <ns0:nvSpPr>
          <ns0:cNvPr id="20" name="Text 18"/>
          <ns0:cNvSpPr/>
          <ns0:nvPr/>
        </ns0:nvSpPr>
        <ns0:spPr>
          <a:xfrm>
            <a:off x="6931152" y="3611880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Nenne eine mögliche Verzerrung bei einer Online-Umfrage.</a:t>
            </a:r>
            <a:endParaRPr lang="en-US" sz="1650" dirty="0"/>
          </a:p>
        </ns0:txBody>
      </ns0:sp>
      <ns0:sp>
        <ns0:nvSpPr>
          <ns0:cNvPr id="21" name="Text 19"/>
          <ns0:cNvSpPr/>
          <ns0:nvPr/>
        </ns0:nvSpPr>
        <ns0:spPr>
          <a:xfrm>
            <a:off x="749808" y="5532120"/>
            <a:ext cx="4754880" cy="274320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150" dirty="0"/>
          </a:p>
        </ns0:txBody>
      </ns0:sp>
      <ns0:sp>
        <ns0:nvSpPr>
          <ns0:cNvPr id="25" name="Slide Number Placeholder 0"/>
          <ns0:cNvSpPr>
            <a:spLocks noGrp="1"/>
          </ns0:cNvSpPr>
          <ns0:nvPr>
            <ns0:ph type="sldNum" sz="quarter" idx="4294967295"/>
          </ns0:nvPr>
        </ns0:nvSpPr>
        <ns0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ns2:wrappingTextBoxFlag val="0"/>
            </a:ext>
          </a:extLst>
        </ns0:spPr>
        <ns0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ns0:txBody>
      </ns0:sp>
    </ns0:spTree>
  </ns0:cSld>
  <ns0:clrMapOvr>
    <a:masterClrMapping/>
  </ns0:clrMapOvr>
</ns0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Begriffe &amp; Grundideen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10 · erkläre ohne lange Rechnung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23444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Größe wird bei P(A|B) zum neuen „Ganzen“?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2999232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999232"/>
            <a:ext cx="73152" cy="123444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136392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3483864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bedeutet Unabhängigkeit in Worten?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4398264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398264"/>
            <a:ext cx="73152" cy="123444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535424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4882896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Wann werden mehrere Pfade addiert?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001000" y="1600200"/>
            <a:ext cx="3429000" cy="2971800"/>
          </a:xfrm>
          <a:prstGeom prst="roundRect">
            <a:avLst>
              <a:gd name="adj" fmla="val 2769"/>
            </a:avLst>
          </a:prstGeom>
          <a:solidFill>
            <a:srgbClr val="FBF0E6"/>
          </a:solidFill>
          <a:ln w="15240">
            <a:solidFill>
              <a:srgbClr val="D98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1847088"/>
            <a:ext cx="2651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Kernideen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75320" y="2267712"/>
            <a:ext cx="2743200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P(A|B)=P(A∩B)/P(B), sofern P(B)&gt;0.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Unabhängig ⇔ P(A|B)=P(A) (bei P(B)&gt;0).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Produktregel auf dem Pfad, Summenregel über passende Pfade.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38160" y="4983480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FBF0E6"/>
          </a:solidFill>
          <a:ln w="13970">
            <a:solidFill>
              <a:srgbClr val="D98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5120640"/>
            <a:ext cx="685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321040" y="5330952"/>
            <a:ext cx="2880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P(A|B)=P(A∩B)/P(B), sofern P(B)&gt;0.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Rechnen – sicher starten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10 · Basisaufgaben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34340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Personen, 20 tragen Brille; davon 8 fahren Bus. P(Bus | Brille)?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600200"/>
            <a:ext cx="73152" cy="434340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P(A)=0,5; P(B)=0,4; unabhängig. P(A∩B)?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0467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600200"/>
            <a:ext cx="73152" cy="434340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P(Treffer)=0,3 pro Versuch, unabhängig. P(zwei Treffer)?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49808" y="6062472"/>
            <a:ext cx="58521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Arbeite sauber: Ansatz → Rechnung → Ergebnis/Deutung.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Darstellungen lesen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10 · Bild, Graph oder Modell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4922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305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5458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6611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7764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8917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0070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223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33934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07848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81762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55676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529590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0" y="3840480"/>
            <a:ext cx="201168" cy="201168"/>
          </a:xfrm>
          <a:prstGeom prst="ellipse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47088" y="3941064"/>
            <a:ext cx="1627632" cy="-1005840"/>
          </a:xfrm>
          <a:prstGeom prst="line">
            <a:avLst/>
          </a:prstGeom>
          <a:noFill/>
          <a:ln w="19050">
            <a:solidFill>
              <a:srgbClr val="63728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47088" y="3941064"/>
            <a:ext cx="1627632" cy="1097280"/>
          </a:xfrm>
          <a:prstGeom prst="line">
            <a:avLst/>
          </a:prstGeom>
          <a:noFill/>
          <a:ln w="19050">
            <a:solidFill>
              <a:srgbClr val="63728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2834640"/>
            <a:ext cx="219456" cy="219456"/>
          </a:xfrm>
          <a:prstGeom prst="ellipse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94176" y="2944368"/>
            <a:ext cx="1883664" cy="-640080"/>
          </a:xfrm>
          <a:prstGeom prst="line">
            <a:avLst/>
          </a:prstGeom>
          <a:noFill/>
          <a:ln w="19050">
            <a:solidFill>
              <a:srgbClr val="63728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94176" y="2944368"/>
            <a:ext cx="1883664" cy="640080"/>
          </a:xfrm>
          <a:prstGeom prst="line">
            <a:avLst/>
          </a:prstGeom>
          <a:noFill/>
          <a:ln w="19050">
            <a:solidFill>
              <a:srgbClr val="63728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4937760"/>
            <a:ext cx="219456" cy="219456"/>
          </a:xfrm>
          <a:prstGeom prst="ellipse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94176" y="5047488"/>
            <a:ext cx="1883664" cy="-594360"/>
          </a:xfrm>
          <a:prstGeom prst="line">
            <a:avLst/>
          </a:prstGeom>
          <a:noFill/>
          <a:ln w="19050">
            <a:solidFill>
              <a:srgbClr val="63728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94176" y="5047488"/>
            <a:ext cx="1883664" cy="640080"/>
          </a:xfrm>
          <a:prstGeom prst="line">
            <a:avLst/>
          </a:prstGeom>
          <a:noFill/>
          <a:ln w="19050">
            <a:solidFill>
              <a:srgbClr val="63728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77840" y="2194560"/>
            <a:ext cx="201168" cy="201168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77840" y="3474720"/>
            <a:ext cx="201168" cy="201168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77840" y="4343400"/>
            <a:ext cx="201168" cy="201168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577840" y="5577840"/>
            <a:ext cx="201168" cy="201168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98080" y="160020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BF0E6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498080" y="1600200"/>
            <a:ext cx="73152" cy="196596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80960" y="173736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Beobachten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680960" y="208483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bedeutet Unabhängigkeit in Worten?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7498080" y="379476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498080" y="3794760"/>
            <a:ext cx="73152" cy="196596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80960" y="393192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Nutzen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7680960" y="427939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P(Treffer)=0,3 pro Versuch, unabhängig. P(zwei Treffer)?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Anwenden im Kontext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10 · etwas mehr Denken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BF0E6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43484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P(Treffer)=0,3 pro Versuch, unabhängig. P(zwei Treffer)?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443484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ist „100 % mehr“ nicht dasselbe wie „100 Prozentpunkte mehr“?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49808" y="6053328"/>
            <a:ext cx="749808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3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Tipp: Welche Größe ist gesucht? Welche Darstellung oder Formel hilft?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Denkfragen &amp; Fehler finden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10 · Konzepte wirklich verstanden?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87452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kann P(A|B) deutlich von P(A) abweichen?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187452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Zusatzinfos brauchst du bei einer Statistik mindestens?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31520" y="3794760"/>
            <a:ext cx="10725912" cy="1828800"/>
          </a:xfrm>
          <a:prstGeom prst="roundRect">
            <a:avLst>
              <a:gd name="adj" fmla="val 4500"/>
            </a:avLst>
          </a:prstGeom>
          <a:solidFill>
            <a:srgbClr val="F9ECEC"/>
          </a:solidFill>
          <a:ln w="15240">
            <a:solidFill>
              <a:srgbClr val="C75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4041648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FEHLER DES TAGES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9264" y="4416552"/>
            <a:ext cx="99669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„Wahrscheinlichkeit 0,7 bedeutet: In 10 Versuchen treten genau 7 Treffer auf.“ – Korrigiere.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9264" y="5230368"/>
            <a:ext cx="47548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Korrigiere die Aussage und begründe.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34440"/>
            <a:ext cx="68580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Kannst du das noch?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1737360"/>
            <a:ext cx="73152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10 · Stochastik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47802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53312" y="245059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bedeutet P(A|B)?</a:t>
            </a:r>
            <a:endParaRPr lang="en-US" sz="1430" dirty="0"/>
          </a:p>
        </p:txBody>
      </p:sp>
      <p:sp>
        <p:nvSpPr>
          <p:cNvPr id="7" name="Shape 5"/>
          <p:cNvSpPr/>
          <p:nvPr/>
        </p:nvSpPr>
        <p:spPr>
          <a:xfrm>
            <a:off x="6236208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47802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0" y="245059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Bedingung gilt bei Unabhängigkeit von A und B?</a:t>
            </a:r>
            <a:endParaRPr lang="en-US" sz="1430" dirty="0"/>
          </a:p>
        </p:txBody>
      </p:sp>
      <p:sp>
        <p:nvSpPr>
          <p:cNvPr id="10" name="Shape 8"/>
          <p:cNvSpPr/>
          <p:nvPr/>
        </p:nvSpPr>
        <p:spPr>
          <a:xfrm>
            <a:off x="731520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57530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53312" y="354787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bedeutet „entlang eines Pfades“?</a:t>
            </a:r>
            <a:endParaRPr lang="en-US" sz="1430" dirty="0"/>
          </a:p>
        </p:txBody>
      </p:sp>
      <p:sp>
        <p:nvSpPr>
          <p:cNvPr id="13" name="Shape 11"/>
          <p:cNvSpPr/>
          <p:nvPr/>
        </p:nvSpPr>
        <p:spPr>
          <a:xfrm>
            <a:off x="6236208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57530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0" y="354787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Nenne eine mögliche Verzerrung bei einer Online-Umfrage.</a:t>
            </a:r>
            <a:endParaRPr lang="en-US" sz="1430" dirty="0"/>
          </a:p>
        </p:txBody>
      </p:sp>
      <p:sp>
        <p:nvSpPr>
          <p:cNvPr id="16" name="Shape 14"/>
          <p:cNvSpPr/>
          <p:nvPr/>
        </p:nvSpPr>
        <p:spPr>
          <a:xfrm>
            <a:off x="731520" y="4526280"/>
            <a:ext cx="10762488" cy="841248"/>
          </a:xfrm>
          <a:prstGeom prst="roundRect">
            <a:avLst>
              <a:gd name="adj" fmla="val 7609"/>
            </a:avLst>
          </a:prstGeom>
          <a:solidFill>
            <a:srgbClr val="234A69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67258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53312" y="4645152"/>
            <a:ext cx="995781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Größe wird bei P(A|B) zum neuen „Ganzen“?</a:t>
            </a:r>
            <a:endParaRPr lang="en-US" sz="1430" dirty="0"/>
          </a:p>
        </p:txBody>
      </p:sp>
      <p:sp>
        <p:nvSpPr>
          <p:cNvPr id="19" name="Text 17"/>
          <p:cNvSpPr/>
          <p:nvPr/>
        </p:nvSpPr>
        <p:spPr>
          <a:xfrm>
            <a:off x="6263640" y="4645152"/>
            <a:ext cx="1051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Selbstcheck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0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4F8B6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60920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sicher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522208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F0B4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67928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729216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C75A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74936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noch üben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Rivius Gymnasium Attendorn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Klasse 10 – Stochastik – Wiederholung</dc:title>
  <dc:subject>Mathematik Wiederholung</dc:subject>
  <dc:creator>Jonathan Hardenacke / OpenAI</dc:creator>
  <cp:lastModifiedBy>Jonathan Hardenacke / OpenAI</cp:lastModifiedBy>
  <cp:revision>1</cp:revision>
  <dcterms:created xsi:type="dcterms:W3CDTF">2026-09-12T12:19:26Z</dcterms:created>
  <dcterms:modified xsi:type="dcterms:W3CDTF">2026-09-12T12:19:26Z</dcterms:modified>
</cp:coreProperties>
</file>