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legreya Sans Bold" charset="1" panose="00000800000000000000"/>
      <p:regular r:id="rId28"/>
    </p:embeddedFont>
    <p:embeddedFont>
      <p:font typeface="Atkinson Hyperlegible" charset="1" panose="00000000000000000000"/>
      <p:regular r:id="rId29"/>
    </p:embeddedFont>
    <p:embeddedFont>
      <p:font typeface="Atkinson Hyperlegible Bold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4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1430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25717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40005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54292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82867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7F4ED">
                    <a:alpha val="100000"/>
                  </a:srgbClr>
                </a:gs>
                <a:gs pos="100000">
                  <a:srgbClr val="DCEBED">
                    <a:alpha val="10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43000" y="1657350"/>
            <a:ext cx="11049000" cy="2798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98"/>
              </a:lnSpc>
              <a:spcBef>
                <a:spcPct val="0"/>
              </a:spcBef>
            </a:pPr>
            <a:r>
              <a:rPr lang="en-US" b="true" sz="990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Irrationale Zahlen</a:t>
            </a:r>
          </a:p>
          <a:p>
            <a:pPr algn="l" marL="0" indent="0" lvl="0">
              <a:lnSpc>
                <a:spcPts val="10098"/>
              </a:lnSpc>
              <a:spcBef>
                <a:spcPct val="0"/>
              </a:spcBef>
            </a:pPr>
            <a:r>
              <a:rPr lang="en-US" b="true" sz="990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und Wurzeln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250" y="4838700"/>
            <a:ext cx="8572500" cy="44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850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Wiederholung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8250" y="5772150"/>
            <a:ext cx="5905500" cy="76200"/>
            <a:chOff x="0" y="0"/>
            <a:chExt cx="7874000" cy="10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74000" cy="101600"/>
            </a:xfrm>
            <a:custGeom>
              <a:avLst/>
              <a:gdLst/>
              <a:ahLst/>
              <a:cxnLst/>
              <a:rect r="r" b="b" t="t" l="l"/>
              <a:pathLst>
                <a:path h="1016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874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38250" y="7905750"/>
            <a:ext cx="62865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2100" spc="294" strike="noStrike" u="non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</p:txBody>
      </p:sp>
      <p:sp>
        <p:nvSpPr>
          <p:cNvPr name="Freeform 30" id="30" descr="Abstrakte moderne Mathematik-Komposition auf der rechten Seite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333" t="0" r="-83333" b="0"/>
            </a:stretch>
          </a:blipFill>
        </p:spPr>
      </p:sp>
      <p:sp>
        <p:nvSpPr>
          <p:cNvPr name="Freeform 31" id="31" descr="LaTeX-Wurzel aus zwei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" r="0" b="-3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1430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25717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40005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54292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68580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828675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715500"/>
            <a:ext cx="18288000" cy="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Ein Quadrat stellt uns vor ein Problem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14500" y="2381250"/>
            <a:ext cx="5810250" cy="5810250"/>
            <a:chOff x="0" y="0"/>
            <a:chExt cx="7747000" cy="774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47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7747000">
                  <a:moveTo>
                    <a:pt x="0" y="0"/>
                  </a:moveTo>
                  <a:lnTo>
                    <a:pt x="7747000" y="0"/>
                  </a:lnTo>
                  <a:lnTo>
                    <a:pt x="7747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DCEBED"/>
            </a:solidFill>
            <a:ln w="76200" cap="sq">
              <a:solidFill>
                <a:srgbClr val="087F83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09550"/>
              <a:ext cx="7747000" cy="7956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559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95350" y="4752975"/>
            <a:ext cx="66675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55"/>
              </a:lnSpc>
              <a:spcBef>
                <a:spcPct val="0"/>
              </a:spcBef>
            </a:pPr>
            <a:r>
              <a:rPr lang="en-US" b="true" sz="5250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86250" y="8296275"/>
            <a:ext cx="66675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55"/>
              </a:lnSpc>
              <a:spcBef>
                <a:spcPct val="0"/>
              </a:spcBef>
            </a:pPr>
            <a:r>
              <a:rPr lang="en-US" b="true" sz="5250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9750" y="2752725"/>
            <a:ext cx="6858000" cy="1315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Welche Seitenlänge hat das Quadrat?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9750" y="5372100"/>
            <a:ext cx="6858000" cy="9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7"/>
              </a:lnSpc>
              <a:spcBef>
                <a:spcPct val="0"/>
              </a:spcBef>
            </a:pPr>
            <a:r>
              <a:rPr lang="en-US" b="true" sz="5850" strike="noStrike" u="none">
                <a:solidFill>
                  <a:srgbClr val="087F83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9750" y="7124700"/>
            <a:ext cx="68580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Freeform 33" id="33" descr="Quadratfläche und Gleichungen vollständig in LaTeX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4" id="34" descr="Subtile abstrakt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Vergrößerte LaTeX-Formeln für Folie 3"/>
          <p:cNvSpPr/>
          <p:nvPr/>
        </p:nvSpPr>
        <p:spPr>
          <a:xfrm flipH="false" flipV="false" rot="0">
            <a:off x="-463574" y="162529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3" id="3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Radizieren macht Quadrieren rückgängig</a:t>
            </a:r>
          </a:p>
        </p:txBody>
      </p:sp>
      <p:sp>
        <p:nvSpPr>
          <p:cNvPr name="AutoShape 8" id="8"/>
          <p:cNvSpPr/>
          <p:nvPr/>
        </p:nvSpPr>
        <p:spPr>
          <a:xfrm flipH="true" flipV="true">
            <a:off x="5413154" y="3595589"/>
            <a:ext cx="1316262" cy="1247826"/>
          </a:xfrm>
          <a:prstGeom prst="line">
            <a:avLst/>
          </a:prstGeom>
          <a:ln cap="flat" w="38100">
            <a:solidFill>
              <a:srgbClr val="EE7B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3779057" y="3607525"/>
            <a:ext cx="726923" cy="1095375"/>
          </a:xfrm>
          <a:prstGeom prst="line">
            <a:avLst/>
          </a:prstGeom>
          <a:ln cap="flat" w="38100">
            <a:solidFill>
              <a:srgbClr val="EE7B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7084592" y="3589536"/>
            <a:ext cx="3143250" cy="1095375"/>
          </a:xfrm>
          <a:prstGeom prst="line">
            <a:avLst/>
          </a:prstGeom>
          <a:ln cap="flat" w="38100">
            <a:solidFill>
              <a:srgbClr val="EE7B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459073" y="5118993"/>
            <a:ext cx="3238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550" b="tru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Radikand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9807" y="4972050"/>
            <a:ext cx="3238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550" b="tru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Wurzelzeichen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08592" y="4779645"/>
            <a:ext cx="3238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550" b="tru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Wurzelwert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8250" y="2143125"/>
            <a:ext cx="15811500" cy="1428750"/>
            <a:chOff x="0" y="0"/>
            <a:chExt cx="21082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8250" y="4238625"/>
            <a:ext cx="15811500" cy="1428750"/>
            <a:chOff x="0" y="0"/>
            <a:chExt cx="21082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8250" y="6334125"/>
            <a:ext cx="15811500" cy="1428750"/>
            <a:chOff x="0" y="0"/>
            <a:chExt cx="21082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6" id="16" descr="Alle Zahlen und Wurzeln des Kurzchecks in LaTeX"/>
          <p:cNvSpPr/>
          <p:nvPr/>
        </p:nvSpPr>
        <p:spPr>
          <a:xfrm flipH="false" flipV="false" rot="0">
            <a:off x="990646" y="-110072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9" t="-1049" r="-1049" b="-104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095500"/>
            <a:ext cx="2762250" cy="1333500"/>
            <a:chOff x="0" y="0"/>
            <a:chExt cx="3683000" cy="1778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57700" y="2095500"/>
            <a:ext cx="2762250" cy="1333500"/>
            <a:chOff x="0" y="0"/>
            <a:chExt cx="3683000" cy="1778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77150" y="2095500"/>
            <a:ext cx="2762250" cy="1333500"/>
            <a:chOff x="0" y="0"/>
            <a:chExt cx="3683000" cy="1778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96600" y="2095500"/>
            <a:ext cx="2762250" cy="1333500"/>
            <a:chOff x="0" y="0"/>
            <a:chExt cx="3683000" cy="177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16050" y="2095500"/>
            <a:ext cx="2762250" cy="1333500"/>
            <a:chOff x="0" y="0"/>
            <a:chExt cx="3683000" cy="1778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8250" y="3905250"/>
            <a:ext cx="2762250" cy="1333500"/>
            <a:chOff x="0" y="0"/>
            <a:chExt cx="3683000" cy="1778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57700" y="3905250"/>
            <a:ext cx="2762250" cy="1333500"/>
            <a:chOff x="0" y="0"/>
            <a:chExt cx="3683000" cy="1778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77150" y="3905250"/>
            <a:ext cx="2762250" cy="1333500"/>
            <a:chOff x="0" y="0"/>
            <a:chExt cx="3683000" cy="1778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96600" y="3905250"/>
            <a:ext cx="2762250" cy="1333500"/>
            <a:chOff x="0" y="0"/>
            <a:chExt cx="3683000" cy="17780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116050" y="3905250"/>
            <a:ext cx="2762250" cy="1333500"/>
            <a:chOff x="0" y="0"/>
            <a:chExt cx="3683000" cy="1778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8250" y="5715000"/>
            <a:ext cx="2762250" cy="1333500"/>
            <a:chOff x="0" y="0"/>
            <a:chExt cx="3683000" cy="1778000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457700" y="5715000"/>
            <a:ext cx="2762250" cy="1333500"/>
            <a:chOff x="0" y="0"/>
            <a:chExt cx="3683000" cy="17780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677150" y="5715000"/>
            <a:ext cx="2762250" cy="1333500"/>
            <a:chOff x="0" y="0"/>
            <a:chExt cx="3683000" cy="1778000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96600" y="5715000"/>
            <a:ext cx="2762250" cy="1333500"/>
            <a:chOff x="0" y="0"/>
            <a:chExt cx="3683000" cy="1778000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116050" y="5715000"/>
            <a:ext cx="2762250" cy="1333500"/>
            <a:chOff x="0" y="0"/>
            <a:chExt cx="3683000" cy="1778000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8250" y="7524750"/>
            <a:ext cx="2762250" cy="1333500"/>
            <a:chOff x="0" y="0"/>
            <a:chExt cx="3683000" cy="1778000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457700" y="7524750"/>
            <a:ext cx="2762250" cy="1333500"/>
            <a:chOff x="0" y="0"/>
            <a:chExt cx="3683000" cy="1778000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677150" y="7524750"/>
            <a:ext cx="2762250" cy="1333500"/>
            <a:chOff x="0" y="0"/>
            <a:chExt cx="3683000" cy="1778000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896600" y="7524750"/>
            <a:ext cx="2762250" cy="1333500"/>
            <a:chOff x="0" y="0"/>
            <a:chExt cx="3683000" cy="1778000"/>
          </a:xfrm>
        </p:grpSpPr>
        <p:grpSp>
          <p:nvGrpSpPr>
            <p:cNvPr name="Group 97" id="9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0" id="100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116050" y="7524750"/>
            <a:ext cx="2762250" cy="1333500"/>
            <a:chOff x="0" y="0"/>
            <a:chExt cx="3683000" cy="1778000"/>
          </a:xfrm>
        </p:grpSpPr>
        <p:grpSp>
          <p:nvGrpSpPr>
            <p:cNvPr name="Group 102" id="10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5" id="105"/>
            <p:cNvSpPr txBox="true"/>
            <p:nvPr/>
          </p:nvSpPr>
          <p:spPr>
            <a:xfrm rot="0">
              <a:off x="304800" y="473075"/>
              <a:ext cx="3175000" cy="72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2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Freeform 106" id="106" descr="Quadratzahlen eins bis zwanzig als LaTeX-Aufgabe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7" id="107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095500"/>
            <a:ext cx="2762250" cy="1333500"/>
            <a:chOff x="0" y="0"/>
            <a:chExt cx="3683000" cy="1778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57700" y="2095500"/>
            <a:ext cx="2762250" cy="1333500"/>
            <a:chOff x="0" y="0"/>
            <a:chExt cx="3683000" cy="1778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77150" y="2095500"/>
            <a:ext cx="2762250" cy="1333500"/>
            <a:chOff x="0" y="0"/>
            <a:chExt cx="3683000" cy="1778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068050" y="2486025"/>
            <a:ext cx="2428875" cy="4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116050" y="2095500"/>
            <a:ext cx="2762250" cy="1333500"/>
            <a:chOff x="0" y="0"/>
            <a:chExt cx="3683000" cy="1778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8250" y="3905250"/>
            <a:ext cx="2762250" cy="1333500"/>
            <a:chOff x="0" y="0"/>
            <a:chExt cx="3683000" cy="1778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57700" y="3905250"/>
            <a:ext cx="2762250" cy="1333500"/>
            <a:chOff x="0" y="0"/>
            <a:chExt cx="3683000" cy="1778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77150" y="3905250"/>
            <a:ext cx="2762250" cy="1333500"/>
            <a:chOff x="0" y="0"/>
            <a:chExt cx="3683000" cy="17780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068050" y="4295775"/>
            <a:ext cx="2428875" cy="4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87500" y="4295775"/>
            <a:ext cx="2428875" cy="4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38250" y="5715000"/>
            <a:ext cx="2762250" cy="1333500"/>
            <a:chOff x="0" y="0"/>
            <a:chExt cx="3683000" cy="1778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457700" y="5715000"/>
            <a:ext cx="2762250" cy="1333500"/>
            <a:chOff x="0" y="0"/>
            <a:chExt cx="3683000" cy="1778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677150" y="5715000"/>
            <a:ext cx="2762250" cy="1333500"/>
            <a:chOff x="0" y="0"/>
            <a:chExt cx="3683000" cy="17780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96600" y="5715000"/>
            <a:ext cx="2762250" cy="1333500"/>
            <a:chOff x="0" y="0"/>
            <a:chExt cx="3683000" cy="177800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4287500" y="6105525"/>
            <a:ext cx="2428875" cy="4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38250" y="7524750"/>
            <a:ext cx="2762250" cy="1333500"/>
            <a:chOff x="0" y="0"/>
            <a:chExt cx="3683000" cy="17780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457700" y="7524750"/>
            <a:ext cx="2762250" cy="1333500"/>
            <a:chOff x="0" y="0"/>
            <a:chExt cx="3683000" cy="1778000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677150" y="7524750"/>
            <a:ext cx="2762250" cy="1333500"/>
            <a:chOff x="0" y="0"/>
            <a:chExt cx="3683000" cy="1778000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96600" y="7524750"/>
            <a:ext cx="2762250" cy="1333500"/>
            <a:chOff x="0" y="0"/>
            <a:chExt cx="3683000" cy="1778000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3683000" cy="1778000"/>
              <a:chOff x="0" y="0"/>
              <a:chExt cx="3683000" cy="17780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3683000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3683000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228600" y="523875"/>
              <a:ext cx="32385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89"/>
                </a:lnSpc>
                <a:spcBef>
                  <a:spcPct val="0"/>
                </a:spcBef>
              </a:pPr>
              <a:r>
                <a:rPr lang="en-US" b="true" sz="3225" strike="noStrike" u="none">
                  <a:solidFill>
                    <a:srgbClr val="123047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 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4287500" y="7915275"/>
            <a:ext cx="2428875" cy="4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9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EE7B42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Freeform 86" id="86" descr="Quadratzahlen bis 20 mit ausschließlich weißen Kästche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87" id="87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143125"/>
            <a:ext cx="15811500" cy="1428750"/>
            <a:chOff x="0" y="0"/>
            <a:chExt cx="21082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8250" y="4238625"/>
            <a:ext cx="15811500" cy="1428750"/>
            <a:chOff x="0" y="0"/>
            <a:chExt cx="21082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8250" y="6334125"/>
            <a:ext cx="15811500" cy="1428750"/>
            <a:chOff x="0" y="0"/>
            <a:chExt cx="21082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08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 descr="Aufgabenfolie zu Radizieren und Quadratzahlen mit korrekt gesetzten Wurzel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6" id="16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Wurzeln zuerst einordnen</a:t>
            </a:r>
          </a:p>
        </p:txBody>
      </p:sp>
      <p:sp>
        <p:nvSpPr>
          <p:cNvPr name="AutoShape 6" id="6"/>
          <p:cNvSpPr/>
          <p:nvPr/>
        </p:nvSpPr>
        <p:spPr>
          <a:xfrm>
            <a:off x="2667000" y="6953250"/>
            <a:ext cx="12763500" cy="0"/>
          </a:xfrm>
          <a:prstGeom prst="line">
            <a:avLst/>
          </a:prstGeom>
          <a:ln cap="rnd" w="66675">
            <a:solidFill>
              <a:srgbClr val="1230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667000" y="6667500"/>
            <a:ext cx="0" cy="571500"/>
          </a:xfrm>
          <a:prstGeom prst="line">
            <a:avLst/>
          </a:prstGeom>
          <a:ln cap="flat" w="57150">
            <a:solidFill>
              <a:srgbClr val="1230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144000" y="6572250"/>
            <a:ext cx="0" cy="666750"/>
          </a:xfrm>
          <a:prstGeom prst="line">
            <a:avLst/>
          </a:prstGeom>
          <a:ln cap="flat" w="76200">
            <a:solidFill>
              <a:srgbClr val="EE7B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5430500" y="6667500"/>
            <a:ext cx="0" cy="571500"/>
          </a:xfrm>
          <a:prstGeom prst="line">
            <a:avLst/>
          </a:prstGeom>
          <a:ln cap="flat" w="57150">
            <a:solidFill>
              <a:srgbClr val="1230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 descr="Zahlenstrahl mit höher gesetzter Beschriftung für Wurzel 3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1" id="11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  <p:sp>
        <p:nvSpPr>
          <p:cNvPr name="Freeform 12" id="12" descr="Lupe über einer schrittweise verfeinerten Zahlengeraden"/>
          <p:cNvSpPr/>
          <p:nvPr/>
        </p:nvSpPr>
        <p:spPr>
          <a:xfrm flipH="false" flipV="false" rot="0">
            <a:off x="13906500" y="1428750"/>
            <a:ext cx="3429000" cy="3429000"/>
          </a:xfrm>
          <a:custGeom>
            <a:avLst/>
            <a:gdLst/>
            <a:ahLst/>
            <a:cxnLst/>
            <a:rect r="r" b="b" t="t" l="l"/>
            <a:pathLst>
              <a:path h="3429000" w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500" y="2333625"/>
            <a:ext cx="952500" cy="952500"/>
            <a:chOff x="0" y="0"/>
            <a:chExt cx="1270000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270000" cy="124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31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858750" y="2667000"/>
            <a:ext cx="2857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AutoShape 9" id="9"/>
          <p:cNvSpPr/>
          <p:nvPr/>
        </p:nvSpPr>
        <p:spPr>
          <a:xfrm>
            <a:off x="2190750" y="3286125"/>
            <a:ext cx="0" cy="52387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714500" y="3905250"/>
            <a:ext cx="952500" cy="952500"/>
            <a:chOff x="0" y="0"/>
            <a:chExt cx="1270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70000" cy="124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31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858750" y="4238625"/>
            <a:ext cx="2857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2190750" y="4857750"/>
            <a:ext cx="0" cy="52387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714500" y="5476875"/>
            <a:ext cx="952500" cy="952500"/>
            <a:chOff x="0" y="0"/>
            <a:chExt cx="1270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270000" cy="124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31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858750" y="5810250"/>
            <a:ext cx="2857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190750" y="6429375"/>
            <a:ext cx="0" cy="52387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14500" y="7048500"/>
            <a:ext cx="952500" cy="952500"/>
            <a:chOff x="0" y="0"/>
            <a:chExt cx="127000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270000" cy="124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31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58750" y="7381875"/>
            <a:ext cx="285750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Freeform 24" id="24" descr="Intervallschachtelung mit allen Zahlen in LaTeX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25" id="25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67000" y="5238750"/>
            <a:ext cx="12954000" cy="3238500"/>
            <a:chOff x="0" y="0"/>
            <a:chExt cx="172720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72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72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0" y="8972550"/>
            <a:ext cx="4953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</p:txBody>
      </p:sp>
      <p:sp>
        <p:nvSpPr>
          <p:cNvPr name="Freeform 10" id="10" descr="Intervallaufgabe vollständig mit LaTeX-Zahle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1" id="11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67000" y="5238750"/>
            <a:ext cx="12954000" cy="3238500"/>
            <a:chOff x="0" y="0"/>
            <a:chExt cx="172720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72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272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0" y="8972550"/>
            <a:ext cx="4953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</p:txBody>
      </p:sp>
      <p:sp>
        <p:nvSpPr>
          <p:cNvPr name="Freeform 10" id="10" descr="Aufgabenfolie zur Intervallschachtelung und näherungsweisen Bestimmung von Wurzel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1" id="11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Rational oder irrational?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000250"/>
            <a:ext cx="7429500" cy="5905500"/>
            <a:chOff x="0" y="0"/>
            <a:chExt cx="9906000" cy="787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906000" cy="7874000"/>
              <a:chOff x="0" y="0"/>
              <a:chExt cx="9906000" cy="787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906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87F83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9906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371475"/>
              <a:ext cx="8890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4"/>
                </a:lnSpc>
              </a:pPr>
              <a:r>
                <a:rPr lang="en-US" sz="4200" b="true">
                  <a:solidFill>
                    <a:srgbClr val="087F83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RATIONAL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20250" y="2000250"/>
            <a:ext cx="7429500" cy="5905500"/>
            <a:chOff x="0" y="0"/>
            <a:chExt cx="9906000" cy="7874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7874000"/>
              <a:chOff x="0" y="0"/>
              <a:chExt cx="9906000" cy="7874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7874000"/>
              </a:xfrm>
              <a:custGeom>
                <a:avLst/>
                <a:gdLst/>
                <a:ahLst/>
                <a:cxnLst/>
                <a:rect r="r" b="b" t="t" l="l"/>
                <a:pathLst>
                  <a:path h="7874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FFF0E8"/>
              </a:solidFill>
              <a:ln w="28575" cap="sq">
                <a:solidFill>
                  <a:srgbClr val="EE7B42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791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08000" y="371475"/>
              <a:ext cx="8890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4"/>
                </a:lnSpc>
              </a:pPr>
              <a:r>
                <a:rPr lang="en-US" sz="4200" b="true">
                  <a:solidFill>
                    <a:srgbClr val="EE7B42"/>
                  </a:solidFill>
                  <a:latin typeface="Alegreya Sans Bold"/>
                  <a:ea typeface="Alegreya Sans Bold"/>
                  <a:cs typeface="Alegreya Sans Bold"/>
                  <a:sym typeface="Alegreya Sans Bold"/>
                </a:rPr>
                <a:t>IRRATIONAL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76500" y="8591550"/>
            <a:ext cx="13335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550" b="tru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Rational bedeutet: als Bruch zweier ganzer Zahlen darstellbar.</a:t>
            </a:r>
          </a:p>
        </p:txBody>
      </p:sp>
      <p:sp>
        <p:nvSpPr>
          <p:cNvPr name="Freeform 17" id="17" descr="Rationale und irrationale Beispiele ohne Pi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8" id="18" descr="Subtile moderne Mathematik-Randgestaltung"/>
          <p:cNvSpPr/>
          <p:nvPr/>
        </p:nvSpPr>
        <p:spPr>
          <a:xfrm flipH="false" flipV="false" rot="0">
            <a:off x="87115" y="98004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Die Zahlenmengen im Überblick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57375" y="1781149"/>
            <a:ext cx="14859000" cy="7239000"/>
            <a:chOff x="0" y="0"/>
            <a:chExt cx="19812000" cy="965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12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9812000">
                  <a:moveTo>
                    <a:pt x="9906000" y="0"/>
                  </a:moveTo>
                  <a:cubicBezTo>
                    <a:pt x="15376933" y="0"/>
                    <a:pt x="19812000" y="2160674"/>
                    <a:pt x="19812000" y="4826000"/>
                  </a:cubicBezTo>
                  <a:cubicBezTo>
                    <a:pt x="19812000" y="7491326"/>
                    <a:pt x="15376933" y="9652000"/>
                    <a:pt x="9906000" y="9652000"/>
                  </a:cubicBezTo>
                  <a:cubicBezTo>
                    <a:pt x="4435067" y="9652000"/>
                    <a:pt x="0" y="7491326"/>
                    <a:pt x="0" y="4826000"/>
                  </a:cubicBezTo>
                  <a:cubicBezTo>
                    <a:pt x="0" y="2160674"/>
                    <a:pt x="4435067" y="0"/>
                    <a:pt x="9906000" y="0"/>
                  </a:cubicBezTo>
                  <a:close/>
                </a:path>
              </a:pathLst>
            </a:custGeom>
            <a:solidFill>
              <a:srgbClr val="DCEBED"/>
            </a:solidFill>
            <a:ln w="47625" cap="sq">
              <a:solidFill>
                <a:srgbClr val="12304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12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05250" y="2667000"/>
            <a:ext cx="10287000" cy="5619750"/>
            <a:chOff x="0" y="0"/>
            <a:chExt cx="13716000" cy="749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7493000"/>
            </a:xfrm>
            <a:custGeom>
              <a:avLst/>
              <a:gdLst/>
              <a:ahLst/>
              <a:cxnLst/>
              <a:rect r="r" b="b" t="t" l="l"/>
              <a:pathLst>
                <a:path h="7493000" w="13716000">
                  <a:moveTo>
                    <a:pt x="6858000" y="0"/>
                  </a:moveTo>
                  <a:cubicBezTo>
                    <a:pt x="10645569" y="0"/>
                    <a:pt x="13716000" y="1677365"/>
                    <a:pt x="13716000" y="3746500"/>
                  </a:cubicBezTo>
                  <a:cubicBezTo>
                    <a:pt x="13716000" y="5815635"/>
                    <a:pt x="10645569" y="7493000"/>
                    <a:pt x="6858000" y="7493000"/>
                  </a:cubicBezTo>
                  <a:cubicBezTo>
                    <a:pt x="3070431" y="7493000"/>
                    <a:pt x="0" y="5815635"/>
                    <a:pt x="0" y="3746500"/>
                  </a:cubicBezTo>
                  <a:cubicBezTo>
                    <a:pt x="0" y="1677365"/>
                    <a:pt x="3070431" y="0"/>
                    <a:pt x="68580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87F83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716000" cy="753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91250" y="3524250"/>
            <a:ext cx="6191250" cy="3905250"/>
            <a:chOff x="0" y="0"/>
            <a:chExt cx="8255000" cy="520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55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8255000">
                  <a:moveTo>
                    <a:pt x="4127500" y="0"/>
                  </a:moveTo>
                  <a:cubicBezTo>
                    <a:pt x="6407055" y="0"/>
                    <a:pt x="8255000" y="1165627"/>
                    <a:pt x="8255000" y="2603500"/>
                  </a:cubicBezTo>
                  <a:cubicBezTo>
                    <a:pt x="8255000" y="4041373"/>
                    <a:pt x="6407055" y="5207000"/>
                    <a:pt x="4127500" y="5207000"/>
                  </a:cubicBezTo>
                  <a:cubicBezTo>
                    <a:pt x="1847945" y="5207000"/>
                    <a:pt x="0" y="4041373"/>
                    <a:pt x="0" y="2603500"/>
                  </a:cubicBezTo>
                  <a:cubicBezTo>
                    <a:pt x="0" y="1165627"/>
                    <a:pt x="1847945" y="0"/>
                    <a:pt x="4127500" y="0"/>
                  </a:cubicBezTo>
                  <a:close/>
                </a:path>
              </a:pathLst>
            </a:custGeom>
            <a:solidFill>
              <a:srgbClr val="E9F3EE"/>
            </a:solidFill>
            <a:ln w="47625" cap="sq">
              <a:solidFill>
                <a:srgbClr val="087F8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255000" cy="524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05750" y="4333875"/>
            <a:ext cx="2857500" cy="2286000"/>
            <a:chOff x="0" y="0"/>
            <a:chExt cx="3810000" cy="304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810000">
                  <a:moveTo>
                    <a:pt x="1905000" y="0"/>
                  </a:moveTo>
                  <a:cubicBezTo>
                    <a:pt x="2957102" y="0"/>
                    <a:pt x="3810000" y="682318"/>
                    <a:pt x="3810000" y="1524000"/>
                  </a:cubicBezTo>
                  <a:cubicBezTo>
                    <a:pt x="3810000" y="2365682"/>
                    <a:pt x="2957102" y="3048000"/>
                    <a:pt x="1905000" y="3048000"/>
                  </a:cubicBezTo>
                  <a:cubicBezTo>
                    <a:pt x="852898" y="3048000"/>
                    <a:pt x="0" y="2365682"/>
                    <a:pt x="0" y="1524000"/>
                  </a:cubicBezTo>
                  <a:cubicBezTo>
                    <a:pt x="0" y="68231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FFF0E8"/>
            </a:solidFill>
            <a:ln w="47625" cap="sq">
              <a:solidFill>
                <a:srgbClr val="087F8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8" id="18" descr="Subtile moderne Mathematik-Randgestaltung"/>
          <p:cNvSpPr/>
          <p:nvPr/>
        </p:nvSpPr>
        <p:spPr>
          <a:xfrm flipH="false" flipV="false" rot="0">
            <a:off x="87115" y="98004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9250" y="2190750"/>
            <a:ext cx="4095750" cy="1524000"/>
            <a:chOff x="0" y="0"/>
            <a:chExt cx="5461000" cy="203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53250" y="2190750"/>
            <a:ext cx="4095750" cy="1524000"/>
            <a:chOff x="0" y="0"/>
            <a:chExt cx="5461000" cy="203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87250" y="2190750"/>
            <a:ext cx="4095750" cy="1524000"/>
            <a:chOff x="0" y="0"/>
            <a:chExt cx="54610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9250" y="4381500"/>
            <a:ext cx="4095750" cy="1524000"/>
            <a:chOff x="0" y="0"/>
            <a:chExt cx="5461000" cy="203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53250" y="4381500"/>
            <a:ext cx="4095750" cy="1524000"/>
            <a:chOff x="0" y="0"/>
            <a:chExt cx="5461000" cy="203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87250" y="4381500"/>
            <a:ext cx="4095750" cy="1524000"/>
            <a:chOff x="0" y="0"/>
            <a:chExt cx="54610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90750" y="7429500"/>
            <a:ext cx="2667000" cy="952500"/>
            <a:chOff x="0" y="0"/>
            <a:chExt cx="3556000" cy="127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05500" y="7429500"/>
            <a:ext cx="2667000" cy="952500"/>
            <a:chOff x="0" y="0"/>
            <a:chExt cx="3556000" cy="127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20250" y="7429500"/>
            <a:ext cx="2667000" cy="952500"/>
            <a:chOff x="0" y="0"/>
            <a:chExt cx="3556000" cy="127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Freeform 33" id="33" descr="Zuordnungsaufgabe mit sqrt11 statt Pi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34" id="34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" y="1952625"/>
            <a:ext cx="876300" cy="876300"/>
            <a:chOff x="0" y="0"/>
            <a:chExt cx="1168400" cy="116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248478" y="0"/>
                  </a:moveTo>
                  <a:lnTo>
                    <a:pt x="919922" y="0"/>
                  </a:lnTo>
                  <a:cubicBezTo>
                    <a:pt x="985822" y="0"/>
                    <a:pt x="1049024" y="26179"/>
                    <a:pt x="1095622" y="72778"/>
                  </a:cubicBezTo>
                  <a:cubicBezTo>
                    <a:pt x="1142221" y="119376"/>
                    <a:pt x="1168400" y="182578"/>
                    <a:pt x="1168400" y="248478"/>
                  </a:cubicBezTo>
                  <a:lnTo>
                    <a:pt x="1168400" y="919922"/>
                  </a:lnTo>
                  <a:cubicBezTo>
                    <a:pt x="1168400" y="985822"/>
                    <a:pt x="1142221" y="1049024"/>
                    <a:pt x="1095622" y="1095622"/>
                  </a:cubicBezTo>
                  <a:cubicBezTo>
                    <a:pt x="1049024" y="1142221"/>
                    <a:pt x="985822" y="1168400"/>
                    <a:pt x="919922" y="1168400"/>
                  </a:cubicBezTo>
                  <a:lnTo>
                    <a:pt x="248478" y="1168400"/>
                  </a:lnTo>
                  <a:cubicBezTo>
                    <a:pt x="182578" y="1168400"/>
                    <a:pt x="119376" y="1142221"/>
                    <a:pt x="72778" y="1095622"/>
                  </a:cubicBezTo>
                  <a:cubicBezTo>
                    <a:pt x="26179" y="1049024"/>
                    <a:pt x="0" y="985822"/>
                    <a:pt x="0" y="919922"/>
                  </a:cubicBezTo>
                  <a:lnTo>
                    <a:pt x="0" y="248478"/>
                  </a:lnTo>
                  <a:cubicBezTo>
                    <a:pt x="0" y="182578"/>
                    <a:pt x="26179" y="119376"/>
                    <a:pt x="72778" y="72778"/>
                  </a:cubicBezTo>
                  <a:cubicBezTo>
                    <a:pt x="119376" y="26179"/>
                    <a:pt x="182578" y="0"/>
                    <a:pt x="248478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68400" cy="114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962150" y="2828925"/>
            <a:ext cx="0" cy="50482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524000" y="3457575"/>
            <a:ext cx="876300" cy="876300"/>
            <a:chOff x="0" y="0"/>
            <a:chExt cx="1168400" cy="116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248478" y="0"/>
                  </a:moveTo>
                  <a:lnTo>
                    <a:pt x="919922" y="0"/>
                  </a:lnTo>
                  <a:cubicBezTo>
                    <a:pt x="985822" y="0"/>
                    <a:pt x="1049024" y="26179"/>
                    <a:pt x="1095622" y="72778"/>
                  </a:cubicBezTo>
                  <a:cubicBezTo>
                    <a:pt x="1142221" y="119376"/>
                    <a:pt x="1168400" y="182578"/>
                    <a:pt x="1168400" y="248478"/>
                  </a:cubicBezTo>
                  <a:lnTo>
                    <a:pt x="1168400" y="919922"/>
                  </a:lnTo>
                  <a:cubicBezTo>
                    <a:pt x="1168400" y="985822"/>
                    <a:pt x="1142221" y="1049024"/>
                    <a:pt x="1095622" y="1095622"/>
                  </a:cubicBezTo>
                  <a:cubicBezTo>
                    <a:pt x="1049024" y="1142221"/>
                    <a:pt x="985822" y="1168400"/>
                    <a:pt x="919922" y="1168400"/>
                  </a:cubicBezTo>
                  <a:lnTo>
                    <a:pt x="248478" y="1168400"/>
                  </a:lnTo>
                  <a:cubicBezTo>
                    <a:pt x="182578" y="1168400"/>
                    <a:pt x="119376" y="1142221"/>
                    <a:pt x="72778" y="1095622"/>
                  </a:cubicBezTo>
                  <a:cubicBezTo>
                    <a:pt x="26179" y="1049024"/>
                    <a:pt x="0" y="985822"/>
                    <a:pt x="0" y="919922"/>
                  </a:cubicBezTo>
                  <a:lnTo>
                    <a:pt x="0" y="248478"/>
                  </a:lnTo>
                  <a:cubicBezTo>
                    <a:pt x="0" y="182578"/>
                    <a:pt x="26179" y="119376"/>
                    <a:pt x="72778" y="72778"/>
                  </a:cubicBezTo>
                  <a:cubicBezTo>
                    <a:pt x="119376" y="26179"/>
                    <a:pt x="182578" y="0"/>
                    <a:pt x="248478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168400" cy="114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962150" y="4333875"/>
            <a:ext cx="0" cy="50482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24000" y="4962525"/>
            <a:ext cx="876300" cy="876300"/>
            <a:chOff x="0" y="0"/>
            <a:chExt cx="1168400" cy="116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248478" y="0"/>
                  </a:moveTo>
                  <a:lnTo>
                    <a:pt x="919922" y="0"/>
                  </a:lnTo>
                  <a:cubicBezTo>
                    <a:pt x="985822" y="0"/>
                    <a:pt x="1049024" y="26179"/>
                    <a:pt x="1095622" y="72778"/>
                  </a:cubicBezTo>
                  <a:cubicBezTo>
                    <a:pt x="1142221" y="119376"/>
                    <a:pt x="1168400" y="182578"/>
                    <a:pt x="1168400" y="248478"/>
                  </a:cubicBezTo>
                  <a:lnTo>
                    <a:pt x="1168400" y="919922"/>
                  </a:lnTo>
                  <a:cubicBezTo>
                    <a:pt x="1168400" y="985822"/>
                    <a:pt x="1142221" y="1049024"/>
                    <a:pt x="1095622" y="1095622"/>
                  </a:cubicBezTo>
                  <a:cubicBezTo>
                    <a:pt x="1049024" y="1142221"/>
                    <a:pt x="985822" y="1168400"/>
                    <a:pt x="919922" y="1168400"/>
                  </a:cubicBezTo>
                  <a:lnTo>
                    <a:pt x="248478" y="1168400"/>
                  </a:lnTo>
                  <a:cubicBezTo>
                    <a:pt x="182578" y="1168400"/>
                    <a:pt x="119376" y="1142221"/>
                    <a:pt x="72778" y="1095622"/>
                  </a:cubicBezTo>
                  <a:cubicBezTo>
                    <a:pt x="26179" y="1049024"/>
                    <a:pt x="0" y="985822"/>
                    <a:pt x="0" y="919922"/>
                  </a:cubicBezTo>
                  <a:lnTo>
                    <a:pt x="0" y="248478"/>
                  </a:lnTo>
                  <a:cubicBezTo>
                    <a:pt x="0" y="182578"/>
                    <a:pt x="26179" y="119376"/>
                    <a:pt x="72778" y="72778"/>
                  </a:cubicBezTo>
                  <a:cubicBezTo>
                    <a:pt x="119376" y="26179"/>
                    <a:pt x="182578" y="0"/>
                    <a:pt x="248478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168400" cy="114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962150" y="5838825"/>
            <a:ext cx="0" cy="50482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524000" y="6467475"/>
            <a:ext cx="876300" cy="876300"/>
            <a:chOff x="0" y="0"/>
            <a:chExt cx="1168400" cy="116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248478" y="0"/>
                  </a:moveTo>
                  <a:lnTo>
                    <a:pt x="919922" y="0"/>
                  </a:lnTo>
                  <a:cubicBezTo>
                    <a:pt x="985822" y="0"/>
                    <a:pt x="1049024" y="26179"/>
                    <a:pt x="1095622" y="72778"/>
                  </a:cubicBezTo>
                  <a:cubicBezTo>
                    <a:pt x="1142221" y="119376"/>
                    <a:pt x="1168400" y="182578"/>
                    <a:pt x="1168400" y="248478"/>
                  </a:cubicBezTo>
                  <a:lnTo>
                    <a:pt x="1168400" y="919922"/>
                  </a:lnTo>
                  <a:cubicBezTo>
                    <a:pt x="1168400" y="985822"/>
                    <a:pt x="1142221" y="1049024"/>
                    <a:pt x="1095622" y="1095622"/>
                  </a:cubicBezTo>
                  <a:cubicBezTo>
                    <a:pt x="1049024" y="1142221"/>
                    <a:pt x="985822" y="1168400"/>
                    <a:pt x="919922" y="1168400"/>
                  </a:cubicBezTo>
                  <a:lnTo>
                    <a:pt x="248478" y="1168400"/>
                  </a:lnTo>
                  <a:cubicBezTo>
                    <a:pt x="182578" y="1168400"/>
                    <a:pt x="119376" y="1142221"/>
                    <a:pt x="72778" y="1095622"/>
                  </a:cubicBezTo>
                  <a:cubicBezTo>
                    <a:pt x="26179" y="1049024"/>
                    <a:pt x="0" y="985822"/>
                    <a:pt x="0" y="919922"/>
                  </a:cubicBezTo>
                  <a:lnTo>
                    <a:pt x="0" y="248478"/>
                  </a:lnTo>
                  <a:cubicBezTo>
                    <a:pt x="0" y="182578"/>
                    <a:pt x="26179" y="119376"/>
                    <a:pt x="72778" y="72778"/>
                  </a:cubicBezTo>
                  <a:cubicBezTo>
                    <a:pt x="119376" y="26179"/>
                    <a:pt x="182578" y="0"/>
                    <a:pt x="248478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168400" cy="114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962150" y="7343775"/>
            <a:ext cx="0" cy="504825"/>
          </a:xfrm>
          <a:prstGeom prst="line">
            <a:avLst/>
          </a:prstGeom>
          <a:ln cap="flat" w="3810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524000" y="7972425"/>
            <a:ext cx="876300" cy="876300"/>
            <a:chOff x="0" y="0"/>
            <a:chExt cx="1168400" cy="116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248478" y="0"/>
                  </a:moveTo>
                  <a:lnTo>
                    <a:pt x="919922" y="0"/>
                  </a:lnTo>
                  <a:cubicBezTo>
                    <a:pt x="985822" y="0"/>
                    <a:pt x="1049024" y="26179"/>
                    <a:pt x="1095622" y="72778"/>
                  </a:cubicBezTo>
                  <a:cubicBezTo>
                    <a:pt x="1142221" y="119376"/>
                    <a:pt x="1168400" y="182578"/>
                    <a:pt x="1168400" y="248478"/>
                  </a:cubicBezTo>
                  <a:lnTo>
                    <a:pt x="1168400" y="919922"/>
                  </a:lnTo>
                  <a:cubicBezTo>
                    <a:pt x="1168400" y="985822"/>
                    <a:pt x="1142221" y="1049024"/>
                    <a:pt x="1095622" y="1095622"/>
                  </a:cubicBezTo>
                  <a:cubicBezTo>
                    <a:pt x="1049024" y="1142221"/>
                    <a:pt x="985822" y="1168400"/>
                    <a:pt x="919922" y="1168400"/>
                  </a:cubicBezTo>
                  <a:lnTo>
                    <a:pt x="248478" y="1168400"/>
                  </a:lnTo>
                  <a:cubicBezTo>
                    <a:pt x="182578" y="1168400"/>
                    <a:pt x="119376" y="1142221"/>
                    <a:pt x="72778" y="1095622"/>
                  </a:cubicBezTo>
                  <a:cubicBezTo>
                    <a:pt x="26179" y="1049024"/>
                    <a:pt x="0" y="985822"/>
                    <a:pt x="0" y="919922"/>
                  </a:cubicBezTo>
                  <a:lnTo>
                    <a:pt x="0" y="248478"/>
                  </a:lnTo>
                  <a:cubicBezTo>
                    <a:pt x="0" y="182578"/>
                    <a:pt x="26179" y="119376"/>
                    <a:pt x="72778" y="72778"/>
                  </a:cubicBezTo>
                  <a:cubicBezTo>
                    <a:pt x="119376" y="26179"/>
                    <a:pt x="182578" y="0"/>
                    <a:pt x="248478" y="0"/>
                  </a:cubicBez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1168400" cy="1149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Freeform 24" id="24" descr="Widerspruchsbeweis mit Schrittnummern und Formeln in LaTeX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25" id="25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9250" y="2190750"/>
            <a:ext cx="4095750" cy="1524000"/>
            <a:chOff x="0" y="0"/>
            <a:chExt cx="5461000" cy="203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53250" y="2190750"/>
            <a:ext cx="4095750" cy="1524000"/>
            <a:chOff x="0" y="0"/>
            <a:chExt cx="5461000" cy="203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87250" y="2190750"/>
            <a:ext cx="4095750" cy="1524000"/>
            <a:chOff x="0" y="0"/>
            <a:chExt cx="54610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9250" y="4381500"/>
            <a:ext cx="4095750" cy="1524000"/>
            <a:chOff x="0" y="0"/>
            <a:chExt cx="5461000" cy="203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53250" y="4381500"/>
            <a:ext cx="4095750" cy="1524000"/>
            <a:chOff x="0" y="0"/>
            <a:chExt cx="5461000" cy="203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87250" y="4381500"/>
            <a:ext cx="4095750" cy="1524000"/>
            <a:chOff x="0" y="0"/>
            <a:chExt cx="54610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61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461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90750" y="7429500"/>
            <a:ext cx="2667000" cy="952500"/>
            <a:chOff x="0" y="0"/>
            <a:chExt cx="3556000" cy="127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05500" y="7429500"/>
            <a:ext cx="2667000" cy="952500"/>
            <a:chOff x="0" y="0"/>
            <a:chExt cx="3556000" cy="127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20250" y="7429500"/>
            <a:ext cx="2667000" cy="952500"/>
            <a:chOff x="0" y="0"/>
            <a:chExt cx="3556000" cy="127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87F83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3556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5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 </a:t>
              </a:r>
            </a:p>
          </p:txBody>
        </p:sp>
      </p:grpSp>
      <p:sp>
        <p:nvSpPr>
          <p:cNvPr name="Freeform 33" id="33" descr="Zahlenmengenaufgabe mit sqrt7 statt Pi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34" id="34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Wurzelgesetze schaffen Rechenvorteile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28750" y="2190750"/>
            <a:ext cx="7429500" cy="2571750"/>
            <a:chOff x="0" y="0"/>
            <a:chExt cx="9906000" cy="3429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906000" cy="3429000"/>
              <a:chOff x="0" y="0"/>
              <a:chExt cx="9906000" cy="3429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906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9906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71500" y="2403475"/>
              <a:ext cx="8382000" cy="4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123047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9750" y="2190750"/>
            <a:ext cx="7429500" cy="2571750"/>
            <a:chOff x="0" y="0"/>
            <a:chExt cx="9906000" cy="3429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3429000"/>
              <a:chOff x="0" y="0"/>
              <a:chExt cx="9906000" cy="3429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71500" y="2403475"/>
              <a:ext cx="8382000" cy="4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123047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8750" y="5334000"/>
            <a:ext cx="7429500" cy="2571750"/>
            <a:chOff x="0" y="0"/>
            <a:chExt cx="9906000" cy="3429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906000" cy="3429000"/>
              <a:chOff x="0" y="0"/>
              <a:chExt cx="9906000" cy="342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06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906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71500" y="2403475"/>
              <a:ext cx="8382000" cy="4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123047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9750" y="5334000"/>
            <a:ext cx="7429500" cy="2571750"/>
            <a:chOff x="0" y="0"/>
            <a:chExt cx="9906000" cy="3429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3429000"/>
              <a:chOff x="0" y="0"/>
              <a:chExt cx="9906000" cy="3429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BFD0D2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71500" y="2403475"/>
              <a:ext cx="8382000" cy="4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250">
                  <a:solidFill>
                    <a:srgbClr val="123047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für alle reellen a</a:t>
              </a:r>
            </a:p>
          </p:txBody>
        </p:sp>
      </p:grpSp>
      <p:sp>
        <p:nvSpPr>
          <p:cNvPr name="Freeform 26" id="26" descr="Wurzelgesetze einschließlich Zahlenbedingungen in LaTeX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27" id="27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Teilweise radizieren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2409825"/>
            <a:ext cx="6191250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0" y="4314825"/>
            <a:ext cx="6191250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0" y="6219825"/>
            <a:ext cx="6191250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</a:p>
        </p:txBody>
      </p:sp>
      <p:sp>
        <p:nvSpPr>
          <p:cNvPr name="AutoShape 9" id="9"/>
          <p:cNvSpPr/>
          <p:nvPr/>
        </p:nvSpPr>
        <p:spPr>
          <a:xfrm>
            <a:off x="9620250" y="2571750"/>
            <a:ext cx="762000" cy="0"/>
          </a:xfrm>
          <a:prstGeom prst="line">
            <a:avLst/>
          </a:prstGeom>
          <a:ln cap="flat" w="47625">
            <a:solidFill>
              <a:srgbClr val="087F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620250" y="4476750"/>
            <a:ext cx="762000" cy="0"/>
          </a:xfrm>
          <a:prstGeom prst="line">
            <a:avLst/>
          </a:prstGeom>
          <a:ln cap="flat" w="47625">
            <a:solidFill>
              <a:srgbClr val="087F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620250" y="6381750"/>
            <a:ext cx="762000" cy="0"/>
          </a:xfrm>
          <a:prstGeom prst="line">
            <a:avLst/>
          </a:prstGeom>
          <a:ln cap="flat" w="47625">
            <a:solidFill>
              <a:srgbClr val="EE7B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 descr="Schritte zum teilweisen Radizieren vollständig in LaTeX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3" id="13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Fehlerdetektiv</a:t>
            </a:r>
          </a:p>
        </p:txBody>
      </p:sp>
      <p:sp>
        <p:nvSpPr>
          <p:cNvPr name="Freeform 6" id="6" descr="Fehlerdetektivaufgaben ohne Lösungen oder Bewertunge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7" id="7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047875"/>
            <a:ext cx="15811500" cy="1857375"/>
            <a:chOff x="0" y="0"/>
            <a:chExt cx="21082000" cy="247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82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0E8"/>
            </a:solidFill>
            <a:ln w="28575" cap="sq">
              <a:solidFill>
                <a:srgbClr val="C84A3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82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8250" y="4381500"/>
            <a:ext cx="15811500" cy="1857375"/>
            <a:chOff x="0" y="0"/>
            <a:chExt cx="21082000" cy="2476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82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E9F3EE"/>
            </a:solidFill>
            <a:ln w="28575" cap="sq">
              <a:solidFill>
                <a:srgbClr val="3F806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82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8250" y="6715125"/>
            <a:ext cx="15811500" cy="1857375"/>
            <a:chOff x="0" y="0"/>
            <a:chExt cx="21082000" cy="247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2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FFF0E8"/>
            </a:solidFill>
            <a:ln w="28575" cap="sq">
              <a:solidFill>
                <a:srgbClr val="C84A3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082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 descr="Wurzelgesetz-Aufgaben ohne Lösungshinweis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6" id="16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43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>
            <a:off x="1619250" y="2857500"/>
            <a:ext cx="15049500" cy="0"/>
          </a:xfrm>
          <a:prstGeom prst="line">
            <a:avLst/>
          </a:prstGeom>
          <a:ln cap="flat" w="1905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19250" y="4667250"/>
            <a:ext cx="15049500" cy="0"/>
          </a:xfrm>
          <a:prstGeom prst="line">
            <a:avLst/>
          </a:prstGeom>
          <a:ln cap="flat" w="1905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19250" y="6477000"/>
            <a:ext cx="15049500" cy="0"/>
          </a:xfrm>
          <a:prstGeom prst="line">
            <a:avLst/>
          </a:prstGeom>
          <a:ln cap="flat" w="1905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19250" y="8286750"/>
            <a:ext cx="15049500" cy="0"/>
          </a:xfrm>
          <a:prstGeom prst="line">
            <a:avLst/>
          </a:prstGeom>
          <a:ln cap="flat" w="19050">
            <a:solidFill>
              <a:srgbClr val="BFD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144500" y="9077325"/>
            <a:ext cx="3619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75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</a:t>
            </a:r>
          </a:p>
        </p:txBody>
      </p:sp>
      <p:sp>
        <p:nvSpPr>
          <p:cNvPr name="Freeform 11" id="11" descr="Mini-Klassentest vollständig mit LaTeX-Zahlen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12" id="12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13" id="13" descr="Moderne Stoppuhr als Symbol für den zehnminütigen Mini-Klassentest"/>
          <p:cNvSpPr/>
          <p:nvPr/>
        </p:nvSpPr>
        <p:spPr>
          <a:xfrm flipH="false" flipV="false" rot="0">
            <a:off x="15049500" y="666750"/>
            <a:ext cx="2381250" cy="2381250"/>
          </a:xfrm>
          <a:custGeom>
            <a:avLst/>
            <a:gdLst/>
            <a:ahLst/>
            <a:cxnLst/>
            <a:rect r="r" b="b" t="t" l="l"/>
            <a:pathLst>
              <a:path h="2381250" w="2381250">
                <a:moveTo>
                  <a:pt x="0" y="0"/>
                </a:moveTo>
                <a:lnTo>
                  <a:pt x="2381250" y="0"/>
                </a:lnTo>
                <a:lnTo>
                  <a:pt x="2381250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400" y="552450"/>
            <a:ext cx="171450" cy="647700"/>
            <a:chOff x="0" y="0"/>
            <a:chExt cx="228600" cy="86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863600"/>
            </a:xfrm>
            <a:custGeom>
              <a:avLst/>
              <a:gdLst/>
              <a:ahLst/>
              <a:cxnLst/>
              <a:rect r="r" b="b" t="t" l="l"/>
              <a:pathLst>
                <a:path h="863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542925"/>
            <a:ext cx="1428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Lösung und Lernstand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1809750"/>
            <a:ext cx="8953500" cy="6191250"/>
            <a:chOff x="0" y="0"/>
            <a:chExt cx="11938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38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FD0D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938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668000" y="2133600"/>
            <a:ext cx="5905500" cy="50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123047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Wie sicher fühlst du dich?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68000" y="3714750"/>
            <a:ext cx="1047750" cy="1047750"/>
            <a:chOff x="0" y="0"/>
            <a:chExt cx="1397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207818" y="0"/>
                  </a:moveTo>
                  <a:lnTo>
                    <a:pt x="1189182" y="0"/>
                  </a:lnTo>
                  <a:cubicBezTo>
                    <a:pt x="1244299" y="0"/>
                    <a:pt x="1297158" y="21895"/>
                    <a:pt x="1336131" y="60869"/>
                  </a:cubicBezTo>
                  <a:cubicBezTo>
                    <a:pt x="1375105" y="99842"/>
                    <a:pt x="1397000" y="152701"/>
                    <a:pt x="1397000" y="207818"/>
                  </a:cubicBezTo>
                  <a:lnTo>
                    <a:pt x="1397000" y="1189182"/>
                  </a:lnTo>
                  <a:cubicBezTo>
                    <a:pt x="1397000" y="1244299"/>
                    <a:pt x="1375105" y="1297158"/>
                    <a:pt x="1336131" y="1336131"/>
                  </a:cubicBezTo>
                  <a:cubicBezTo>
                    <a:pt x="1297158" y="1375105"/>
                    <a:pt x="1244299" y="1397000"/>
                    <a:pt x="1189182" y="1397000"/>
                  </a:cubicBezTo>
                  <a:lnTo>
                    <a:pt x="207818" y="1397000"/>
                  </a:lnTo>
                  <a:cubicBezTo>
                    <a:pt x="152701" y="1397000"/>
                    <a:pt x="99842" y="1375105"/>
                    <a:pt x="60869" y="1336131"/>
                  </a:cubicBezTo>
                  <a:cubicBezTo>
                    <a:pt x="21895" y="1297158"/>
                    <a:pt x="0" y="1244299"/>
                    <a:pt x="0" y="1189182"/>
                  </a:cubicBezTo>
                  <a:lnTo>
                    <a:pt x="0" y="207818"/>
                  </a:lnTo>
                  <a:cubicBezTo>
                    <a:pt x="0" y="152701"/>
                    <a:pt x="21895" y="99842"/>
                    <a:pt x="60869" y="60869"/>
                  </a:cubicBezTo>
                  <a:cubicBezTo>
                    <a:pt x="99842" y="21895"/>
                    <a:pt x="152701" y="0"/>
                    <a:pt x="207818" y="0"/>
                  </a:cubicBezTo>
                  <a:close/>
                </a:path>
              </a:pathLst>
            </a:custGeom>
            <a:solidFill>
              <a:srgbClr val="3F806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3970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✓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96750" y="3895725"/>
            <a:ext cx="4381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Ich kann es erklären.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68000" y="5238750"/>
            <a:ext cx="1047750" cy="1047750"/>
            <a:chOff x="0" y="0"/>
            <a:chExt cx="1397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207818" y="0"/>
                  </a:moveTo>
                  <a:lnTo>
                    <a:pt x="1189182" y="0"/>
                  </a:lnTo>
                  <a:cubicBezTo>
                    <a:pt x="1244299" y="0"/>
                    <a:pt x="1297158" y="21895"/>
                    <a:pt x="1336131" y="60869"/>
                  </a:cubicBezTo>
                  <a:cubicBezTo>
                    <a:pt x="1375105" y="99842"/>
                    <a:pt x="1397000" y="152701"/>
                    <a:pt x="1397000" y="207818"/>
                  </a:cubicBezTo>
                  <a:lnTo>
                    <a:pt x="1397000" y="1189182"/>
                  </a:lnTo>
                  <a:cubicBezTo>
                    <a:pt x="1397000" y="1244299"/>
                    <a:pt x="1375105" y="1297158"/>
                    <a:pt x="1336131" y="1336131"/>
                  </a:cubicBezTo>
                  <a:cubicBezTo>
                    <a:pt x="1297158" y="1375105"/>
                    <a:pt x="1244299" y="1397000"/>
                    <a:pt x="1189182" y="1397000"/>
                  </a:cubicBezTo>
                  <a:lnTo>
                    <a:pt x="207818" y="1397000"/>
                  </a:lnTo>
                  <a:cubicBezTo>
                    <a:pt x="152701" y="1397000"/>
                    <a:pt x="99842" y="1375105"/>
                    <a:pt x="60869" y="1336131"/>
                  </a:cubicBezTo>
                  <a:cubicBezTo>
                    <a:pt x="21895" y="1297158"/>
                    <a:pt x="0" y="1244299"/>
                    <a:pt x="0" y="1189182"/>
                  </a:cubicBezTo>
                  <a:lnTo>
                    <a:pt x="0" y="207818"/>
                  </a:lnTo>
                  <a:cubicBezTo>
                    <a:pt x="0" y="152701"/>
                    <a:pt x="21895" y="99842"/>
                    <a:pt x="60869" y="60869"/>
                  </a:cubicBezTo>
                  <a:cubicBezTo>
                    <a:pt x="99842" y="21895"/>
                    <a:pt x="152701" y="0"/>
                    <a:pt x="207818" y="0"/>
                  </a:cubicBezTo>
                  <a:close/>
                </a:path>
              </a:pathLst>
            </a:custGeom>
            <a:solidFill>
              <a:srgbClr val="EE7B4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13970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~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096750" y="5419725"/>
            <a:ext cx="4381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Ich brauche noch Übung.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668000" y="6762750"/>
            <a:ext cx="1047750" cy="1047750"/>
            <a:chOff x="0" y="0"/>
            <a:chExt cx="1397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207818" y="0"/>
                  </a:moveTo>
                  <a:lnTo>
                    <a:pt x="1189182" y="0"/>
                  </a:lnTo>
                  <a:cubicBezTo>
                    <a:pt x="1244299" y="0"/>
                    <a:pt x="1297158" y="21895"/>
                    <a:pt x="1336131" y="60869"/>
                  </a:cubicBezTo>
                  <a:cubicBezTo>
                    <a:pt x="1375105" y="99842"/>
                    <a:pt x="1397000" y="152701"/>
                    <a:pt x="1397000" y="207818"/>
                  </a:cubicBezTo>
                  <a:lnTo>
                    <a:pt x="1397000" y="1189182"/>
                  </a:lnTo>
                  <a:cubicBezTo>
                    <a:pt x="1397000" y="1244299"/>
                    <a:pt x="1375105" y="1297158"/>
                    <a:pt x="1336131" y="1336131"/>
                  </a:cubicBezTo>
                  <a:cubicBezTo>
                    <a:pt x="1297158" y="1375105"/>
                    <a:pt x="1244299" y="1397000"/>
                    <a:pt x="1189182" y="1397000"/>
                  </a:cubicBezTo>
                  <a:lnTo>
                    <a:pt x="207818" y="1397000"/>
                  </a:lnTo>
                  <a:cubicBezTo>
                    <a:pt x="152701" y="1397000"/>
                    <a:pt x="99842" y="1375105"/>
                    <a:pt x="60869" y="1336131"/>
                  </a:cubicBezTo>
                  <a:cubicBezTo>
                    <a:pt x="21895" y="1297158"/>
                    <a:pt x="0" y="1244299"/>
                    <a:pt x="0" y="1189182"/>
                  </a:cubicBezTo>
                  <a:lnTo>
                    <a:pt x="0" y="207818"/>
                  </a:lnTo>
                  <a:cubicBezTo>
                    <a:pt x="0" y="152701"/>
                    <a:pt x="21895" y="99842"/>
                    <a:pt x="60869" y="60869"/>
                  </a:cubicBezTo>
                  <a:cubicBezTo>
                    <a:pt x="99842" y="21895"/>
                    <a:pt x="152701" y="0"/>
                    <a:pt x="207818" y="0"/>
                  </a:cubicBezTo>
                  <a:close/>
                </a:path>
              </a:pathLst>
            </a:custGeom>
            <a:solidFill>
              <a:srgbClr val="C84A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13970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096750" y="6943725"/>
            <a:ext cx="4381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23047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Ich brauche Hilfe.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8877300"/>
            <a:ext cx="14859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087F83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Wurzeln werden klarer, wenn wir sie einordnen, prüfen und schrittweise vereinfachen.</a:t>
            </a:r>
          </a:p>
        </p:txBody>
      </p:sp>
      <p:sp>
        <p:nvSpPr>
          <p:cNvPr name="Freeform 23" id="23" descr="Vergrößerte LaTeX-Formeln für Folie 18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Freeform 24" id="24" descr="Subtile moderne Mathematik-Randgestaltu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DAHXbfpJbyI</dc:identifier>
  <dcterms:modified xsi:type="dcterms:W3CDTF">2011-08-01T06:04:30Z</dcterms:modified>
  <cp:revision>1</cp:revision>
  <dc:title>Irrationale Zahlen &amp; Wurzeln</dc:title>
</cp:coreProperties>
</file>