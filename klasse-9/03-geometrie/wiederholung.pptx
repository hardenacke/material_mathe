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Themengebiet: Geometrie
Stufe: Klasse 9
Die Präsentation ist als kurze Wiederholung vor bzw. zu Beginn einer Unterrichtsphase gedacht.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1. Rechtwinkliges Dreieck mit Katheten 3 und 4: Hypotenuse?
Lösung: 5.
2. Streckfaktor k=2: Aus 3 cm werden?
Lösung: 6 cm.
3. Bei parallelen Schnittgeraden entstehen welche Beziehungen?
Lösung: Entsprechende Strecken stehen im gleichen Verhältnis.
4. Rechtwinkliges Dreieck mit Katheten 3 und 4: Hypotenuse?
Lösung: 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1. Wann darf a²+b²=c² verwendet werden?
Lösung: Nur im rechtwinkligen Dreieck, c ist die Hypotenuse.
2. Was bleibt bei ähnlichen Figuren gleich?
Lösung: Winkel; entsprechende Seitenverhältnisse sind gleich.
3. Warum ist Parallelität für die Strahlensätze entscheidend?
Lösung: Sie erzeugt ähnliche Dreiecke.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1. Leiter 5 m, Abstand zur Wand 3 m. Höhe?
Lösung: 4 m.
2. Ein Foto 10×15 cm wird auf 20 cm Breite vergrößert. Neue Höhe?
Lösung: 30 cm.
3. 2/5 = x/15. Bestimme x.
Lösung: x=6.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1. Was bleibt bei ähnlichen Figuren gleich?
Lösung: Winkel; entsprechende Seitenverhältnisse sind gleich.
2. 2/5 = x/15. Bestimme x.
Lösung: x=6.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1. Ein Foto 10×15 cm wird auf 20 cm Breite vergrößert. Neue Höhe?
Lösung: 30 cm.
2. 2/5 = x/15. Bestimme x.
Lösung: x=6.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1. Prüfe, ob Seiten 6, 8, 10 ein rechtwinkliges Dreieck bilden.
Lösung: Ja, 6²+8²=10².
2. Wie kann man die Höhe eines Baumes mit Schattenlängen bestimmen?
Lösung: Über ähnliche Dreiecke und Verhältnisgleichung.
3. „Was in der Zeichnung gleich aussieht, ist bewiesen gleich.“ – Korrigiere.
Lösung: Eine Zeichnung liefert Hinweise, aber Gleichheit muss über Voraussetzungen/Sätze begründet werden.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1. Rechtwinkliges Dreieck mit Katheten 3 und 4: Hypotenuse?
Lösung: 5.
2. Streckfaktor k=2: Aus 3 cm werden?
Lösung: 6 cm.
3. Bei parallelen Schnittgeraden entstehen welche Beziehungen?
Lösung: Entsprechende Strecken stehen im gleichen Verhältnis.
4. Wann darf a²+b²=c² verwendet werden?
Lösung: Nur im rechtwinkligen Dreieck, c ist die Hypotenuse.
5. Was bleibt bei ähnlichen Figuren gleich?
Lösung: Winkel; entsprechende Seitenverhältnisse sind gleich.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_TITLE">
    <p:bg>
      <p:bgPr>
        <a:solidFill>
          <a:srgbClr val="1732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382512"/>
            <a:ext cx="12191695" cy="475488"/>
          </a:xfrm>
          <a:prstGeom prst="rect">
            <a:avLst/>
          </a:prstGeom>
          <a:solidFill>
            <a:srgbClr val="234A69"/>
          </a:solidFill>
          <a:ln w="12700">
            <a:solidFill>
              <a:srgbClr val="234A6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411480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80" kern="0" dirty="0">
                <a:solidFill>
                  <a:srgbClr val="BFD2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MATHEMATIK  •  WIEDERHOLUNG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58368" y="969264"/>
            <a:ext cx="1920240" cy="0"/>
          </a:xfrm>
          <a:prstGeom prst="line">
            <a:avLst/>
          </a:prstGeom>
          <a:noFill/>
          <a:ln w="50800">
            <a:solidFill>
              <a:srgbClr val="F0B44D"/>
            </a:solidFill>
            <a:prstDash val="solid"/>
            <a:headEnd type="none"/>
            <a:tailEnd type="none"/>
          </a:ln>
        </p:spPr>
      </p:sp>
      <p:sp>
        <p:nvSpPr>
          <p:cNvPr id="6" name="Text 4"/>
          <p:cNvSpPr/>
          <p:nvPr/>
        </p:nvSpPr>
        <p:spPr>
          <a:xfrm>
            <a:off x="9235440" y="6473952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8D5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NRW · Gymnasium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46520"/>
            <a:ext cx="27432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C8D5E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_CONTENT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100584"/>
            <a:ext cx="4023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60" kern="0" dirty="0">
                <a:solidFill>
                  <a:srgbClr val="D8E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MATHEMATIK  •  WIEDERHOLUNG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640080" y="6455664"/>
            <a:ext cx="10881360" cy="0"/>
          </a:xfrm>
          <a:prstGeom prst="line">
            <a:avLst/>
          </a:prstGeom>
          <a:noFill/>
          <a:ln w="12700">
            <a:solidFill>
              <a:srgbClr val="D9E0E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6510528"/>
            <a:ext cx="4297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372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Vom leichten Einstieg zum Transfer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92240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3728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_EXIT">
    <p:bg>
      <p:bgPr>
        <a:solidFill>
          <a:srgbClr val="1732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438912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BFD2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5-MINUTEN-CHECK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658368" y="914400"/>
            <a:ext cx="2194560" cy="0"/>
          </a:xfrm>
          <a:prstGeom prst="line">
            <a:avLst/>
          </a:prstGeom>
          <a:noFill/>
          <a:ln w="50800">
            <a:solidFill>
              <a:srgbClr val="F0B44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412480" y="6473952"/>
            <a:ext cx="3017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8D5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Wiederholung · Selbstcheck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46520"/>
            <a:ext cx="27432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C8D5E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46520"/>
            <a:ext cx="27432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C8D5E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1261872"/>
            <a:ext cx="1691640" cy="329184"/>
          </a:xfrm>
          <a:prstGeom prst="roundRect">
            <a:avLst>
              <a:gd name="adj" fmla="val 22222"/>
            </a:avLst>
          </a:prstGeom>
          <a:solidFill>
            <a:srgbClr val="6F5AA8"/>
          </a:solidFill>
          <a:ln w="12700">
            <a:solidFill>
              <a:srgbClr val="6F5AA8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58952" y="1289304"/>
            <a:ext cx="1545336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Klasse 9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85800" y="1828800"/>
            <a:ext cx="10332720" cy="6583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Wiederholung: Geometrie</a:t>
            </a:r>
            <a:endParaRPr lang="en-US" sz="3300" dirty="0"/>
          </a:p>
        </p:txBody>
      </p:sp>
      <p:sp>
        <p:nvSpPr>
          <p:cNvPr id="5" name="Text 3"/>
          <p:cNvSpPr/>
          <p:nvPr/>
        </p:nvSpPr>
        <p:spPr>
          <a:xfrm>
            <a:off x="713232" y="2633472"/>
            <a:ext cx="950976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D8E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Kurze Fragen · sichere Grundlagen · Anwendungen · Transfer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49808" y="3364992"/>
            <a:ext cx="128016" cy="128016"/>
          </a:xfrm>
          <a:prstGeom prst="ellipse">
            <a:avLst/>
          </a:prstGeom>
          <a:solidFill>
            <a:srgbClr val="F0B44D"/>
          </a:solidFill>
          <a:ln w="12700">
            <a:solidFill>
              <a:srgbClr val="F0B44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87552" y="3291840"/>
            <a:ext cx="978408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42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Satz des Pythagoras, Umkehrung und Anwendungen in Ebene und Raum</a:t>
            </a:r>
            <a:endParaRPr lang="en-US" sz="1420" dirty="0"/>
          </a:p>
        </p:txBody>
      </p:sp>
      <p:sp>
        <p:nvSpPr>
          <p:cNvPr id="8" name="Shape 6"/>
          <p:cNvSpPr/>
          <p:nvPr/>
        </p:nvSpPr>
        <p:spPr>
          <a:xfrm>
            <a:off x="749808" y="3794760"/>
            <a:ext cx="128016" cy="128016"/>
          </a:xfrm>
          <a:prstGeom prst="ellipse">
            <a:avLst/>
          </a:prstGeom>
          <a:solidFill>
            <a:srgbClr val="F0B44D"/>
          </a:solidFill>
          <a:ln w="12700">
            <a:solidFill>
              <a:srgbClr val="F0B44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87552" y="3721608"/>
            <a:ext cx="978408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42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Ähnlichkeit und zentrische Streckung</a:t>
            </a:r>
            <a:endParaRPr lang="en-US" sz="1420" dirty="0"/>
          </a:p>
        </p:txBody>
      </p:sp>
      <p:sp>
        <p:nvSpPr>
          <p:cNvPr id="10" name="Shape 8"/>
          <p:cNvSpPr/>
          <p:nvPr/>
        </p:nvSpPr>
        <p:spPr>
          <a:xfrm>
            <a:off x="749808" y="4224528"/>
            <a:ext cx="128016" cy="128016"/>
          </a:xfrm>
          <a:prstGeom prst="ellipse">
            <a:avLst/>
          </a:prstGeom>
          <a:solidFill>
            <a:srgbClr val="F0B44D"/>
          </a:solidFill>
          <a:ln w="12700">
            <a:solidFill>
              <a:srgbClr val="F0B44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87552" y="4151376"/>
            <a:ext cx="978408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42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Strahlensätze und Anwendungen</a:t>
            </a:r>
            <a:endParaRPr lang="en-US" sz="14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46520"/>
            <a:ext cx="27432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C8D5E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658368"/>
            <a:ext cx="9784080" cy="4754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Leichter Einstieg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10744200" y="694944"/>
            <a:ext cx="685800" cy="109728"/>
          </a:xfrm>
          <a:prstGeom prst="rect">
            <a:avLst/>
          </a:prstGeom>
          <a:solidFill>
            <a:srgbClr val="6F5AA8"/>
          </a:solidFill>
          <a:ln w="12700">
            <a:solidFill>
              <a:srgbClr val="6F5AA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76656" y="1152144"/>
            <a:ext cx="77724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6372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Klasse 9 · Geometrie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731520" y="1600200"/>
            <a:ext cx="5257800" cy="1600200"/>
          </a:xfrm>
          <a:prstGeom prst="roundRect">
            <a:avLst>
              <a:gd name="adj" fmla="val 5143"/>
            </a:avLst>
          </a:prstGeom>
          <a:solidFill>
            <a:srgbClr val="FFFFFF"/>
          </a:solidFill>
          <a:ln w="13970">
            <a:solidFill>
              <a:srgbClr val="D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FD6DD">
                <a:alpha val="13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96112" y="1764792"/>
            <a:ext cx="438912" cy="438912"/>
          </a:xfrm>
          <a:prstGeom prst="ellipse">
            <a:avLst/>
          </a:prstGeom>
          <a:solidFill>
            <a:srgbClr val="6F5AA8"/>
          </a:solidFill>
          <a:ln w="12700">
            <a:solidFill>
              <a:srgbClr val="6F5AA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96112" y="1764792"/>
            <a:ext cx="438912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463040" y="1755648"/>
            <a:ext cx="4361688" cy="1344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Rechtwinkliges Dreieck mit Katheten 3 und 4: Hypotenuse?</a:t>
            </a:r>
            <a:endParaRPr lang="en-US" sz="1650" dirty="0"/>
          </a:p>
        </p:txBody>
      </p:sp>
      <p:sp>
        <p:nvSpPr>
          <p:cNvPr id="9" name="Shape 7"/>
          <p:cNvSpPr/>
          <p:nvPr/>
        </p:nvSpPr>
        <p:spPr>
          <a:xfrm>
            <a:off x="6199632" y="1600200"/>
            <a:ext cx="5257800" cy="1600200"/>
          </a:xfrm>
          <a:prstGeom prst="roundRect">
            <a:avLst>
              <a:gd name="adj" fmla="val 5143"/>
            </a:avLst>
          </a:prstGeom>
          <a:solidFill>
            <a:srgbClr val="FFFFFF"/>
          </a:solidFill>
          <a:ln w="13970">
            <a:solidFill>
              <a:srgbClr val="D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FD6DD">
                <a:alpha val="13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364224" y="1764792"/>
            <a:ext cx="438912" cy="438912"/>
          </a:xfrm>
          <a:prstGeom prst="ellipse">
            <a:avLst/>
          </a:prstGeom>
          <a:solidFill>
            <a:srgbClr val="6F5AA8"/>
          </a:solidFill>
          <a:ln w="12700">
            <a:solidFill>
              <a:srgbClr val="6F5AA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64224" y="1764792"/>
            <a:ext cx="438912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931152" y="1755648"/>
            <a:ext cx="4361688" cy="1344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Streckfaktor k=2: Aus 3 cm werden?</a:t>
            </a:r>
            <a:endParaRPr lang="en-US" sz="1650" dirty="0"/>
          </a:p>
        </p:txBody>
      </p:sp>
      <p:sp>
        <p:nvSpPr>
          <p:cNvPr id="13" name="Shape 11"/>
          <p:cNvSpPr/>
          <p:nvPr/>
        </p:nvSpPr>
        <p:spPr>
          <a:xfrm>
            <a:off x="731520" y="3456432"/>
            <a:ext cx="5257800" cy="1600200"/>
          </a:xfrm>
          <a:prstGeom prst="roundRect">
            <a:avLst>
              <a:gd name="adj" fmla="val 5143"/>
            </a:avLst>
          </a:prstGeom>
          <a:solidFill>
            <a:srgbClr val="FFFFFF"/>
          </a:solidFill>
          <a:ln w="13970">
            <a:solidFill>
              <a:srgbClr val="D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FD6DD">
                <a:alpha val="13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96112" y="3621024"/>
            <a:ext cx="438912" cy="438912"/>
          </a:xfrm>
          <a:prstGeom prst="ellipse">
            <a:avLst/>
          </a:prstGeom>
          <a:solidFill>
            <a:srgbClr val="6F5AA8"/>
          </a:solidFill>
          <a:ln w="12700">
            <a:solidFill>
              <a:srgbClr val="6F5AA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96112" y="3621024"/>
            <a:ext cx="438912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463040" y="3611880"/>
            <a:ext cx="4361688" cy="1344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Bei parallelen Schnittgeraden entstehen welche Beziehungen?</a:t>
            </a:r>
            <a:endParaRPr lang="en-US" sz="1650" dirty="0"/>
          </a:p>
        </p:txBody>
      </p:sp>
      <p:sp>
        <p:nvSpPr>
          <p:cNvPr id="17" name="Shape 15"/>
          <p:cNvSpPr/>
          <p:nvPr/>
        </p:nvSpPr>
        <p:spPr>
          <a:xfrm>
            <a:off x="6199632" y="3456432"/>
            <a:ext cx="5257800" cy="1600200"/>
          </a:xfrm>
          <a:prstGeom prst="roundRect">
            <a:avLst>
              <a:gd name="adj" fmla="val 5143"/>
            </a:avLst>
          </a:prstGeom>
          <a:solidFill>
            <a:srgbClr val="FFFFFF"/>
          </a:solidFill>
          <a:ln w="13970">
            <a:solidFill>
              <a:srgbClr val="D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FD6DD">
                <a:alpha val="13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364224" y="3621024"/>
            <a:ext cx="438912" cy="438912"/>
          </a:xfrm>
          <a:prstGeom prst="ellipse">
            <a:avLst/>
          </a:prstGeom>
          <a:solidFill>
            <a:srgbClr val="6F5AA8"/>
          </a:solidFill>
          <a:ln w="12700">
            <a:solidFill>
              <a:srgbClr val="6F5AA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64224" y="3621024"/>
            <a:ext cx="438912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931152" y="3611880"/>
            <a:ext cx="4361688" cy="1344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Rechtwinkliges Dreieck mit Katheten 3 und 4: Hypotenuse?</a:t>
            </a:r>
            <a:endParaRPr lang="en-US" sz="1650" dirty="0"/>
          </a:p>
        </p:txBody>
      </p:sp>
      <p:sp>
        <p:nvSpPr>
          <p:cNvPr id="21" name="Text 19"/>
          <p:cNvSpPr/>
          <p:nvPr/>
        </p:nvSpPr>
        <p:spPr>
          <a:xfrm>
            <a:off x="749808" y="5532120"/>
            <a:ext cx="475488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i="1" dirty="0">
                <a:solidFill>
                  <a:srgbClr val="6372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Ziel: erst Sicherheit gewinnen – dann steigern.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92240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3728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658368"/>
            <a:ext cx="9784080" cy="4754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Begriffe &amp; Grundideen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10744200" y="694944"/>
            <a:ext cx="685800" cy="109728"/>
          </a:xfrm>
          <a:prstGeom prst="rect">
            <a:avLst/>
          </a:prstGeom>
          <a:solidFill>
            <a:srgbClr val="6F5AA8"/>
          </a:solidFill>
          <a:ln w="12700">
            <a:solidFill>
              <a:srgbClr val="6F5AA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76656" y="1152144"/>
            <a:ext cx="77724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6372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Klasse 9 · erkläre ohne lange Rechnung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731520" y="1600200"/>
            <a:ext cx="6995160" cy="12344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3970">
            <a:solidFill>
              <a:srgbClr val="D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7CED6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1600200"/>
            <a:ext cx="73152" cy="1234440"/>
          </a:xfrm>
          <a:prstGeom prst="rect">
            <a:avLst/>
          </a:prstGeom>
          <a:solidFill>
            <a:srgbClr val="6F5AA8"/>
          </a:solidFill>
          <a:ln w="12700">
            <a:solidFill>
              <a:srgbClr val="6F5AA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737360"/>
            <a:ext cx="667512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6F5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Begriff 1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914400" y="2084832"/>
            <a:ext cx="6675120" cy="6309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Wann darf a²+b²=c² verwendet werden?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731520" y="2999232"/>
            <a:ext cx="6995160" cy="12344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3970">
            <a:solidFill>
              <a:srgbClr val="D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7CED6">
                <a:alpha val="1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31520" y="2999232"/>
            <a:ext cx="73152" cy="1234440"/>
          </a:xfrm>
          <a:prstGeom prst="rect">
            <a:avLst/>
          </a:prstGeom>
          <a:solidFill>
            <a:srgbClr val="6F5AA8"/>
          </a:solidFill>
          <a:ln w="12700">
            <a:solidFill>
              <a:srgbClr val="6F5AA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3136392"/>
            <a:ext cx="667512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6F5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Begriff 2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914400" y="3483864"/>
            <a:ext cx="6675120" cy="6309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Was bleibt bei ähnlichen Figuren gleich?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731520" y="4398264"/>
            <a:ext cx="6995160" cy="12344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3970">
            <a:solidFill>
              <a:srgbClr val="D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7CED6">
                <a:alpha val="16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731520" y="4398264"/>
            <a:ext cx="73152" cy="1234440"/>
          </a:xfrm>
          <a:prstGeom prst="rect">
            <a:avLst/>
          </a:prstGeom>
          <a:solidFill>
            <a:srgbClr val="6F5AA8"/>
          </a:solidFill>
          <a:ln w="12700">
            <a:solidFill>
              <a:srgbClr val="6F5AA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4535424"/>
            <a:ext cx="667512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6F5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Begriff 3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914400" y="4882896"/>
            <a:ext cx="6675120" cy="6309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Warum ist Parallelität für die Strahlensätze entscheidend?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8001000" y="1600200"/>
            <a:ext cx="3429000" cy="2971800"/>
          </a:xfrm>
          <a:prstGeom prst="roundRect">
            <a:avLst>
              <a:gd name="adj" fmla="val 2769"/>
            </a:avLst>
          </a:prstGeom>
          <a:solidFill>
            <a:srgbClr val="F1EDF8"/>
          </a:solidFill>
          <a:ln w="15240">
            <a:solidFill>
              <a:srgbClr val="6F5AA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75320" y="1847088"/>
            <a:ext cx="265176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6F5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Kernideen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275320" y="2267712"/>
            <a:ext cx="2743200" cy="19659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Im rechtwinkligen Dreieck: a²+b²=c².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Ähnlichkeit: gleiche Winkel, proportionale Seiten.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Strahlensätze beruhen auf Ähnlichkeit.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8138160" y="4983480"/>
            <a:ext cx="3291840" cy="749808"/>
          </a:xfrm>
          <a:prstGeom prst="roundRect">
            <a:avLst>
              <a:gd name="adj" fmla="val 9756"/>
            </a:avLst>
          </a:prstGeom>
          <a:solidFill>
            <a:srgbClr val="F1EDF8"/>
          </a:solidFill>
          <a:ln w="13970">
            <a:solidFill>
              <a:srgbClr val="6F5AA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321040" y="5120640"/>
            <a:ext cx="68580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6F5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MERKE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8321040" y="5330952"/>
            <a:ext cx="288036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1F2933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Im rechtwinkligen Dreieck: a²+b²=c².</a:t>
            </a:r>
            <a:endParaRPr lang="en-US" sz="14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92240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3728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658368"/>
            <a:ext cx="9784080" cy="4754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Rechnen – sicher starten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10744200" y="694944"/>
            <a:ext cx="685800" cy="109728"/>
          </a:xfrm>
          <a:prstGeom prst="rect">
            <a:avLst/>
          </a:prstGeom>
          <a:solidFill>
            <a:srgbClr val="6F5AA8"/>
          </a:solidFill>
          <a:ln w="12700">
            <a:solidFill>
              <a:srgbClr val="6F5AA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76656" y="1152144"/>
            <a:ext cx="77724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6372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Klasse 9 · Basisaufgaben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731520" y="1600200"/>
            <a:ext cx="3429000" cy="43434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3970">
            <a:solidFill>
              <a:srgbClr val="D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7CED6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1600200"/>
            <a:ext cx="73152" cy="4343400"/>
          </a:xfrm>
          <a:prstGeom prst="rect">
            <a:avLst/>
          </a:prstGeom>
          <a:solidFill>
            <a:srgbClr val="6F5AA8"/>
          </a:solidFill>
          <a:ln w="12700">
            <a:solidFill>
              <a:srgbClr val="6F5AA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737360"/>
            <a:ext cx="310896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6F5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914400" y="2084832"/>
            <a:ext cx="3108960" cy="3739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9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Leiter 5 m, Abstand zur Wand 3 m. Höhe?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4389120" y="1600200"/>
            <a:ext cx="3429000" cy="43434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3970">
            <a:solidFill>
              <a:srgbClr val="D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7CED6">
                <a:alpha val="1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389120" y="1600200"/>
            <a:ext cx="73152" cy="4343400"/>
          </a:xfrm>
          <a:prstGeom prst="rect">
            <a:avLst/>
          </a:prstGeom>
          <a:solidFill>
            <a:srgbClr val="6F5AA8"/>
          </a:solidFill>
          <a:ln w="12700">
            <a:solidFill>
              <a:srgbClr val="6F5AA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0" y="1737360"/>
            <a:ext cx="310896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6F5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4572000" y="2084832"/>
            <a:ext cx="3108960" cy="3739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9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Ein Foto 10×15 cm wird auf 20 cm Breite vergrößert. Neue Höhe?</a:t>
            </a:r>
            <a:endParaRPr lang="en-US" sz="1900" dirty="0"/>
          </a:p>
        </p:txBody>
      </p:sp>
      <p:sp>
        <p:nvSpPr>
          <p:cNvPr id="13" name="Shape 11"/>
          <p:cNvSpPr/>
          <p:nvPr/>
        </p:nvSpPr>
        <p:spPr>
          <a:xfrm>
            <a:off x="8046720" y="1600200"/>
            <a:ext cx="3429000" cy="43434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3970">
            <a:solidFill>
              <a:srgbClr val="D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7CED6">
                <a:alpha val="16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046720" y="1600200"/>
            <a:ext cx="73152" cy="4343400"/>
          </a:xfrm>
          <a:prstGeom prst="rect">
            <a:avLst/>
          </a:prstGeom>
          <a:solidFill>
            <a:srgbClr val="6F5AA8"/>
          </a:solidFill>
          <a:ln w="12700">
            <a:solidFill>
              <a:srgbClr val="6F5AA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0" y="1737360"/>
            <a:ext cx="310896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6F5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8229600" y="2084832"/>
            <a:ext cx="3108960" cy="3739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9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2/5 = x/15. Bestimme x.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749808" y="6062472"/>
            <a:ext cx="5852160" cy="2377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6372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Arbeite sauber: Ansatz → Rechnung → Ergebnis/Deutung.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92240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3728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658368"/>
            <a:ext cx="9784080" cy="4754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Darstellungen lesen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10744200" y="694944"/>
            <a:ext cx="685800" cy="109728"/>
          </a:xfrm>
          <a:prstGeom prst="rect">
            <a:avLst/>
          </a:prstGeom>
          <a:solidFill>
            <a:srgbClr val="6F5AA8"/>
          </a:solidFill>
          <a:ln w="12700">
            <a:solidFill>
              <a:srgbClr val="6F5AA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76656" y="1152144"/>
            <a:ext cx="77724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6372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Klasse 9 · Bild, Graph oder Modell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731520" y="1600200"/>
            <a:ext cx="6492240" cy="4434840"/>
          </a:xfrm>
          <a:prstGeom prst="roundRect">
            <a:avLst>
              <a:gd name="adj" fmla="val 1649"/>
            </a:avLst>
          </a:prstGeom>
          <a:solidFill>
            <a:srgbClr val="FFFFFF"/>
          </a:solidFill>
          <a:ln w="13970">
            <a:solidFill>
              <a:srgbClr val="D9E0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543050" y="1783080"/>
            <a:ext cx="0" cy="4069080"/>
          </a:xfrm>
          <a:prstGeom prst="line">
            <a:avLst/>
          </a:prstGeom>
          <a:noFill/>
          <a:ln w="7620">
            <a:solidFill>
              <a:srgbClr val="EEF1F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354580" y="1783080"/>
            <a:ext cx="0" cy="4069080"/>
          </a:xfrm>
          <a:prstGeom prst="line">
            <a:avLst/>
          </a:prstGeom>
          <a:noFill/>
          <a:ln w="7620">
            <a:solidFill>
              <a:srgbClr val="EEF1F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166110" y="1783080"/>
            <a:ext cx="0" cy="4069080"/>
          </a:xfrm>
          <a:prstGeom prst="line">
            <a:avLst/>
          </a:prstGeom>
          <a:noFill/>
          <a:ln w="7620">
            <a:solidFill>
              <a:srgbClr val="EEF1F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977640" y="1783080"/>
            <a:ext cx="0" cy="4069080"/>
          </a:xfrm>
          <a:prstGeom prst="line">
            <a:avLst/>
          </a:prstGeom>
          <a:noFill/>
          <a:ln w="7620">
            <a:solidFill>
              <a:srgbClr val="EEF1F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789170" y="1783080"/>
            <a:ext cx="0" cy="4069080"/>
          </a:xfrm>
          <a:prstGeom prst="line">
            <a:avLst/>
          </a:prstGeom>
          <a:noFill/>
          <a:ln w="7620">
            <a:solidFill>
              <a:srgbClr val="EEF1F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600700" y="1783080"/>
            <a:ext cx="0" cy="4069080"/>
          </a:xfrm>
          <a:prstGeom prst="line">
            <a:avLst/>
          </a:prstGeom>
          <a:noFill/>
          <a:ln w="7620">
            <a:solidFill>
              <a:srgbClr val="EEF1F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12230" y="1783080"/>
            <a:ext cx="0" cy="4069080"/>
          </a:xfrm>
          <a:prstGeom prst="line">
            <a:avLst/>
          </a:prstGeom>
          <a:noFill/>
          <a:ln w="7620">
            <a:solidFill>
              <a:srgbClr val="EEF1F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14400" y="2339340"/>
            <a:ext cx="6126480" cy="0"/>
          </a:xfrm>
          <a:prstGeom prst="line">
            <a:avLst/>
          </a:prstGeom>
          <a:noFill/>
          <a:ln w="7620">
            <a:solidFill>
              <a:srgbClr val="EEF1F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14400" y="3078480"/>
            <a:ext cx="6126480" cy="0"/>
          </a:xfrm>
          <a:prstGeom prst="line">
            <a:avLst/>
          </a:prstGeom>
          <a:noFill/>
          <a:ln w="7620">
            <a:solidFill>
              <a:srgbClr val="EEF1F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14400" y="3817620"/>
            <a:ext cx="6126480" cy="0"/>
          </a:xfrm>
          <a:prstGeom prst="line">
            <a:avLst/>
          </a:prstGeom>
          <a:noFill/>
          <a:ln w="7620">
            <a:solidFill>
              <a:srgbClr val="EEF1F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14400" y="4556760"/>
            <a:ext cx="6126480" cy="0"/>
          </a:xfrm>
          <a:prstGeom prst="line">
            <a:avLst/>
          </a:prstGeom>
          <a:noFill/>
          <a:ln w="7620">
            <a:solidFill>
              <a:srgbClr val="EEF1F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14400" y="5295900"/>
            <a:ext cx="6126480" cy="0"/>
          </a:xfrm>
          <a:prstGeom prst="line">
            <a:avLst/>
          </a:prstGeom>
          <a:noFill/>
          <a:ln w="7620">
            <a:solidFill>
              <a:srgbClr val="EEF1F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828800" y="5349240"/>
            <a:ext cx="4206240" cy="0"/>
          </a:xfrm>
          <a:prstGeom prst="line">
            <a:avLst/>
          </a:prstGeom>
          <a:noFill/>
          <a:ln w="38100">
            <a:solidFill>
              <a:srgbClr val="6F5AA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035040" y="5349240"/>
            <a:ext cx="-1097280" cy="-3017520"/>
          </a:xfrm>
          <a:prstGeom prst="line">
            <a:avLst/>
          </a:prstGeom>
          <a:noFill/>
          <a:ln w="38100">
            <a:solidFill>
              <a:srgbClr val="6F5AA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937760" y="2331720"/>
            <a:ext cx="-3108960" cy="3017520"/>
          </a:xfrm>
          <a:prstGeom prst="line">
            <a:avLst/>
          </a:prstGeom>
          <a:noFill/>
          <a:ln w="38100">
            <a:solidFill>
              <a:srgbClr val="6F5AA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645920" y="5394960"/>
            <a:ext cx="27432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035040" y="5394960"/>
            <a:ext cx="27432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846320" y="2011680"/>
            <a:ext cx="27432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1901952" y="5001768"/>
            <a:ext cx="347472" cy="347472"/>
          </a:xfrm>
          <a:prstGeom prst="rect">
            <a:avLst/>
          </a:prstGeom>
          <a:solidFill>
            <a:srgbClr val="FFFFFF">
              <a:alpha val="0"/>
            </a:srgbClr>
          </a:solidFill>
          <a:ln w="13970">
            <a:solidFill>
              <a:srgbClr val="63728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498080" y="1600200"/>
            <a:ext cx="3931920" cy="1965960"/>
          </a:xfrm>
          <a:prstGeom prst="roundRect">
            <a:avLst>
              <a:gd name="adj" fmla="val 4186"/>
            </a:avLst>
          </a:prstGeom>
          <a:solidFill>
            <a:srgbClr val="F1EDF8"/>
          </a:solidFill>
          <a:ln w="13970">
            <a:solidFill>
              <a:srgbClr val="D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7CED6">
                <a:alpha val="16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7498080" y="1600200"/>
            <a:ext cx="73152" cy="1965960"/>
          </a:xfrm>
          <a:prstGeom prst="rect">
            <a:avLst/>
          </a:prstGeom>
          <a:solidFill>
            <a:srgbClr val="6F5AA8"/>
          </a:solidFill>
          <a:ln w="12700">
            <a:solidFill>
              <a:srgbClr val="6F5AA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680960" y="1737360"/>
            <a:ext cx="361188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6F5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Beobachten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7680960" y="2084832"/>
            <a:ext cx="3611880" cy="1362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Was bleibt bei ähnlichen Figuren gleich?</a:t>
            </a:r>
            <a:endParaRPr lang="en-US" sz="1650" dirty="0"/>
          </a:p>
        </p:txBody>
      </p:sp>
      <p:sp>
        <p:nvSpPr>
          <p:cNvPr id="29" name="Shape 27"/>
          <p:cNvSpPr/>
          <p:nvPr/>
        </p:nvSpPr>
        <p:spPr>
          <a:xfrm>
            <a:off x="7498080" y="3794760"/>
            <a:ext cx="3931920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13970">
            <a:solidFill>
              <a:srgbClr val="D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7CED6">
                <a:alpha val="16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7498080" y="3794760"/>
            <a:ext cx="73152" cy="1965960"/>
          </a:xfrm>
          <a:prstGeom prst="rect">
            <a:avLst/>
          </a:prstGeom>
          <a:solidFill>
            <a:srgbClr val="6F5AA8"/>
          </a:solidFill>
          <a:ln w="12700">
            <a:solidFill>
              <a:srgbClr val="6F5AA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680960" y="3931920"/>
            <a:ext cx="361188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6F5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Nutzen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7680960" y="4279392"/>
            <a:ext cx="3611880" cy="1362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2/5 = x/15. Bestimme x.</a:t>
            </a:r>
            <a:endParaRPr lang="en-US" sz="16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92240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3728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658368"/>
            <a:ext cx="9784080" cy="4754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Anwenden im Kontext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10744200" y="694944"/>
            <a:ext cx="685800" cy="109728"/>
          </a:xfrm>
          <a:prstGeom prst="rect">
            <a:avLst/>
          </a:prstGeom>
          <a:solidFill>
            <a:srgbClr val="6F5AA8"/>
          </a:solidFill>
          <a:ln w="12700">
            <a:solidFill>
              <a:srgbClr val="6F5AA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76656" y="1152144"/>
            <a:ext cx="77724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6372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Klasse 9 · etwas mehr Denken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731520" y="1600200"/>
            <a:ext cx="5257800" cy="4434840"/>
          </a:xfrm>
          <a:prstGeom prst="roundRect">
            <a:avLst>
              <a:gd name="adj" fmla="val 1856"/>
            </a:avLst>
          </a:prstGeom>
          <a:solidFill>
            <a:srgbClr val="F1EDF8"/>
          </a:solidFill>
          <a:ln w="13970">
            <a:solidFill>
              <a:srgbClr val="D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7CED6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1600200"/>
            <a:ext cx="73152" cy="4434840"/>
          </a:xfrm>
          <a:prstGeom prst="rect">
            <a:avLst/>
          </a:prstGeom>
          <a:solidFill>
            <a:srgbClr val="6F5AA8"/>
          </a:solidFill>
          <a:ln w="12700">
            <a:solidFill>
              <a:srgbClr val="6F5AA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737360"/>
            <a:ext cx="493776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6F5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Kontext 1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914400" y="2084832"/>
            <a:ext cx="4937760" cy="38313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9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Ein Foto 10×15 cm wird auf 20 cm Breite vergrößert. Neue Höhe?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6199632" y="1600200"/>
            <a:ext cx="5257800" cy="4434840"/>
          </a:xfrm>
          <a:prstGeom prst="roundRect">
            <a:avLst>
              <a:gd name="adj" fmla="val 1856"/>
            </a:avLst>
          </a:prstGeom>
          <a:solidFill>
            <a:srgbClr val="FFFFFF"/>
          </a:solidFill>
          <a:ln w="13970">
            <a:solidFill>
              <a:srgbClr val="D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7CED6">
                <a:alpha val="1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199632" y="1600200"/>
            <a:ext cx="73152" cy="4434840"/>
          </a:xfrm>
          <a:prstGeom prst="rect">
            <a:avLst/>
          </a:prstGeom>
          <a:solidFill>
            <a:srgbClr val="6F5AA8"/>
          </a:solidFill>
          <a:ln w="12700">
            <a:solidFill>
              <a:srgbClr val="6F5AA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82512" y="1737360"/>
            <a:ext cx="493776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6F5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Kontext 2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6382512" y="2084832"/>
            <a:ext cx="4937760" cy="38313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9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2/5 = x/15. Bestimme x.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749808" y="6053328"/>
            <a:ext cx="7498080" cy="2468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30" i="1" dirty="0">
                <a:solidFill>
                  <a:srgbClr val="6372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Tipp: Welche Größe ist gesucht? Welche Darstellung oder Formel hilft?</a:t>
            </a:r>
            <a:endParaRPr lang="en-US" sz="113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92240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3728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658368"/>
            <a:ext cx="9784080" cy="4754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Denkfragen &amp; Fehler finden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10744200" y="694944"/>
            <a:ext cx="685800" cy="109728"/>
          </a:xfrm>
          <a:prstGeom prst="rect">
            <a:avLst/>
          </a:prstGeom>
          <a:solidFill>
            <a:srgbClr val="6F5AA8"/>
          </a:solidFill>
          <a:ln w="12700">
            <a:solidFill>
              <a:srgbClr val="6F5AA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76656" y="1152144"/>
            <a:ext cx="77724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6372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Klasse 9 · Konzepte wirklich verstanden?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731520" y="1600200"/>
            <a:ext cx="5257800" cy="1874520"/>
          </a:xfrm>
          <a:prstGeom prst="roundRect">
            <a:avLst>
              <a:gd name="adj" fmla="val 4390"/>
            </a:avLst>
          </a:prstGeom>
          <a:solidFill>
            <a:srgbClr val="FFFFFF"/>
          </a:solidFill>
          <a:ln w="13970">
            <a:solidFill>
              <a:srgbClr val="D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7CED6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1600200"/>
            <a:ext cx="73152" cy="1874520"/>
          </a:xfrm>
          <a:prstGeom prst="rect">
            <a:avLst/>
          </a:prstGeom>
          <a:solidFill>
            <a:srgbClr val="6F5AA8"/>
          </a:solidFill>
          <a:ln w="12700">
            <a:solidFill>
              <a:srgbClr val="6F5AA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737360"/>
            <a:ext cx="493776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6F5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Denkfrage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914400" y="2084832"/>
            <a:ext cx="4937760" cy="1271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75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Prüfe, ob Seiten 6, 8, 10 ein rechtwinkliges Dreieck bilden.</a:t>
            </a:r>
            <a:endParaRPr lang="en-US" sz="1750" dirty="0"/>
          </a:p>
        </p:txBody>
      </p:sp>
      <p:sp>
        <p:nvSpPr>
          <p:cNvPr id="9" name="Shape 7"/>
          <p:cNvSpPr/>
          <p:nvPr/>
        </p:nvSpPr>
        <p:spPr>
          <a:xfrm>
            <a:off x="6199632" y="1600200"/>
            <a:ext cx="5257800" cy="1874520"/>
          </a:xfrm>
          <a:prstGeom prst="roundRect">
            <a:avLst>
              <a:gd name="adj" fmla="val 4390"/>
            </a:avLst>
          </a:prstGeom>
          <a:solidFill>
            <a:srgbClr val="FFFFFF"/>
          </a:solidFill>
          <a:ln w="13970">
            <a:solidFill>
              <a:srgbClr val="D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7CED6">
                <a:alpha val="1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199632" y="1600200"/>
            <a:ext cx="73152" cy="1874520"/>
          </a:xfrm>
          <a:prstGeom prst="rect">
            <a:avLst/>
          </a:prstGeom>
          <a:solidFill>
            <a:srgbClr val="6F5AA8"/>
          </a:solidFill>
          <a:ln w="12700">
            <a:solidFill>
              <a:srgbClr val="6F5AA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82512" y="1737360"/>
            <a:ext cx="493776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6F5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Transfer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6382512" y="2084832"/>
            <a:ext cx="4937760" cy="1271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75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Wie kann man die Höhe eines Baumes mit Schattenlängen bestimmen?</a:t>
            </a:r>
            <a:endParaRPr lang="en-US" sz="1750" dirty="0"/>
          </a:p>
        </p:txBody>
      </p:sp>
      <p:sp>
        <p:nvSpPr>
          <p:cNvPr id="13" name="Shape 11"/>
          <p:cNvSpPr/>
          <p:nvPr/>
        </p:nvSpPr>
        <p:spPr>
          <a:xfrm>
            <a:off x="731520" y="3794760"/>
            <a:ext cx="10725912" cy="1828800"/>
          </a:xfrm>
          <a:prstGeom prst="roundRect">
            <a:avLst>
              <a:gd name="adj" fmla="val 4500"/>
            </a:avLst>
          </a:prstGeom>
          <a:solidFill>
            <a:srgbClr val="F9ECEC"/>
          </a:solidFill>
          <a:ln w="15240">
            <a:solidFill>
              <a:srgbClr val="C75A5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69264" y="4041648"/>
            <a:ext cx="182880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C7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FEHLER DES TAGES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69264" y="4416552"/>
            <a:ext cx="9966960" cy="7772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„Was in der Zeichnung gleich aussieht, ist bewiesen gleich.“ – Korrigiere.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969264" y="5230368"/>
            <a:ext cx="475488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i="1" dirty="0">
                <a:solidFill>
                  <a:srgbClr val="C7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Korrigiere die Aussage und begründe.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92240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3728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1234440"/>
            <a:ext cx="6858000" cy="4754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Kannst du das noch?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13232" y="1737360"/>
            <a:ext cx="73152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C9DA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Klasse 9 · Geometrie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731520" y="2331720"/>
            <a:ext cx="5230368" cy="841248"/>
          </a:xfrm>
          <a:prstGeom prst="roundRect">
            <a:avLst>
              <a:gd name="adj" fmla="val 7609"/>
            </a:avLst>
          </a:prstGeom>
          <a:solidFill>
            <a:srgbClr val="20445F"/>
          </a:solidFill>
          <a:ln w="12700">
            <a:solidFill>
              <a:srgbClr val="4A6C8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96112" y="2478024"/>
            <a:ext cx="347472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0B4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353312" y="2450592"/>
            <a:ext cx="4425696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43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Rechtwinkliges Dreieck mit Katheten 3 und 4: Hypotenuse?</a:t>
            </a:r>
            <a:endParaRPr lang="en-US" sz="1430" dirty="0"/>
          </a:p>
        </p:txBody>
      </p:sp>
      <p:sp>
        <p:nvSpPr>
          <p:cNvPr id="7" name="Shape 5"/>
          <p:cNvSpPr/>
          <p:nvPr/>
        </p:nvSpPr>
        <p:spPr>
          <a:xfrm>
            <a:off x="6236208" y="2331720"/>
            <a:ext cx="5230368" cy="841248"/>
          </a:xfrm>
          <a:prstGeom prst="roundRect">
            <a:avLst>
              <a:gd name="adj" fmla="val 7609"/>
            </a:avLst>
          </a:prstGeom>
          <a:solidFill>
            <a:srgbClr val="20445F"/>
          </a:solidFill>
          <a:ln w="12700">
            <a:solidFill>
              <a:srgbClr val="4A6C8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0" y="2478024"/>
            <a:ext cx="347472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0B4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858000" y="2450592"/>
            <a:ext cx="4425696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43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Streckfaktor k=2: Aus 3 cm werden?</a:t>
            </a:r>
            <a:endParaRPr lang="en-US" sz="1430" dirty="0"/>
          </a:p>
        </p:txBody>
      </p:sp>
      <p:sp>
        <p:nvSpPr>
          <p:cNvPr id="10" name="Shape 8"/>
          <p:cNvSpPr/>
          <p:nvPr/>
        </p:nvSpPr>
        <p:spPr>
          <a:xfrm>
            <a:off x="731520" y="3429000"/>
            <a:ext cx="5230368" cy="841248"/>
          </a:xfrm>
          <a:prstGeom prst="roundRect">
            <a:avLst>
              <a:gd name="adj" fmla="val 7609"/>
            </a:avLst>
          </a:prstGeom>
          <a:solidFill>
            <a:srgbClr val="20445F"/>
          </a:solidFill>
          <a:ln w="12700">
            <a:solidFill>
              <a:srgbClr val="4A6C8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96112" y="3575304"/>
            <a:ext cx="347472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0B4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353312" y="3547872"/>
            <a:ext cx="4425696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43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Bei parallelen Schnittgeraden entstehen welche Beziehungen?</a:t>
            </a:r>
            <a:endParaRPr lang="en-US" sz="1430" dirty="0"/>
          </a:p>
        </p:txBody>
      </p:sp>
      <p:sp>
        <p:nvSpPr>
          <p:cNvPr id="13" name="Shape 11"/>
          <p:cNvSpPr/>
          <p:nvPr/>
        </p:nvSpPr>
        <p:spPr>
          <a:xfrm>
            <a:off x="6236208" y="3429000"/>
            <a:ext cx="5230368" cy="841248"/>
          </a:xfrm>
          <a:prstGeom prst="roundRect">
            <a:avLst>
              <a:gd name="adj" fmla="val 7609"/>
            </a:avLst>
          </a:prstGeom>
          <a:solidFill>
            <a:srgbClr val="20445F"/>
          </a:solidFill>
          <a:ln w="12700">
            <a:solidFill>
              <a:srgbClr val="4A6C8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0" y="3575304"/>
            <a:ext cx="347472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0B4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858000" y="3547872"/>
            <a:ext cx="4425696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43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Wann darf a²+b²=c² verwendet werden?</a:t>
            </a:r>
            <a:endParaRPr lang="en-US" sz="1430" dirty="0"/>
          </a:p>
        </p:txBody>
      </p:sp>
      <p:sp>
        <p:nvSpPr>
          <p:cNvPr id="16" name="Shape 14"/>
          <p:cNvSpPr/>
          <p:nvPr/>
        </p:nvSpPr>
        <p:spPr>
          <a:xfrm>
            <a:off x="731520" y="4526280"/>
            <a:ext cx="10762488" cy="841248"/>
          </a:xfrm>
          <a:prstGeom prst="roundRect">
            <a:avLst>
              <a:gd name="adj" fmla="val 7609"/>
            </a:avLst>
          </a:prstGeom>
          <a:solidFill>
            <a:srgbClr val="234A69"/>
          </a:solidFill>
          <a:ln w="12700">
            <a:solidFill>
              <a:srgbClr val="4A6C8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96112" y="4672584"/>
            <a:ext cx="347472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0B4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353312" y="4645152"/>
            <a:ext cx="9957816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43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Was bleibt bei ähnlichen Figuren gleich?</a:t>
            </a:r>
            <a:endParaRPr lang="en-US" sz="1430" dirty="0"/>
          </a:p>
        </p:txBody>
      </p:sp>
      <p:sp>
        <p:nvSpPr>
          <p:cNvPr id="19" name="Text 17"/>
          <p:cNvSpPr/>
          <p:nvPr/>
        </p:nvSpPr>
        <p:spPr>
          <a:xfrm>
            <a:off x="6263640" y="4645152"/>
            <a:ext cx="105156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C9DA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Selbstcheck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7315200" y="4572000"/>
            <a:ext cx="1051560" cy="384048"/>
          </a:xfrm>
          <a:prstGeom prst="roundRect">
            <a:avLst>
              <a:gd name="adj" fmla="val 16667"/>
            </a:avLst>
          </a:prstGeom>
          <a:solidFill>
            <a:srgbClr val="4F8B6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60920" y="4636008"/>
            <a:ext cx="96012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sicher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8522208" y="4572000"/>
            <a:ext cx="1051560" cy="384048"/>
          </a:xfrm>
          <a:prstGeom prst="roundRect">
            <a:avLst>
              <a:gd name="adj" fmla="val 16667"/>
            </a:avLst>
          </a:prstGeom>
          <a:solidFill>
            <a:srgbClr val="F0B44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567928" y="4636008"/>
            <a:ext cx="96012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729216" y="4572000"/>
            <a:ext cx="1051560" cy="384048"/>
          </a:xfrm>
          <a:prstGeom prst="roundRect">
            <a:avLst>
              <a:gd name="adj" fmla="val 16667"/>
            </a:avLst>
          </a:prstGeom>
          <a:solidFill>
            <a:srgbClr val="C75A5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774936" y="4636008"/>
            <a:ext cx="96012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noch üben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46520"/>
            <a:ext cx="27432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C8D5E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Rivius Gymnasium Attendorn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Klasse 9 – Geometrie – Wiederholung</dc:title>
  <dc:subject>Mathematik Wiederholung</dc:subject>
  <dc:creator>Jonathan Hardenacke / OpenAI</dc:creator>
  <cp:lastModifiedBy>Jonathan Hardenacke / OpenAI</cp:lastModifiedBy>
  <cp:revision>1</cp:revision>
  <dcterms:created xsi:type="dcterms:W3CDTF">2026-09-12T12:19:26Z</dcterms:created>
  <dcterms:modified xsi:type="dcterms:W3CDTF">2026-09-12T12:19:26Z</dcterms:modified>
</cp:coreProperties>
</file>