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ns0:notes xmlns:a="http://schemas.openxmlformats.org/drawingml/2006/main" xmlns:ns0="http://schemas.openxmlformats.org/presentationml/2006/main" xmlns:ns2="http://schemas.microsoft.com/office/powerpoint/2010/main">
  <ns0:cSld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lide Image Placeholder 1"/>
          <ns0:cNvSpPr>
            <a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a:spLocks noGrp="1"/>
          </ns0:cNvSpPr>
          <ns0:nvPr>
            <ns0:ph type="body" idx="1"/>
          </ns0:nvPr>
        </ns0:nvSpPr>
        <ns0:spPr/>
        <ns0:txBody>
          <a:bodyPr/>
          <a:lstStyle/>
          <a:p>
            <a:r>
              <a:rPr lang="en-US" dirty="0"/>
              <a:t/>
            </a:r>
            <a:endParaRPr lang="en-US" dirty="0"/>
          </a:p>
        </ns0:txBody>
      </ns0:sp>
      <ns0:sp>
        <ns0:nvSpPr>
          <ns0:cNvPr id="4" name="Slide Number Placeholder 3"/>
          <ns0:cNvSpPr>
            <a:spLocks noGrp="1"/>
          </ns0:cNvSpPr>
          <ns0:nvPr>
            <ns0:ph type="sldNum" sz="quarter" idx="10"/>
          </ns0:nvPr>
        </ns0:nvSpPr>
        <ns0:spPr/>
        <ns0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ns0:txBody>
      </ns0:sp>
    </ns0:spTree>
    <ns0:extLst>
      <ns0:ext uri="{BB962C8B-B14F-4D97-AF65-F5344CB8AC3E}">
        <ns2:creationId val="1024086991"/>
      </ns0:ext>
    </ns0:extLst>
  </ns0:cSld>
  <ns0:clrMapOvr>
    <a:masterClrMapping/>
  </ns0:clrMapOvr>
</ns0:notes>
</file>

<file path=ppt/notesSlides/notesSlide2.xml><?xml version="1.0" encoding="utf-8"?>
<ns0:notes xmlns:a="http://schemas.openxmlformats.org/drawingml/2006/main" xmlns:ns0="http://schemas.openxmlformats.org/presentationml/2006/main" xmlns:ns2="http://schemas.microsoft.com/office/powerpoint/2010/main">
  <ns0:cSld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lide Image Placeholder 1"/>
          <ns0:cNvSpPr>
            <a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a:spLocks noGrp="1"/>
          </ns0:cNvSpPr>
          <ns0:nvPr>
            <ns0:ph type="body" idx="1"/>
          </ns0:nvPr>
        </ns0:nvSpPr>
        <ns0:spPr/>
        <ns0:txBody>
          <a:bodyPr/>
          <a:lstStyle/>
          <a:p>
            <a:r>
              <a:rPr lang="en-US" dirty="0"/>
              <a:t/>
            </a:r>
            <a:endParaRPr lang="en-US" dirty="0"/>
          </a:p>
        </ns0:txBody>
      </ns0:sp>
      <ns0:sp>
        <ns0:nvSpPr>
          <ns0:cNvPr id="4" name="Slide Number Placeholder 3"/>
          <ns0:cNvSpPr>
            <a:spLocks noGrp="1"/>
          </ns0:cNvSpPr>
          <ns0:nvPr>
            <ns0:ph type="sldNum" sz="quarter" idx="10"/>
          </ns0:nvPr>
        </ns0:nvSpPr>
        <ns0:spPr/>
        <ns0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ns0:txBody>
      </ns0:sp>
    </ns0:spTree>
    <ns0:extLst>
      <ns0:ext uri="{BB962C8B-B14F-4D97-AF65-F5344CB8AC3E}">
        <ns2:creationId val="1024086991"/>
      </ns0:ext>
    </ns0:extLst>
  </ns0:cSld>
  <ns0:clrMapOvr>
    <a:masterClrMapping/>
  </ns0:clrMapOvr>
</ns0:notes>
</file>

<file path=ppt/notesSlides/notesSlide3.xml><?xml version="1.0" encoding="utf-8"?>
<ns0:notes xmlns:a="http://schemas.openxmlformats.org/drawingml/2006/main" xmlns:ns0="http://schemas.openxmlformats.org/presentationml/2006/main" xmlns:ns2="http://schemas.microsoft.com/office/powerpoint/2010/main">
  <ns0:cSld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lide Image Placeholder 1"/>
          <ns0:cNvSpPr>
            <a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a:spLocks noGrp="1"/>
          </ns0:cNvSpPr>
          <ns0:nvPr>
            <ns0:ph type="body" idx="1"/>
          </ns0:nvPr>
        </ns0:nvSpPr>
        <ns0:spPr/>
        <ns0:txBody>
          <a:bodyPr/>
          <a:lstStyle/>
          <a:p>
            <a:r>
              <a:rPr lang="en-US" dirty="0"/>
              <a:t/>
            </a:r>
            <a:endParaRPr lang="en-US" dirty="0"/>
          </a:p>
        </ns0:txBody>
      </ns0:sp>
      <ns0:sp>
        <ns0:nvSpPr>
          <ns0:cNvPr id="4" name="Slide Number Placeholder 3"/>
          <ns0:cNvSpPr>
            <a:spLocks noGrp="1"/>
          </ns0:cNvSpPr>
          <ns0:nvPr>
            <ns0:ph type="sldNum" sz="quarter" idx="10"/>
          </ns0:nvPr>
        </ns0:nvSpPr>
        <ns0:spPr/>
        <ns0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ns0:txBody>
      </ns0:sp>
    </ns0:spTree>
    <ns0:extLst>
      <ns0:ext uri="{BB962C8B-B14F-4D97-AF65-F5344CB8AC3E}">
        <ns2:creationId val="1024086991"/>
      </ns0:ext>
    </ns0:extLst>
  </ns0:cSld>
  <ns0:clrMapOvr>
    <a:masterClrMapping/>
  </ns0:clrMapOvr>
</ns0:notes>
</file>

<file path=ppt/notesSlides/notesSlide4.xml><?xml version="1.0" encoding="utf-8"?>
<ns0:notes xmlns:a="http://schemas.openxmlformats.org/drawingml/2006/main" xmlns:ns0="http://schemas.openxmlformats.org/presentationml/2006/main" xmlns:ns2="http://schemas.microsoft.com/office/powerpoint/2010/main">
  <ns0:cSld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lide Image Placeholder 1"/>
          <ns0:cNvSpPr>
            <a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a:spLocks noGrp="1"/>
          </ns0:cNvSpPr>
          <ns0:nvPr>
            <ns0:ph type="body" idx="1"/>
          </ns0:nvPr>
        </ns0:nvSpPr>
        <ns0:spPr/>
        <ns0:txBody>
          <a:bodyPr/>
          <a:lstStyle/>
          <a:p>
            <a:r>
              <a:rPr lang="en-US" dirty="0"/>
              <a:t/>
            </a:r>
            <a:endParaRPr lang="en-US" dirty="0"/>
          </a:p>
        </ns0:txBody>
      </ns0:sp>
      <ns0:sp>
        <ns0:nvSpPr>
          <ns0:cNvPr id="4" name="Slide Number Placeholder 3"/>
          <ns0:cNvSpPr>
            <a:spLocks noGrp="1"/>
          </ns0:cNvSpPr>
          <ns0:nvPr>
            <ns0:ph type="sldNum" sz="quarter" idx="10"/>
          </ns0:nvPr>
        </ns0:nvSpPr>
        <ns0:spPr/>
        <ns0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ns0:txBody>
      </ns0:sp>
    </ns0:spTree>
    <ns0:extLst>
      <ns0:ext uri="{BB962C8B-B14F-4D97-AF65-F5344CB8AC3E}">
        <ns2:creationId val="1024086991"/>
      </ns0:ext>
    </ns0:extLst>
  </ns0:cSld>
  <ns0:clrMapOvr>
    <a:masterClrMapping/>
  </ns0:clrMapOvr>
</ns0:notes>
</file>

<file path=ppt/notesSlides/notesSlide5.xml><?xml version="1.0" encoding="utf-8"?>
<ns0:notes xmlns:a="http://schemas.openxmlformats.org/drawingml/2006/main" xmlns:ns0="http://schemas.openxmlformats.org/presentationml/2006/main" xmlns:ns2="http://schemas.microsoft.com/office/powerpoint/2010/main">
  <ns0:cSld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lide Image Placeholder 1"/>
          <ns0:cNvSpPr>
            <a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a:spLocks noGrp="1"/>
          </ns0:cNvSpPr>
          <ns0:nvPr>
            <ns0:ph type="body" idx="1"/>
          </ns0:nvPr>
        </ns0:nvSpPr>
        <ns0:spPr/>
        <ns0:txBody>
          <a:bodyPr/>
          <a:lstStyle/>
          <a:p>
            <a:r>
              <a:rPr lang="en-US" dirty="0"/>
              <a:t/>
            </a:r>
            <a:endParaRPr lang="en-US" dirty="0"/>
          </a:p>
        </ns0:txBody>
      </ns0:sp>
      <ns0:sp>
        <ns0:nvSpPr>
          <ns0:cNvPr id="4" name="Slide Number Placeholder 3"/>
          <ns0:cNvSpPr>
            <a:spLocks noGrp="1"/>
          </ns0:cNvSpPr>
          <ns0:nvPr>
            <ns0:ph type="sldNum" sz="quarter" idx="10"/>
          </ns0:nvPr>
        </ns0:nvSpPr>
        <ns0:spPr/>
        <ns0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ns0:txBody>
      </ns0:sp>
    </ns0:spTree>
    <ns0:extLst>
      <ns0:ext uri="{BB962C8B-B14F-4D97-AF65-F5344CB8AC3E}">
        <ns2:creationId val="1024086991"/>
      </ns0:ext>
    </ns0:extLst>
  </ns0:cSld>
  <ns0:clrMapOvr>
    <a:masterClrMapping/>
  </ns0:clrMapOvr>
</ns0:notes>
</file>

<file path=ppt/notesSlides/notesSlide6.xml><?xml version="1.0" encoding="utf-8"?>
<ns0:notes xmlns:a="http://schemas.openxmlformats.org/drawingml/2006/main" xmlns:ns0="http://schemas.openxmlformats.org/presentationml/2006/main" xmlns:ns2="http://schemas.microsoft.com/office/powerpoint/2010/main">
  <ns0:cSld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lide Image Placeholder 1"/>
          <ns0:cNvSpPr>
            <a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a:spLocks noGrp="1"/>
          </ns0:cNvSpPr>
          <ns0:nvPr>
            <ns0:ph type="body" idx="1"/>
          </ns0:nvPr>
        </ns0:nvSpPr>
        <ns0:spPr/>
        <ns0:txBody>
          <a:bodyPr/>
          <a:lstStyle/>
          <a:p>
            <a:r>
              <a:rPr lang="en-US" dirty="0"/>
              <a:t/>
            </a:r>
            <a:endParaRPr lang="en-US" dirty="0"/>
          </a:p>
        </ns0:txBody>
      </ns0:sp>
      <ns0:sp>
        <ns0:nvSpPr>
          <ns0:cNvPr id="4" name="Slide Number Placeholder 3"/>
          <ns0:cNvSpPr>
            <a:spLocks noGrp="1"/>
          </ns0:cNvSpPr>
          <ns0:nvPr>
            <ns0:ph type="sldNum" sz="quarter" idx="10"/>
          </ns0:nvPr>
        </ns0:nvSpPr>
        <ns0:spPr/>
        <ns0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ns0:txBody>
      </ns0:sp>
    </ns0:spTree>
    <ns0:extLst>
      <ns0:ext uri="{BB962C8B-B14F-4D97-AF65-F5344CB8AC3E}">
        <ns2:creationId val="1024086991"/>
      </ns0:ext>
    </ns0:extLst>
  </ns0:cSld>
  <ns0:clrMapOvr>
    <a:masterClrMapping/>
  </ns0:clrMapOvr>
</ns0:notes>
</file>

<file path=ppt/notesSlides/notesSlide7.xml><?xml version="1.0" encoding="utf-8"?>
<ns0:notes xmlns:a="http://schemas.openxmlformats.org/drawingml/2006/main" xmlns:ns0="http://schemas.openxmlformats.org/presentationml/2006/main" xmlns:ns2="http://schemas.microsoft.com/office/powerpoint/2010/main">
  <ns0:cSld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lide Image Placeholder 1"/>
          <ns0:cNvSpPr>
            <a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a:spLocks noGrp="1"/>
          </ns0:cNvSpPr>
          <ns0:nvPr>
            <ns0:ph type="body" idx="1"/>
          </ns0:nvPr>
        </ns0:nvSpPr>
        <ns0:spPr/>
        <ns0:txBody>
          <a:bodyPr/>
          <a:lstStyle/>
          <a:p>
            <a:r>
              <a:rPr lang="en-US" dirty="0"/>
              <a:t/>
            </a:r>
            <a:endParaRPr lang="en-US" dirty="0"/>
          </a:p>
        </ns0:txBody>
      </ns0:sp>
      <ns0:sp>
        <ns0:nvSpPr>
          <ns0:cNvPr id="4" name="Slide Number Placeholder 3"/>
          <ns0:cNvSpPr>
            <a:spLocks noGrp="1"/>
          </ns0:cNvSpPr>
          <ns0:nvPr>
            <ns0:ph type="sldNum" sz="quarter" idx="10"/>
          </ns0:nvPr>
        </ns0:nvSpPr>
        <ns0:spPr/>
        <ns0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ns0:txBody>
      </ns0:sp>
    </ns0:spTree>
    <ns0:extLst>
      <ns0:ext uri="{BB962C8B-B14F-4D97-AF65-F5344CB8AC3E}">
        <ns2:creationId val="1024086991"/>
      </ns0:ext>
    </ns0:extLst>
  </ns0:cSld>
  <ns0:clrMapOvr>
    <a:masterClrMapping/>
  </ns0:clrMapOvr>
</ns0:notes>
</file>

<file path=ppt/notesSlides/notesSlide8.xml><?xml version="1.0" encoding="utf-8"?>
<ns0:notes xmlns:a="http://schemas.openxmlformats.org/drawingml/2006/main" xmlns:ns0="http://schemas.openxmlformats.org/presentationml/2006/main" xmlns:ns2="http://schemas.microsoft.com/office/powerpoint/2010/main">
  <ns0:cSld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lide Image Placeholder 1"/>
          <ns0:cNvSpPr>
            <a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a:spLocks noGrp="1"/>
          </ns0:cNvSpPr>
          <ns0:nvPr>
            <ns0:ph type="body" idx="1"/>
          </ns0:nvPr>
        </ns0:nvSpPr>
        <ns0:spPr/>
        <ns0:txBody>
          <a:bodyPr/>
          <a:lstStyle/>
          <a:p>
            <a:r>
              <a:rPr lang="en-US" dirty="0"/>
              <a:t/>
            </a:r>
            <a:endParaRPr lang="en-US" dirty="0"/>
          </a:p>
        </ns0:txBody>
      </ns0:sp>
      <ns0:sp>
        <ns0:nvSpPr>
          <ns0:cNvPr id="4" name="Slide Number Placeholder 3"/>
          <ns0:cNvSpPr>
            <a:spLocks noGrp="1"/>
          </ns0:cNvSpPr>
          <ns0:nvPr>
            <ns0:ph type="sldNum" sz="quarter" idx="10"/>
          </ns0:nvPr>
        </ns0:nvSpPr>
        <ns0:spPr/>
        <ns0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ns0:txBody>
      </ns0:sp>
    </ns0:spTree>
    <ns0:extLst>
      <ns0:ext uri="{BB962C8B-B14F-4D97-AF65-F5344CB8AC3E}">
        <ns2:creationId val="1024086991"/>
      </ns0:ext>
    </ns0:extLst>
  </ns0:cSld>
  <ns0:clrMapOvr>
    <a:masterClrMapping/>
  </ns0:clrMapOvr>
</ns0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_TITLE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382512"/>
            <a:ext cx="12191695" cy="475488"/>
          </a:xfrm>
          <a:prstGeom prst="rect">
            <a:avLst/>
          </a:prstGeom>
          <a:solidFill>
            <a:srgbClr val="234A69"/>
          </a:solidFill>
          <a:ln w="12700">
            <a:solidFill>
              <a:srgbClr val="234A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41148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" kern="0" dirty="0">
                <a:solidFill>
                  <a:srgbClr val="BF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MATHEMATIK  •  WIEDERHOLUNG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58368" y="969264"/>
            <a:ext cx="1920240" cy="0"/>
          </a:xfrm>
          <a:prstGeom prst="line">
            <a:avLst/>
          </a:prstGeom>
          <a:noFill/>
          <a:ln w="50800">
            <a:solidFill>
              <a:srgbClr val="F0B44D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235440" y="647395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8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NRW · Gymnasium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_CONTENT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00584"/>
            <a:ext cx="4023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" kern="0" dirty="0">
                <a:solidFill>
                  <a:srgbClr val="D8E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MATHEMATIK  •  WIEDERHOLUNG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40080" y="6455664"/>
            <a:ext cx="10881360" cy="0"/>
          </a:xfrm>
          <a:prstGeom prst="line">
            <a:avLst/>
          </a:prstGeom>
          <a:noFill/>
          <a:ln w="12700">
            <a:solidFill>
              <a:srgbClr val="D9E0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6510528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Vom leichten Einstieg zum Transfer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_EXIT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3891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F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5-MINUTEN-CHECK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58368" y="914400"/>
            <a:ext cx="2194560" cy="0"/>
          </a:xfrm>
          <a:prstGeom prst="line">
            <a:avLst/>
          </a:prstGeom>
          <a:noFill/>
          <a:ln w="50800">
            <a:solidFill>
              <a:srgbClr val="F0B4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0" y="6473952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8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Wiederholung · Selbstcheck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1261872"/>
            <a:ext cx="1691640" cy="329184"/>
          </a:xfrm>
          <a:prstGeom prst="roundRect">
            <a:avLst>
              <a:gd name="adj" fmla="val 22222"/>
            </a:avLst>
          </a:prstGeom>
          <a:solidFill>
            <a:srgbClr val="2A7F8E"/>
          </a:solidFill>
          <a:ln w="12700">
            <a:solidFill>
              <a:srgbClr val="2A7F8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58952" y="1289304"/>
            <a:ext cx="1545336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9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033272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Wiederholung: Funktionen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713232" y="2633472"/>
            <a:ext cx="950976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D8E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Kurze Fragen · sichere Grundlagen · Anwendungen · Transfer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49808" y="3364992"/>
            <a:ext cx="128016" cy="128016"/>
          </a:xfrm>
          <a:prstGeom prst="ellipse">
            <a:avLst/>
          </a:prstGeom>
          <a:solidFill>
            <a:srgbClr val="F0B44D"/>
          </a:solidFill>
          <a:ln w="12700">
            <a:solidFill>
              <a:srgbClr val="F0B4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3291840"/>
            <a:ext cx="9784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Quadratische Funktionen; Normalparabel, Transformationen, Eigenschaften</a:t>
            </a:r>
            <a:endParaRPr lang="en-US" sz="1420" dirty="0"/>
          </a:p>
        </p:txBody>
      </p:sp>
      <p:sp>
        <p:nvSpPr>
          <p:cNvPr id="8" name="Shape 6"/>
          <p:cNvSpPr/>
          <p:nvPr/>
        </p:nvSpPr>
        <p:spPr>
          <a:xfrm>
            <a:off x="749808" y="3794760"/>
            <a:ext cx="128016" cy="128016"/>
          </a:xfrm>
          <a:prstGeom prst="ellipse">
            <a:avLst/>
          </a:prstGeom>
          <a:solidFill>
            <a:srgbClr val="F0B44D"/>
          </a:solidFill>
          <a:ln w="12700">
            <a:solidFill>
              <a:srgbClr val="F0B4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3721608"/>
            <a:ext cx="9784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Nullstellen, Scheitelpunkt und Anwendungen quadratischer Funktionen</a:t>
            </a:r>
            <a:endParaRPr lang="en-US" sz="14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ns0:sld xmlns:a="http://schemas.openxmlformats.org/drawingml/2006/main" xmlns:ns0="http://schemas.openxmlformats.org/presentationml/2006/main" xmlns:ns2="http://schemas.microsoft.com/office/mac/drawingml/2011/main">
  <ns0:cSld name="Slide 2"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Text 0"/>
          <ns0:cNvSpPr/>
          <ns0:nvPr/>
        </ns0:nvSpPr>
        <ns0:spPr>
          <a:xfrm>
            <a:off x="658368" y="658368"/>
            <a:ext cx="9784080" cy="475488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Leichter Einstieg</a:t>
            </a:r>
            <a:endParaRPr lang="en-US" sz="2600" dirty="0"/>
          </a:p>
        </ns0:txBody>
      </ns0:sp>
      <ns0:sp>
        <ns0:nvSpPr>
          <ns0:cNvPr id="3" name="Shape 1"/>
          <ns0:cNvSpPr/>
          <ns0:nvPr/>
        </ns0:nvSpPr>
        <ns0:spPr>
          <a:xfrm>
            <a:off x="10744200" y="694944"/>
            <a:ext cx="685800" cy="109728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ns0:spPr>
      </ns0:sp>
      <ns0:sp>
        <ns0:nvSpPr>
          <ns0:cNvPr id="4" name="Text 2"/>
          <ns0:cNvSpPr/>
          <ns0:nvPr/>
        </ns0:nvSpPr>
        <ns0:spPr>
          <a:xfrm>
            <a:off x="676656" y="1152144"/>
            <a:ext cx="7772400" cy="256032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9 · Funktionen</a:t>
            </a:r>
            <a:endParaRPr lang="en-US" sz="1150" dirty="0"/>
          </a:p>
        </ns0:txBody>
      </ns0:sp>
      <ns0:sp>
        <ns0:nvSpPr>
          <ns0:cNvPr id="5" name="Shape 3"/>
          <ns0:cNvSpPr/>
          <ns0:nvPr/>
        </ns0:nvSpPr>
        <ns0:spPr>
          <a:xfrm>
            <a:off x="731520" y="1600200"/>
            <a:ext cx="52578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FD6DD">
                <a:alpha val="13000"/>
              </a:srgbClr>
            </a:outerShdw>
          </a:effectLst>
        </ns0:spPr>
      </ns0:sp>
      <ns0:sp>
        <ns0:nvSpPr>
          <ns0:cNvPr id="6" name="Shape 4"/>
          <ns0:cNvSpPr/>
          <ns0:nvPr/>
        </ns0:nvSpPr>
        <ns0:spPr>
          <a:xfrm>
            <a:off x="896112" y="1764792"/>
            <a:ext cx="438912" cy="438912"/>
          </a:xfrm>
          <a:prstGeom prst="ellipse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ns0:spPr>
      </ns0:sp>
      <ns0:sp>
        <ns0:nvSpPr>
          <ns0:cNvPr id="7" name="Text 5"/>
          <ns0:cNvSpPr/>
          <ns0:nvPr/>
        </ns0:nvSpPr>
        <ns0:spPr>
          <a:xfrm>
            <a:off x="896112" y="1764792"/>
            <a:ext cx="438912" cy="438912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ns0:txBody>
      </ns0:sp>
      <ns0:sp>
        <ns0:nvSpPr>
          <ns0:cNvPr id="8" name="Text 6"/>
          <ns0:cNvSpPr/>
          <ns0:nvPr/>
        </ns0:nvSpPr>
        <ns0:spPr>
          <a:xfrm>
            <a:off x="1463040" y="1755648"/>
            <a:ext cx="4361688" cy="1344168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 lautet die Normalparabel?</a:t>
            </a:r>
            <a:endParaRPr lang="en-US" sz="1650" dirty="0"/>
          </a:p>
        </ns0:txBody>
      </ns0:sp>
      <ns0:sp>
        <ns0:nvSpPr>
          <ns0:cNvPr id="9" name="Shape 7"/>
          <ns0:cNvSpPr/>
          <ns0:nvPr/>
        </ns0:nvSpPr>
        <ns0:spPr>
          <a:xfrm>
            <a:off x="6199632" y="1600200"/>
            <a:ext cx="52578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FD6DD">
                <a:alpha val="13000"/>
              </a:srgbClr>
            </a:outerShdw>
          </a:effectLst>
        </ns0:spPr>
      </ns0:sp>
      <ns0:sp>
        <ns0:nvSpPr>
          <ns0:cNvPr id="10" name="Shape 8"/>
          <ns0:cNvSpPr/>
          <ns0:nvPr/>
        </ns0:nvSpPr>
        <ns0:spPr>
          <a:xfrm>
            <a:off x="6364224" y="1764792"/>
            <a:ext cx="438912" cy="438912"/>
          </a:xfrm>
          <a:prstGeom prst="ellipse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ns0:spPr>
      </ns0:sp>
      <ns0:sp>
        <ns0:nvSpPr>
          <ns0:cNvPr id="11" name="Text 9"/>
          <ns0:cNvSpPr/>
          <ns0:nvPr/>
        </ns0:nvSpPr>
        <ns0:spPr>
          <a:xfrm>
            <a:off x="6364224" y="1764792"/>
            <a:ext cx="438912" cy="438912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ns0:txBody>
      </ns0:sp>
      <ns0:sp>
        <ns0:nvSpPr>
          <ns0:cNvPr id="12" name="Text 10"/>
          <ns0:cNvSpPr/>
          <ns0:nvPr/>
        </ns0:nvSpPr>
        <ns0:spPr>
          <a:xfrm>
            <a:off x="6931152" y="1755648"/>
            <a:ext cx="4361688" cy="1344168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Welche Nullstellen hat f(x)=x²−9?</a:t>
            </a:r>
            <a:endParaRPr lang="en-US" sz="1650" dirty="0"/>
          </a:p>
        </ns0:txBody>
      </ns0:sp>
      <ns0:sp>
        <ns0:nvSpPr>
          <ns0:cNvPr id="13" name="Shape 11"/>
          <ns0:cNvSpPr/>
          <ns0:nvPr/>
        </ns0:nvSpPr>
        <ns0:spPr>
          <a:xfrm>
            <a:off x="731520" y="3456432"/>
            <a:ext cx="52578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FD6DD">
                <a:alpha val="13000"/>
              </a:srgbClr>
            </a:outerShdw>
          </a:effectLst>
        </ns0:spPr>
      </ns0:sp>
      <ns0:sp>
        <ns0:nvSpPr>
          <ns0:cNvPr id="14" name="Shape 12"/>
          <ns0:cNvSpPr/>
          <ns0:nvPr/>
        </ns0:nvSpPr>
        <ns0:spPr>
          <a:xfrm>
            <a:off x="896112" y="3621024"/>
            <a:ext cx="438912" cy="438912"/>
          </a:xfrm>
          <a:prstGeom prst="ellipse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ns0:spPr>
      </ns0:sp>
      <ns0:sp>
        <ns0:nvSpPr>
          <ns0:cNvPr id="15" name="Text 13"/>
          <ns0:cNvSpPr/>
          <ns0:nvPr/>
        </ns0:nvSpPr>
        <ns0:spPr>
          <a:xfrm>
            <a:off x="896112" y="3621024"/>
            <a:ext cx="438912" cy="438912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ns0:txBody>
      </ns0:sp>
      <ns0:sp>
        <ns0:nvSpPr>
          <ns0:cNvPr id="16" name="Text 14"/>
          <ns0:cNvSpPr/>
          <ns0:nvPr/>
        </ns0:nvSpPr>
        <ns0:spPr>
          <a:xfrm>
            <a:off x="1463040" y="3611880"/>
            <a:ext cx="4361688" cy="1344168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 lautet die Normalparabel?</a:t>
            </a:r>
            <a:endParaRPr lang="en-US" sz="1650" dirty="0"/>
          </a:p>
        </ns0:txBody>
      </ns0:sp>
      <ns0:sp>
        <ns0:nvSpPr>
          <ns0:cNvPr id="17" name="Shape 15"/>
          <ns0:cNvSpPr/>
          <ns0:nvPr/>
        </ns0:nvSpPr>
        <ns0:spPr>
          <a:xfrm>
            <a:off x="6199632" y="3456432"/>
            <a:ext cx="52578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FD6DD">
                <a:alpha val="13000"/>
              </a:srgbClr>
            </a:outerShdw>
          </a:effectLst>
        </ns0:spPr>
      </ns0:sp>
      <ns0:sp>
        <ns0:nvSpPr>
          <ns0:cNvPr id="18" name="Shape 16"/>
          <ns0:cNvSpPr/>
          <ns0:nvPr/>
        </ns0:nvSpPr>
        <ns0:spPr>
          <a:xfrm>
            <a:off x="6364224" y="3621024"/>
            <a:ext cx="438912" cy="438912"/>
          </a:xfrm>
          <a:prstGeom prst="ellipse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ns0:spPr>
      </ns0:sp>
      <ns0:sp>
        <ns0:nvSpPr>
          <ns0:cNvPr id="19" name="Text 17"/>
          <ns0:cNvSpPr/>
          <ns0:nvPr/>
        </ns0:nvSpPr>
        <ns0:spPr>
          <a:xfrm>
            <a:off x="6364224" y="3621024"/>
            <a:ext cx="438912" cy="438912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ns0:txBody>
      </ns0:sp>
      <ns0:sp>
        <ns0:nvSpPr>
          <ns0:cNvPr id="20" name="Text 18"/>
          <ns0:cNvSpPr/>
          <ns0:nvPr/>
        </ns0:nvSpPr>
        <ns0:spPr>
          <a:xfrm>
            <a:off x="6931152" y="3611880"/>
            <a:ext cx="4361688" cy="1344168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Welche Nullstellen hat f(x)=x²−9?</a:t>
            </a:r>
            <a:endParaRPr lang="en-US" sz="1650" dirty="0"/>
          </a:p>
        </ns0:txBody>
      </ns0:sp>
      <ns0:sp>
        <ns0:nvSpPr>
          <ns0:cNvPr id="21" name="Text 19"/>
          <ns0:cNvSpPr/>
          <ns0:nvPr/>
        </ns0:nvSpPr>
        <ns0:spPr>
          <a:xfrm>
            <a:off x="749808" y="5532120"/>
            <a:ext cx="4754880" cy="274320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150" dirty="0"/>
          </a:p>
        </ns0:txBody>
      </ns0:sp>
      <ns0:sp>
        <ns0:nvSpPr>
          <ns0:cNvPr id="25" name="Slide Number Placeholder 0"/>
          <ns0:cNvSpPr>
            <a:spLocks noGrp="1"/>
          </ns0:cNvSpPr>
          <ns0:nvPr>
            <ns0:ph type="sldNum" sz="quarter" idx="4294967295"/>
          </ns0:nvPr>
        </ns0:nvSpPr>
        <ns0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ns2:wrappingTextBoxFlag val="0"/>
            </a:ext>
          </a:extLst>
        </ns0:spPr>
        <ns0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ns0:txBody>
      </ns0:sp>
    </ns0:spTree>
  </ns0:cSld>
  <ns0:clrMapOvr>
    <a:masterClrMapping/>
  </ns0:clrMapOvr>
</ns0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Begriffe &amp; Grundideen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9 · erkläre ohne lange Rechnung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69951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00200"/>
            <a:ext cx="73152" cy="1234440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6675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A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Begriff 1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2084832"/>
            <a:ext cx="6675120" cy="6309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bewirkt f(x)=(x−2)²+3?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2999232"/>
            <a:ext cx="69951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2999232"/>
            <a:ext cx="73152" cy="1234440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136392"/>
            <a:ext cx="6675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A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Begriff 2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914400" y="3483864"/>
            <a:ext cx="6675120" cy="6309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Welche Information liefert der Scheitelpunkt in einem Sachmodell?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731520" y="4398264"/>
            <a:ext cx="69951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4398264"/>
            <a:ext cx="73152" cy="1234440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4535424"/>
            <a:ext cx="6675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A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Begriff 3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914400" y="4882896"/>
            <a:ext cx="6675120" cy="6309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bewirkt f(x)=(x−2)²+3?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8001000" y="1600200"/>
            <a:ext cx="3429000" cy="2971800"/>
          </a:xfrm>
          <a:prstGeom prst="roundRect">
            <a:avLst>
              <a:gd name="adj" fmla="val 2769"/>
            </a:avLst>
          </a:prstGeom>
          <a:solidFill>
            <a:srgbClr val="EAF5F5"/>
          </a:solidFill>
          <a:ln w="15240">
            <a:solidFill>
              <a:srgbClr val="2A7F8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75320" y="1847088"/>
            <a:ext cx="265176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A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Kernideen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75320" y="2267712"/>
            <a:ext cx="2743200" cy="1965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Scheitelpunktform: f(x)=a(x−d)²+e.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Nullstellen: f(x)=0; Scheitel: Extrempunkt der Parabel.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138160" y="4983480"/>
            <a:ext cx="3291840" cy="749808"/>
          </a:xfrm>
          <a:prstGeom prst="roundRect">
            <a:avLst>
              <a:gd name="adj" fmla="val 9756"/>
            </a:avLst>
          </a:prstGeom>
          <a:solidFill>
            <a:srgbClr val="EAF5F5"/>
          </a:solidFill>
          <a:ln w="13970">
            <a:solidFill>
              <a:srgbClr val="2A7F8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21040" y="5120640"/>
            <a:ext cx="6858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A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MERKE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321040" y="5330952"/>
            <a:ext cx="28803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F29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Scheitelpunktform: f(x)=a(x−d)²+e.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Rechnen – sicher starten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9 · Basisaufgaben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3429000" cy="43434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00200"/>
            <a:ext cx="73152" cy="4343400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31089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A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2084832"/>
            <a:ext cx="3108960" cy="3739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Bestimme den Scheitel von f(x)=2(x+1)²−4.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4389120" y="1600200"/>
            <a:ext cx="3429000" cy="43434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89120" y="1600200"/>
            <a:ext cx="73152" cy="4343400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1737360"/>
            <a:ext cx="31089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A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572000" y="2084832"/>
            <a:ext cx="3108960" cy="3739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 Ball: h(t)=−5t²+20t+1. Wann ist die maximale Höhe?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8046720" y="1600200"/>
            <a:ext cx="3429000" cy="43434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046720" y="1600200"/>
            <a:ext cx="73152" cy="4343400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0" y="1737360"/>
            <a:ext cx="31089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A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229600" y="2084832"/>
            <a:ext cx="3108960" cy="3739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Bestimme den Scheitel von f(x)=2(x+1)²−4.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749808" y="6062472"/>
            <a:ext cx="585216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Arbeite sauber: Ansatz → Rechnung → Ergebnis/Deutung.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Darstellungen lesen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9 · Bild, Graph oder Modell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649224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4305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35458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16611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7764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8917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0070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1223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233934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307848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381762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455676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" y="529590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325880" y="5440680"/>
            <a:ext cx="5394960" cy="0"/>
          </a:xfrm>
          <a:prstGeom prst="line">
            <a:avLst/>
          </a:prstGeom>
          <a:noFill/>
          <a:ln w="16510">
            <a:solidFill>
              <a:srgbClr val="1F2933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1325880" y="5440680"/>
            <a:ext cx="0" cy="-3337560"/>
          </a:xfrm>
          <a:prstGeom prst="line">
            <a:avLst/>
          </a:prstGeom>
          <a:noFill/>
          <a:ln w="16510">
            <a:solidFill>
              <a:srgbClr val="1F2933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1325880" y="1201681"/>
            <a:ext cx="67437" cy="13929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393317" y="1340976"/>
            <a:ext cx="67437" cy="136277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60754" y="1477253"/>
            <a:ext cx="67437" cy="133260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528191" y="1610513"/>
            <a:ext cx="67437" cy="130243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595628" y="1740756"/>
            <a:ext cx="67437" cy="127226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63065" y="1867982"/>
            <a:ext cx="67437" cy="124209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730502" y="1992191"/>
            <a:ext cx="67437" cy="121191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797939" y="2113382"/>
            <a:ext cx="67437" cy="118174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865376" y="2231556"/>
            <a:ext cx="67437" cy="115157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932813" y="2346713"/>
            <a:ext cx="67437" cy="112140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000250" y="2458853"/>
            <a:ext cx="67437" cy="109123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067687" y="2567976"/>
            <a:ext cx="67437" cy="10610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135124" y="2674081"/>
            <a:ext cx="67437" cy="103088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202561" y="2777169"/>
            <a:ext cx="67437" cy="100071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269998" y="2877240"/>
            <a:ext cx="67437" cy="97054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337435" y="2974294"/>
            <a:ext cx="67437" cy="94036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404872" y="3068330"/>
            <a:ext cx="67437" cy="91019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472309" y="3159350"/>
            <a:ext cx="67437" cy="88002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539746" y="3247352"/>
            <a:ext cx="67437" cy="8498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607183" y="3332337"/>
            <a:ext cx="67437" cy="81968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674620" y="3414304"/>
            <a:ext cx="67437" cy="78950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742057" y="3493255"/>
            <a:ext cx="67437" cy="75933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809494" y="3569188"/>
            <a:ext cx="67437" cy="72916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876931" y="3642104"/>
            <a:ext cx="67437" cy="69899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944368" y="3712003"/>
            <a:ext cx="67437" cy="66882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011805" y="3778884"/>
            <a:ext cx="67437" cy="63864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079242" y="3842749"/>
            <a:ext cx="67437" cy="60847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146679" y="3903596"/>
            <a:ext cx="67437" cy="57830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214116" y="3961426"/>
            <a:ext cx="67437" cy="54813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281553" y="4016238"/>
            <a:ext cx="67437" cy="51796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348990" y="4068034"/>
            <a:ext cx="67437" cy="48778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416427" y="4116812"/>
            <a:ext cx="67437" cy="45761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483864" y="4162573"/>
            <a:ext cx="67437" cy="42744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551301" y="4205317"/>
            <a:ext cx="67437" cy="39727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618738" y="4245044"/>
            <a:ext cx="67437" cy="36709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686175" y="4281753"/>
            <a:ext cx="67437" cy="33692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3753612" y="4315445"/>
            <a:ext cx="67437" cy="3067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3821049" y="4346120"/>
            <a:ext cx="67437" cy="27658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888486" y="4373778"/>
            <a:ext cx="67437" cy="24641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955923" y="4398419"/>
            <a:ext cx="67437" cy="21623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023360" y="4420042"/>
            <a:ext cx="67437" cy="18606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090797" y="4438648"/>
            <a:ext cx="67437" cy="15589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158234" y="4454237"/>
            <a:ext cx="67437" cy="12572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225671" y="4466809"/>
            <a:ext cx="67437" cy="955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293108" y="4476364"/>
            <a:ext cx="67437" cy="6537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360545" y="4482901"/>
            <a:ext cx="67437" cy="3520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4427982" y="4486421"/>
            <a:ext cx="67437" cy="503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4495419" y="4486924"/>
            <a:ext cx="67437" cy="-2514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4562856" y="4484409"/>
            <a:ext cx="67437" cy="-5532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630293" y="4478878"/>
            <a:ext cx="67437" cy="-8549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4697730" y="4470329"/>
            <a:ext cx="67437" cy="-11566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4765167" y="4458763"/>
            <a:ext cx="67437" cy="-14583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4832604" y="4444180"/>
            <a:ext cx="67437" cy="-17600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4900041" y="4426580"/>
            <a:ext cx="67437" cy="-20618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4967478" y="4405962"/>
            <a:ext cx="67437" cy="-2363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5034915" y="4382327"/>
            <a:ext cx="67437" cy="-26652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5102352" y="4355675"/>
            <a:ext cx="67437" cy="-29669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5169789" y="4326006"/>
            <a:ext cx="67437" cy="-32686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5237226" y="4293319"/>
            <a:ext cx="67437" cy="-35704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5304663" y="4257616"/>
            <a:ext cx="67437" cy="-38721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5372100" y="4218895"/>
            <a:ext cx="67437" cy="-41738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5439537" y="4177157"/>
            <a:ext cx="67437" cy="-4475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5506974" y="4132401"/>
            <a:ext cx="67437" cy="-47773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5574411" y="4084629"/>
            <a:ext cx="67437" cy="-50790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5641848" y="4033839"/>
            <a:ext cx="67437" cy="-53807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5709285" y="3980032"/>
            <a:ext cx="67437" cy="-56824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5776722" y="3923208"/>
            <a:ext cx="67437" cy="-59841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5844159" y="3863366"/>
            <a:ext cx="67437" cy="-62859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5911596" y="3800508"/>
            <a:ext cx="67437" cy="-65876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5979033" y="3734632"/>
            <a:ext cx="67437" cy="-68893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6046470" y="3665739"/>
            <a:ext cx="67437" cy="-71910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6113907" y="3593829"/>
            <a:ext cx="67437" cy="-74927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6181344" y="3518901"/>
            <a:ext cx="67437" cy="-7794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6248781" y="3440956"/>
            <a:ext cx="67437" cy="-80962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6316218" y="3359994"/>
            <a:ext cx="67437" cy="-83979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6383655" y="3276015"/>
            <a:ext cx="67437" cy="-86996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6451092" y="3189019"/>
            <a:ext cx="67437" cy="-90014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6518529" y="3099005"/>
            <a:ext cx="67437" cy="-93031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6585966" y="3005975"/>
            <a:ext cx="67437" cy="-96048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6653403" y="2909927"/>
            <a:ext cx="67437" cy="-9906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1024128" y="1828800"/>
            <a:ext cx="25603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A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Parabel</a:t>
            </a:r>
            <a:endParaRPr lang="en-US" sz="1050" dirty="0"/>
          </a:p>
        </p:txBody>
      </p:sp>
      <p:sp>
        <p:nvSpPr>
          <p:cNvPr id="101" name="Shape 99"/>
          <p:cNvSpPr/>
          <p:nvPr/>
        </p:nvSpPr>
        <p:spPr>
          <a:xfrm>
            <a:off x="7498080" y="1600200"/>
            <a:ext cx="3931920" cy="1965960"/>
          </a:xfrm>
          <a:prstGeom prst="roundRect">
            <a:avLst>
              <a:gd name="adj" fmla="val 4186"/>
            </a:avLst>
          </a:prstGeom>
          <a:solidFill>
            <a:srgbClr val="EAF5F5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02" name="Shape 100"/>
          <p:cNvSpPr/>
          <p:nvPr/>
        </p:nvSpPr>
        <p:spPr>
          <a:xfrm>
            <a:off x="7498080" y="1600200"/>
            <a:ext cx="73152" cy="1965960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7680960" y="1737360"/>
            <a:ext cx="36118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A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Beobachten</a:t>
            </a:r>
            <a:endParaRPr lang="en-US" sz="1150" dirty="0"/>
          </a:p>
        </p:txBody>
      </p:sp>
      <p:sp>
        <p:nvSpPr>
          <p:cNvPr id="104" name="Text 102"/>
          <p:cNvSpPr/>
          <p:nvPr/>
        </p:nvSpPr>
        <p:spPr>
          <a:xfrm>
            <a:off x="7680960" y="2084832"/>
            <a:ext cx="3611880" cy="1362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Welche Information liefert der Scheitelpunkt in einem Sachmodell?</a:t>
            </a:r>
            <a:endParaRPr lang="en-US" sz="1650" dirty="0"/>
          </a:p>
        </p:txBody>
      </p:sp>
      <p:sp>
        <p:nvSpPr>
          <p:cNvPr id="105" name="Shape 103"/>
          <p:cNvSpPr/>
          <p:nvPr/>
        </p:nvSpPr>
        <p:spPr>
          <a:xfrm>
            <a:off x="7498080" y="3794760"/>
            <a:ext cx="393192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06" name="Shape 104"/>
          <p:cNvSpPr/>
          <p:nvPr/>
        </p:nvSpPr>
        <p:spPr>
          <a:xfrm>
            <a:off x="7498080" y="3794760"/>
            <a:ext cx="73152" cy="1965960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7680960" y="3931920"/>
            <a:ext cx="36118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A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Nutzen</a:t>
            </a:r>
            <a:endParaRPr lang="en-US" sz="1150" dirty="0"/>
          </a:p>
        </p:txBody>
      </p:sp>
      <p:sp>
        <p:nvSpPr>
          <p:cNvPr id="108" name="Text 106"/>
          <p:cNvSpPr/>
          <p:nvPr/>
        </p:nvSpPr>
        <p:spPr>
          <a:xfrm>
            <a:off x="7680960" y="4279392"/>
            <a:ext cx="3611880" cy="1362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 Ball: h(t)=−5t²+20t+1. Wann ist die maximale Höhe?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Anwenden im Kontext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9 · etwas mehr Denken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5257800" cy="4434840"/>
          </a:xfrm>
          <a:prstGeom prst="roundRect">
            <a:avLst>
              <a:gd name="adj" fmla="val 1856"/>
            </a:avLst>
          </a:prstGeom>
          <a:solidFill>
            <a:srgbClr val="EAF5F5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00200"/>
            <a:ext cx="73152" cy="4434840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49377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A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Kontext 1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2084832"/>
            <a:ext cx="4937760" cy="3831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Bestimme den Scheitel von f(x)=2(x+1)²−4.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6199632" y="1600200"/>
            <a:ext cx="5257800" cy="4434840"/>
          </a:xfrm>
          <a:prstGeom prst="roundRect">
            <a:avLst>
              <a:gd name="adj" fmla="val 1856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199632" y="1600200"/>
            <a:ext cx="73152" cy="4434840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82512" y="1737360"/>
            <a:ext cx="49377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A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Kontext 2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382512" y="2084832"/>
            <a:ext cx="4937760" cy="3831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 Ball: h(t)=−5t²+20t+1. Wann ist die maximale Höhe?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749808" y="6053328"/>
            <a:ext cx="7498080" cy="246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30" i="1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Tipp: Welche Größe ist gesucht? Welche Darstellung oder Formel hilft?</a:t>
            </a:r>
            <a:endParaRPr lang="en-US" sz="11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Denkfragen &amp; Fehler finden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9 · Konzepte wirklich verstanden?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525780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00200"/>
            <a:ext cx="73152" cy="1874520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49377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A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Denkfrage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2084832"/>
            <a:ext cx="4937760" cy="1271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 verändert a in a(x−d)²+e den Graphen?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6199632" y="1600200"/>
            <a:ext cx="525780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199632" y="1600200"/>
            <a:ext cx="73152" cy="1874520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82512" y="1737360"/>
            <a:ext cx="49377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A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382512" y="2084832"/>
            <a:ext cx="4937760" cy="1271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Warum ist nicht jede algebraische Nullstelle im Kontext sinnvoll?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731520" y="3794760"/>
            <a:ext cx="10725912" cy="1828800"/>
          </a:xfrm>
          <a:prstGeom prst="roundRect">
            <a:avLst>
              <a:gd name="adj" fmla="val 4500"/>
            </a:avLst>
          </a:prstGeom>
          <a:solidFill>
            <a:srgbClr val="F9ECEC"/>
          </a:solidFill>
          <a:ln w="15240">
            <a:solidFill>
              <a:srgbClr val="C75A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9264" y="4041648"/>
            <a:ext cx="18288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7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FEHLER DES TAGES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9264" y="4416552"/>
            <a:ext cx="9966960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„Ein steigender Graph hat immer positive Funktionswerte.“ – Korrigiere.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69264" y="5230368"/>
            <a:ext cx="47548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C7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Korrigiere die Aussage und begründe.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234440"/>
            <a:ext cx="685800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Kannst du das noch?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13232" y="1737360"/>
            <a:ext cx="73152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C9DA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9 · Funktionen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2331720"/>
            <a:ext cx="5230368" cy="841248"/>
          </a:xfrm>
          <a:prstGeom prst="roundRect">
            <a:avLst>
              <a:gd name="adj" fmla="val 7609"/>
            </a:avLst>
          </a:prstGeom>
          <a:solidFill>
            <a:srgbClr val="20445F"/>
          </a:solidFill>
          <a:ln w="12700">
            <a:solidFill>
              <a:srgbClr val="4A6C8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2478024"/>
            <a:ext cx="34747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B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353312" y="2450592"/>
            <a:ext cx="4425696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 lautet die Normalparabel?</a:t>
            </a:r>
            <a:endParaRPr lang="en-US" sz="1430" dirty="0"/>
          </a:p>
        </p:txBody>
      </p:sp>
      <p:sp>
        <p:nvSpPr>
          <p:cNvPr id="7" name="Shape 5"/>
          <p:cNvSpPr/>
          <p:nvPr/>
        </p:nvSpPr>
        <p:spPr>
          <a:xfrm>
            <a:off x="6236208" y="2331720"/>
            <a:ext cx="5230368" cy="841248"/>
          </a:xfrm>
          <a:prstGeom prst="roundRect">
            <a:avLst>
              <a:gd name="adj" fmla="val 7609"/>
            </a:avLst>
          </a:prstGeom>
          <a:solidFill>
            <a:srgbClr val="20445F"/>
          </a:solidFill>
          <a:ln w="12700">
            <a:solidFill>
              <a:srgbClr val="4A6C8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2478024"/>
            <a:ext cx="34747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B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0" y="2450592"/>
            <a:ext cx="4425696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Welche Nullstellen hat f(x)=x²−9?</a:t>
            </a:r>
            <a:endParaRPr lang="en-US" sz="1430" dirty="0"/>
          </a:p>
        </p:txBody>
      </p:sp>
      <p:sp>
        <p:nvSpPr>
          <p:cNvPr id="10" name="Shape 8"/>
          <p:cNvSpPr/>
          <p:nvPr/>
        </p:nvSpPr>
        <p:spPr>
          <a:xfrm>
            <a:off x="731520" y="3429000"/>
            <a:ext cx="5230368" cy="841248"/>
          </a:xfrm>
          <a:prstGeom prst="roundRect">
            <a:avLst>
              <a:gd name="adj" fmla="val 7609"/>
            </a:avLst>
          </a:prstGeom>
          <a:solidFill>
            <a:srgbClr val="20445F"/>
          </a:solidFill>
          <a:ln w="12700">
            <a:solidFill>
              <a:srgbClr val="4A6C8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3575304"/>
            <a:ext cx="34747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B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353312" y="3547872"/>
            <a:ext cx="4425696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bewirkt f(x)=(x−2)²+3?</a:t>
            </a:r>
            <a:endParaRPr lang="en-US" sz="1430" dirty="0"/>
          </a:p>
        </p:txBody>
      </p:sp>
      <p:sp>
        <p:nvSpPr>
          <p:cNvPr id="13" name="Shape 11"/>
          <p:cNvSpPr/>
          <p:nvPr/>
        </p:nvSpPr>
        <p:spPr>
          <a:xfrm>
            <a:off x="6236208" y="3429000"/>
            <a:ext cx="5230368" cy="841248"/>
          </a:xfrm>
          <a:prstGeom prst="roundRect">
            <a:avLst>
              <a:gd name="adj" fmla="val 7609"/>
            </a:avLst>
          </a:prstGeom>
          <a:solidFill>
            <a:srgbClr val="20445F"/>
          </a:solidFill>
          <a:ln w="12700">
            <a:solidFill>
              <a:srgbClr val="4A6C8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3575304"/>
            <a:ext cx="34747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B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858000" y="3547872"/>
            <a:ext cx="4425696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Welche Information liefert der Scheitelpunkt in einem Sachmodell?</a:t>
            </a:r>
            <a:endParaRPr lang="en-US" sz="1430" dirty="0"/>
          </a:p>
        </p:txBody>
      </p:sp>
      <p:sp>
        <p:nvSpPr>
          <p:cNvPr id="16" name="Shape 14"/>
          <p:cNvSpPr/>
          <p:nvPr/>
        </p:nvSpPr>
        <p:spPr>
          <a:xfrm>
            <a:off x="731520" y="4526280"/>
            <a:ext cx="10762488" cy="841248"/>
          </a:xfrm>
          <a:prstGeom prst="roundRect">
            <a:avLst>
              <a:gd name="adj" fmla="val 7609"/>
            </a:avLst>
          </a:prstGeom>
          <a:solidFill>
            <a:srgbClr val="234A69"/>
          </a:solidFill>
          <a:ln w="12700">
            <a:solidFill>
              <a:srgbClr val="4A6C8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6112" y="4672584"/>
            <a:ext cx="34747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B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353312" y="4645152"/>
            <a:ext cx="9957816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bewirkt f(x)=(x−2)²+3?</a:t>
            </a:r>
            <a:endParaRPr lang="en-US" sz="1430" dirty="0"/>
          </a:p>
        </p:txBody>
      </p:sp>
      <p:sp>
        <p:nvSpPr>
          <p:cNvPr id="19" name="Text 17"/>
          <p:cNvSpPr/>
          <p:nvPr/>
        </p:nvSpPr>
        <p:spPr>
          <a:xfrm>
            <a:off x="6263640" y="4645152"/>
            <a:ext cx="10515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9DA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Selbstcheck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315200" y="4572000"/>
            <a:ext cx="1051560" cy="384048"/>
          </a:xfrm>
          <a:prstGeom prst="roundRect">
            <a:avLst>
              <a:gd name="adj" fmla="val 16667"/>
            </a:avLst>
          </a:prstGeom>
          <a:solidFill>
            <a:srgbClr val="4F8B6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60920" y="4636008"/>
            <a:ext cx="9601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sicher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8522208" y="4572000"/>
            <a:ext cx="1051560" cy="384048"/>
          </a:xfrm>
          <a:prstGeom prst="roundRect">
            <a:avLst>
              <a:gd name="adj" fmla="val 16667"/>
            </a:avLst>
          </a:prstGeom>
          <a:solidFill>
            <a:srgbClr val="F0B44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67928" y="4636008"/>
            <a:ext cx="9601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729216" y="4572000"/>
            <a:ext cx="1051560" cy="384048"/>
          </a:xfrm>
          <a:prstGeom prst="roundRect">
            <a:avLst>
              <a:gd name="adj" fmla="val 16667"/>
            </a:avLst>
          </a:prstGeom>
          <a:solidFill>
            <a:srgbClr val="C75A5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774936" y="4636008"/>
            <a:ext cx="9601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noch üben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Rivius Gymnasium Attendorn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Klasse 9 – Funktionen – Wiederholung</dc:title>
  <dc:subject>Mathematik Wiederholung</dc:subject>
  <dc:creator>Jonathan Hardenacke / OpenAI</dc:creator>
  <cp:lastModifiedBy>Jonathan Hardenacke / OpenAI</cp:lastModifiedBy>
  <cp:revision>1</cp:revision>
  <dcterms:created xsi:type="dcterms:W3CDTF">2026-09-12T12:19:26Z</dcterms:created>
  <dcterms:modified xsi:type="dcterms:W3CDTF">2026-09-12T12:19:26Z</dcterms:modified>
</cp:coreProperties>
</file>