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2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3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4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5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6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7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notesSlides/notesSlide8.xml><?xml version="1.0" encoding="utf-8"?>
<ns0:notes xmlns:a="http://schemas.openxmlformats.org/drawingml/2006/main" xmlns:ns0="http://schemas.openxmlformats.org/presentationml/2006/main" xmlns:ns2="http://schemas.microsoft.com/office/powerpoint/2010/main">
  <ns0:cSld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Slide Image Placeholder 1"/>
          <ns0:cNvSpPr>
            <a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Notes Placeholder 2"/>
          <ns0:cNvSpPr>
            <a:spLocks noGrp="1"/>
          </ns0:cNvSpPr>
          <ns0:nvPr>
            <ns0:ph type="body" idx="1"/>
          </ns0:nvPr>
        </ns0:nvSpPr>
        <ns0:spPr/>
        <ns0:txBody>
          <a:bodyPr/>
          <a:lstStyle/>
          <a:p>
            <a:r>
              <a:rPr lang="en-US" dirty="0"/>
              <a:t/>
            </a:r>
            <a:endParaRPr lang="en-US" dirty="0"/>
          </a:p>
        </ns0:txBody>
      </ns0:sp>
      <ns0:sp>
        <ns0:nvSpPr>
          <ns0:cNvPr id="4" name="Slide Number Placeholder 3"/>
          <ns0:cNvSpPr>
            <a:spLocks noGrp="1"/>
          </ns0:cNvSpPr>
          <ns0:nvPr>
            <ns0:ph type="sldNum" sz="quarter" idx="10"/>
          </ns0:nvPr>
        </ns0:nvSpPr>
        <ns0:spPr/>
        <ns0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ns0:txBody>
      </ns0:sp>
    </ns0:spTree>
    <ns0:extLst>
      <ns0:ext uri="{BB962C8B-B14F-4D97-AF65-F5344CB8AC3E}">
        <ns2:creationId val="1024086991"/>
      </ns0:ext>
    </ns0:extLst>
  </ns0:cSld>
  <ns0:clrMapOvr>
    <a:masterClrMapping/>
  </ns0:clrMapOvr>
</ns0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TITLE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382512"/>
            <a:ext cx="12191695" cy="475488"/>
          </a:xfrm>
          <a:prstGeom prst="rect">
            <a:avLst/>
          </a:prstGeom>
          <a:solidFill>
            <a:srgbClr val="234A69"/>
          </a:solidFill>
          <a:ln w="12700">
            <a:solidFill>
              <a:srgbClr val="234A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1148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8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969264"/>
            <a:ext cx="192024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235440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NRW · Gymnasium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CONTEN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MATHEMATIK  •  WIEDERHOLUNG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40080" y="6455664"/>
            <a:ext cx="10881360" cy="0"/>
          </a:xfrm>
          <a:prstGeom prst="line">
            <a:avLst/>
          </a:prstGeom>
          <a:noFill/>
          <a:ln w="12700">
            <a:solidFill>
              <a:srgbClr val="D9E0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65105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leichten Einstieg zum Transfer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_EXIT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4389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F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5-MINUTEN-CHECK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58368" y="914400"/>
            <a:ext cx="2194560" cy="0"/>
          </a:xfrm>
          <a:prstGeom prst="line">
            <a:avLst/>
          </a:prstGeom>
          <a:noFill/>
          <a:ln w="50800">
            <a:solidFill>
              <a:srgbClr val="F0B4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0" y="6473952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8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 · Selbstcheck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261872"/>
            <a:ext cx="1691640" cy="329184"/>
          </a:xfrm>
          <a:prstGeom prst="roundRect">
            <a:avLst>
              <a:gd name="adj" fmla="val 22222"/>
            </a:avLst>
          </a:prstGeom>
          <a:solidFill>
            <a:srgbClr val="2A7F8E"/>
          </a:solidFill>
          <a:ln w="12700">
            <a:solidFill>
              <a:srgbClr val="2A7F8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52" y="1289304"/>
            <a:ext cx="15453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828800"/>
            <a:ext cx="1033272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Wiederholung: Funktionen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713232" y="2633472"/>
            <a:ext cx="95097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8E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 Fragen · sichere Grundlagen · Anwendungen · Transfer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9808" y="3364992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329184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Proportionale und antiproportionale Zuordnungen; Darstellungen und Dreisatz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28016" cy="128016"/>
          </a:xfrm>
          <a:prstGeom prst="ellipse">
            <a:avLst/>
          </a:prstGeom>
          <a:solidFill>
            <a:srgbClr val="F0B44D"/>
          </a:solidFill>
          <a:ln w="12700">
            <a:solidFill>
              <a:srgbClr val="F0B4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721608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Prozentrechnung, prozentuale Veränderung und Zinsrechnung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ns0:sld xmlns:a="http://schemas.openxmlformats.org/drawingml/2006/main" xmlns:ns0="http://schemas.openxmlformats.org/presentationml/2006/main" xmlns:ns2="http://schemas.microsoft.com/office/mac/drawingml/2011/main">
  <ns0:cSld name="Slide 2"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 0"/>
          <ns0:cNvSpPr/>
          <ns0:nvPr/>
        </ns0:nvSpPr>
        <ns0:spPr>
          <a:xfrm>
            <a:off x="658368" y="658368"/>
            <a:ext cx="9784080" cy="47548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Einstieg</a:t>
            </a:r>
            <a:endParaRPr lang="en-US" sz="2600" dirty="0"/>
          </a:p>
        </ns0:txBody>
      </ns0:sp>
      <ns0:sp>
        <ns0:nvSpPr>
          <ns0:cNvPr id="3" name="Shape 1"/>
          <ns0:cNvSpPr/>
          <ns0:nvPr/>
        </ns0:nvSpPr>
        <ns0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4" name="Text 2"/>
          <ns0:cNvSpPr/>
          <ns0:nvPr/>
        </ns0:nvSpPr>
        <ns0:spPr>
          <a:xfrm>
            <a:off x="676656" y="1152144"/>
            <a:ext cx="7772400" cy="25603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Funktionen</a:t>
            </a:r>
            <a:endParaRPr lang="en-US" sz="1150" dirty="0"/>
          </a:p>
        </ns0:txBody>
      </ns0:sp>
      <ns0:sp>
        <ns0:nvSpPr>
          <ns0:cNvPr id="5" name="Shape 3"/>
          <ns0:cNvSpPr/>
          <ns0:nvPr/>
        </ns0:nvSpPr>
        <ns0:spPr>
          <a:xfrm>
            <a:off x="731520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6" name="Shape 4"/>
          <ns0:cNvSpPr/>
          <ns0:nvPr/>
        </ns0:nvSpPr>
        <ns0:spPr>
          <a:xfrm>
            <a:off x="896112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7" name="Text 5"/>
          <ns0:cNvSpPr/>
          <ns0:nvPr/>
        </ns0:nvSpPr>
        <ns0:spPr>
          <a:xfrm>
            <a:off x="896112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ns0:txBody>
      </ns0:sp>
      <ns0:sp>
        <ns0:nvSpPr>
          <ns0:cNvPr id="8" name="Text 6"/>
          <ns0:cNvSpPr/>
          <ns0:nvPr/>
        </ns0:nvSpPr>
        <ns0:spPr>
          <a:xfrm>
            <a:off x="1463040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Proportional: 4 Stück kosten 10 €. Was kosten 8 Stück?</a:t>
            </a:r>
            <a:endParaRPr lang="en-US" sz="1650" dirty="0"/>
          </a:p>
        </ns0:txBody>
      </ns0:sp>
      <ns0:sp>
        <ns0:nvSpPr>
          <ns0:cNvPr id="9" name="Shape 7"/>
          <ns0:cNvSpPr/>
          <ns0:nvPr/>
        </ns0:nvSpPr>
        <ns0:spPr>
          <a:xfrm>
            <a:off x="6199632" y="1600200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0" name="Shape 8"/>
          <ns0:cNvSpPr/>
          <ns0:nvPr/>
        </ns0:nvSpPr>
        <ns0:spPr>
          <a:xfrm>
            <a:off x="6364224" y="1764792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1" name="Text 9"/>
          <ns0:cNvSpPr/>
          <ns0:nvPr/>
        </ns0:nvSpPr>
        <ns0:spPr>
          <a:xfrm>
            <a:off x="6364224" y="1764792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ns0:txBody>
      </ns0:sp>
      <ns0:sp>
        <ns0:nvSpPr>
          <ns0:cNvPr id="12" name="Text 10"/>
          <ns0:cNvSpPr/>
          <ns0:nvPr/>
        </ns0:nvSpPr>
        <ns0:spPr>
          <a:xfrm>
            <a:off x="6931152" y="1755648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sind 20 % von 80 €?</a:t>
            </a:r>
            <a:endParaRPr lang="en-US" sz="1650" dirty="0"/>
          </a:p>
        </ns0:txBody>
      </ns0:sp>
      <ns0:sp>
        <ns0:nvSpPr>
          <ns0:cNvPr id="13" name="Shape 11"/>
          <ns0:cNvSpPr/>
          <ns0:nvPr/>
        </ns0:nvSpPr>
        <ns0:spPr>
          <a:xfrm>
            <a:off x="731520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4" name="Shape 12"/>
          <ns0:cNvSpPr/>
          <ns0:nvPr/>
        </ns0:nvSpPr>
        <ns0:spPr>
          <a:xfrm>
            <a:off x="896112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5" name="Text 13"/>
          <ns0:cNvSpPr/>
          <ns0:nvPr/>
        </ns0:nvSpPr>
        <ns0:spPr>
          <a:xfrm>
            <a:off x="896112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ns0:txBody>
      </ns0:sp>
      <ns0:sp>
        <ns0:nvSpPr>
          <ns0:cNvPr id="16" name="Text 14"/>
          <ns0:cNvSpPr/>
          <ns0:nvPr/>
        </ns0:nvSpPr>
        <ns0:spPr>
          <a:xfrm>
            <a:off x="1463040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Proportional: 4 Stück kosten 10 €. Was kosten 8 Stück?</a:t>
            </a:r>
            <a:endParaRPr lang="en-US" sz="1650" dirty="0"/>
          </a:p>
        </ns0:txBody>
      </ns0:sp>
      <ns0:sp>
        <ns0:nvSpPr>
          <ns0:cNvPr id="17" name="Shape 15"/>
          <ns0:cNvSpPr/>
          <ns0:nvPr/>
        </ns0:nvSpPr>
        <ns0:spPr>
          <a:xfrm>
            <a:off x="6199632" y="3456432"/>
            <a:ext cx="52578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FD6DD">
                <a:alpha val="13000"/>
              </a:srgbClr>
            </a:outerShdw>
          </a:effectLst>
        </ns0:spPr>
      </ns0:sp>
      <ns0:sp>
        <ns0:nvSpPr>
          <ns0:cNvPr id="18" name="Shape 16"/>
          <ns0:cNvSpPr/>
          <ns0:nvPr/>
        </ns0:nvSpPr>
        <ns0:spPr>
          <a:xfrm>
            <a:off x="6364224" y="3621024"/>
            <a:ext cx="438912" cy="438912"/>
          </a:xfrm>
          <a:prstGeom prst="ellipse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ns0:spPr>
      </ns0:sp>
      <ns0:sp>
        <ns0:nvSpPr>
          <ns0:cNvPr id="19" name="Text 17"/>
          <ns0:cNvSpPr/>
          <ns0:nvPr/>
        </ns0:nvSpPr>
        <ns0:spPr>
          <a:xfrm>
            <a:off x="6364224" y="3621024"/>
            <a:ext cx="438912" cy="438912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ns0:txBody>
      </ns0:sp>
      <ns0:sp>
        <ns0:nvSpPr>
          <ns0:cNvPr id="20" name="Text 18"/>
          <ns0:cNvSpPr/>
          <ns0:nvPr/>
        </ns0:nvSpPr>
        <ns0:spPr>
          <a:xfrm>
            <a:off x="6931152" y="3611880"/>
            <a:ext cx="4361688" cy="1344168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sind 20 % von 80 €?</a:t>
            </a:r>
            <a:endParaRPr lang="en-US" sz="1650" dirty="0"/>
          </a:p>
        </ns0:txBody>
      </ns0:sp>
      <ns0:sp>
        <ns0:nvSpPr>
          <ns0:cNvPr id="21" name="Text 19"/>
          <ns0:cNvSpPr/>
          <ns0:nvPr/>
        </ns0:nvSpPr>
        <ns0:spPr>
          <a:xfrm>
            <a:off x="749808" y="5532120"/>
            <a:ext cx="4754880" cy="274320"/>
          </a:xfrm>
          <a:prstGeom prst="rect">
            <a:avLst/>
          </a:prstGeom>
          <a:noFill/>
          <a:ln/>
        </ns0:spPr>
        <ns0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150" dirty="0"/>
          </a:p>
        </ns0:txBody>
      </ns0:sp>
      <ns0:sp>
        <ns0:nvSpPr>
          <ns0:cNvPr id="25" name="Slide Number Placeholder 0"/>
          <ns0:cNvSpPr>
            <a:spLocks noGrp="1"/>
          </ns0:cNvSpPr>
          <ns0:nvPr>
            <ns0:ph type="sldNum" sz="quarter" idx="4294967295"/>
          </ns0:nvPr>
        </ns0:nvSpPr>
        <ns0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ns2:wrappingTextBoxFlag val="0"/>
            </a:ext>
          </a:extLst>
        </ns0:spPr>
        <ns0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ns0:txBody>
      </ns0:sp>
    </ns0:spTree>
  </ns0:cSld>
  <ns0:clrMapOvr>
    <a:masterClrMapping/>
  </ns0:clrMapOvr>
</ns0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Begriffe &amp; Grundideen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erkläre ohne lange Rechnung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unterscheidet sich antiproportional von proportional?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999232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36392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483864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Unterscheide Grundwert, Prozentwert und Prozentsatz.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69951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398264"/>
            <a:ext cx="73152" cy="12344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35424"/>
            <a:ext cx="6675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Begriff 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82896"/>
            <a:ext cx="6675120" cy="630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unterscheidet sich antiproportional von proportional?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001000" y="160020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EAF5F5"/>
          </a:solidFill>
          <a:ln w="15240">
            <a:solidFill>
              <a:srgbClr val="2A7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Kernideen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27432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Proportional y=kx; antiproportional y=k/x.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 = p/100 · G.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38160" y="4983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EAF5F5"/>
          </a:solidFill>
          <a:ln w="13970">
            <a:solidFill>
              <a:srgbClr val="2A7F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5120640"/>
            <a:ext cx="68580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21040" y="5330952"/>
            <a:ext cx="2880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Proportional y=kx; antiproportional y=k/x.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Rechnen – sicher starten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Basisaufgaben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Arbeiter brauchen 10 h. Idealisiert: Wie lange brauchen 12?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Preis steigt von 50 € auf 60 €. Prozentuale Erhöhung?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046720" y="1600200"/>
            <a:ext cx="3429000" cy="43434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1600200"/>
            <a:ext cx="73152" cy="434340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173736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0" y="2084832"/>
            <a:ext cx="3108960" cy="3739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Arbeiter brauchen 10 h. Idealisiert: Wie lange brauchen 12?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49808" y="6062472"/>
            <a:ext cx="58521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Arbeite sauber: Ansatz → Rechnung → Ergebnis/Deutung.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Darstellungen lesen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Bild, Graph oder Modell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64922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4305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5458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6611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7764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8917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0070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2230" y="1783080"/>
            <a:ext cx="0" cy="406908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33934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07848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1762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55676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5295900"/>
            <a:ext cx="6126480" cy="0"/>
          </a:xfrm>
          <a:prstGeom prst="line">
            <a:avLst/>
          </a:prstGeom>
          <a:noFill/>
          <a:ln w="7620">
            <a:solidFill>
              <a:srgbClr val="EEF1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5880" y="5440680"/>
            <a:ext cx="5394960" cy="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325880" y="5440680"/>
            <a:ext cx="0" cy="-3337560"/>
          </a:xfrm>
          <a:prstGeom prst="line">
            <a:avLst/>
          </a:prstGeom>
          <a:noFill/>
          <a:ln w="16510">
            <a:solidFill>
              <a:srgbClr val="1F29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325880" y="490428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93317" y="487076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60754" y="483723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28191" y="480371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5628" y="477018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3065" y="473666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730502" y="470313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97939" y="466961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65376" y="463609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32813" y="460256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0250" y="456904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67687" y="453551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35124" y="450199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02561" y="446846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69998" y="443494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337435" y="440141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04872" y="436789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472309" y="433436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39746" y="430084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07183" y="426731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674620" y="423379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2057" y="420027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809494" y="416674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76931" y="413322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44368" y="409969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11805" y="406617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79242" y="403264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146679" y="399912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214116" y="396559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81553" y="393207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48990" y="389854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16427" y="386502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83864" y="383149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1301" y="379797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18738" y="376445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86175" y="373092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53612" y="369740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821049" y="366387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888486" y="363035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55923" y="359682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356330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090797" y="352977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58234" y="349625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225671" y="346272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93108" y="342920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360545" y="339568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427982" y="336215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495419" y="332863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62856" y="329510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30293" y="326158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697730" y="322805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765167" y="319453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32604" y="316100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900041" y="312748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967478" y="309395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34915" y="306043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102352" y="302690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169789" y="299338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237226" y="295986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04663" y="292633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72100" y="289281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439537" y="285928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506974" y="282576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574411" y="279223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641848" y="275871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09285" y="272518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76722" y="269166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844159" y="265813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911596" y="2624614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979033" y="2591089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46470" y="255756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13907" y="2524040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81344" y="2490515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248781" y="2456991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316218" y="2423466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83655" y="238994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51092" y="2356417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518529" y="2322892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585966" y="2289368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653403" y="2255843"/>
            <a:ext cx="67437" cy="-33525"/>
          </a:xfrm>
          <a:prstGeom prst="line">
            <a:avLst/>
          </a:prstGeom>
          <a:noFill/>
          <a:ln w="30480">
            <a:solidFill>
              <a:srgbClr val="2A7F8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24128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Gerade</a:t>
            </a:r>
            <a:endParaRPr lang="en-US" sz="1050" dirty="0"/>
          </a:p>
        </p:txBody>
      </p:sp>
      <p:sp>
        <p:nvSpPr>
          <p:cNvPr id="101" name="Shape 99"/>
          <p:cNvSpPr/>
          <p:nvPr/>
        </p:nvSpPr>
        <p:spPr>
          <a:xfrm>
            <a:off x="7498080" y="160020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7498080" y="160020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768096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Beobachten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7680960" y="208483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Unterscheide Grundwert, Prozentwert und Prozentsatz.</a:t>
            </a:r>
            <a:endParaRPr lang="en-US" sz="1650" dirty="0"/>
          </a:p>
        </p:txBody>
      </p:sp>
      <p:sp>
        <p:nvSpPr>
          <p:cNvPr id="105" name="Shape 103"/>
          <p:cNvSpPr/>
          <p:nvPr/>
        </p:nvSpPr>
        <p:spPr>
          <a:xfrm>
            <a:off x="7498080" y="3794760"/>
            <a:ext cx="393192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6" name="Shape 104"/>
          <p:cNvSpPr/>
          <p:nvPr/>
        </p:nvSpPr>
        <p:spPr>
          <a:xfrm>
            <a:off x="7498080" y="3794760"/>
            <a:ext cx="73152" cy="196596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80960" y="3931920"/>
            <a:ext cx="3611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Nutzen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7680960" y="4279392"/>
            <a:ext cx="3611880" cy="1362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Preis steigt von 50 € auf 60 €. Prozentuale Erhöhung?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Anwenden im Kontext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etwas mehr Denken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EAF5F5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Arbeiter brauchen 10 h. Idealisiert: Wie lange brauchen 12?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443484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Kontext 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38313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Preis steigt von 50 € auf 60 €. Prozentuale Erhöhung?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49808" y="6053328"/>
            <a:ext cx="749808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30" i="1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Tipp: Welche Größe ist gesucht? Welche Darstellung oder Formel hilft?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9784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Denkfragen &amp; Fehler finden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0744200" y="694944"/>
            <a:ext cx="685800" cy="109728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76656" y="1152144"/>
            <a:ext cx="7772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3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Konzepte wirklich verstanden?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Denkfrage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Zuordnung passt zu y=24/x?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6199632" y="1600200"/>
            <a:ext cx="52578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3970">
            <a:solidFill>
              <a:srgbClr val="D9E0E6"/>
            </a:solidFill>
            <a:prstDash val="solid"/>
          </a:ln>
          <a:effectLst>
            <a:outerShdw sx="100000" sy="100000" kx="0" ky="0" algn="bl" rotWithShape="0" blurRad="12700" dist="50800" dir="2700000">
              <a:srgbClr val="C7CED6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9632" y="1600200"/>
            <a:ext cx="73152" cy="1874520"/>
          </a:xfrm>
          <a:prstGeom prst="rect">
            <a:avLst/>
          </a:prstGeom>
          <a:solidFill>
            <a:srgbClr val="2A7F8E"/>
          </a:solidFill>
          <a:ln w="12700">
            <a:solidFill>
              <a:srgbClr val="2A7F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1737360"/>
            <a:ext cx="4937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A7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82512" y="2084832"/>
            <a:ext cx="4937760" cy="1271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1000 € werden mit 3 % p.a. verzinst. Kontostand nach einem Jahr?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10725912" cy="1828800"/>
          </a:xfrm>
          <a:prstGeom prst="roundRect">
            <a:avLst>
              <a:gd name="adj" fmla="val 4500"/>
            </a:avLst>
          </a:prstGeom>
          <a:solidFill>
            <a:srgbClr val="F9ECEC"/>
          </a:solidFill>
          <a:ln w="15240">
            <a:solidFill>
              <a:srgbClr val="C75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9264" y="4041648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FEHLER DES TAGES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9264" y="4416552"/>
            <a:ext cx="99669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„Ein steigender Graph hat immer positive Funktionswerte.“ – Korrigiere.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9264" y="5230368"/>
            <a:ext cx="47548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7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Korrigiere die Aussage und begründe.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37282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68580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Kannst du das noch?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73736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 7 · Funktionen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53312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Proportional: 4 Stück kosten 10 €. Was kosten 8 Stück?</a:t>
            </a:r>
            <a:endParaRPr lang="en-US" sz="1430" dirty="0"/>
          </a:p>
        </p:txBody>
      </p:sp>
      <p:sp>
        <p:nvSpPr>
          <p:cNvPr id="7" name="Shape 5"/>
          <p:cNvSpPr/>
          <p:nvPr/>
        </p:nvSpPr>
        <p:spPr>
          <a:xfrm>
            <a:off x="6236208" y="233172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47802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245059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viel sind 20 % von 80 €?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731520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unterscheidet sich antiproportional von proportional?</a:t>
            </a:r>
            <a:endParaRPr lang="en-US" sz="1430" dirty="0"/>
          </a:p>
        </p:txBody>
      </p:sp>
      <p:sp>
        <p:nvSpPr>
          <p:cNvPr id="13" name="Shape 11"/>
          <p:cNvSpPr/>
          <p:nvPr/>
        </p:nvSpPr>
        <p:spPr>
          <a:xfrm>
            <a:off x="6236208" y="3429000"/>
            <a:ext cx="5230368" cy="841248"/>
          </a:xfrm>
          <a:prstGeom prst="roundRect">
            <a:avLst>
              <a:gd name="adj" fmla="val 7609"/>
            </a:avLst>
          </a:prstGeom>
          <a:solidFill>
            <a:srgbClr val="20445F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57530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3547872"/>
            <a:ext cx="442569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Unterscheide Grundwert, Prozentwert und Prozentsatz.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731520" y="4526280"/>
            <a:ext cx="10762488" cy="841248"/>
          </a:xfrm>
          <a:prstGeom prst="roundRect">
            <a:avLst>
              <a:gd name="adj" fmla="val 7609"/>
            </a:avLst>
          </a:prstGeom>
          <a:solidFill>
            <a:srgbClr val="234A69"/>
          </a:solidFill>
          <a:ln w="12700">
            <a:solidFill>
              <a:srgbClr val="4A6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672584"/>
            <a:ext cx="347472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B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4645152"/>
            <a:ext cx="995781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unterscheidet sich antiproportional von proportional?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6263640" y="4645152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A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Selbstcheck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0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4F8B6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60920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22208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F0B44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67928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29216" y="4572000"/>
            <a:ext cx="1051560" cy="384048"/>
          </a:xfrm>
          <a:prstGeom prst="roundRect">
            <a:avLst>
              <a:gd name="adj" fmla="val 16667"/>
            </a:avLst>
          </a:prstGeom>
          <a:solidFill>
            <a:srgbClr val="C75A5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74936" y="463600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noch üben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4652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8D5E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Klasse 7 – Funktionen – Wiederholung</dc:title>
  <dc:subject>Mathematik Wiederholung</dc:subject>
  <dc:creator>Jonathan Hardenacke / OpenAI</dc:creator>
  <cp:lastModifiedBy>Jonathan Hardenacke / OpenAI</cp:lastModifiedBy>
  <cp:revision>1</cp:revision>
  <dcterms:created xsi:type="dcterms:W3CDTF">2026-09-12T12:19:26Z</dcterms:created>
  <dcterms:modified xsi:type="dcterms:W3CDTF">2026-09-12T12:19:26Z</dcterms:modified>
</cp:coreProperties>
</file>