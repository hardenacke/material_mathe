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2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3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4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5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6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7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8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TITLE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82512"/>
            <a:ext cx="12191695" cy="475488"/>
          </a:xfrm>
          <a:prstGeom prst="rect">
            <a:avLst/>
          </a:prstGeom>
          <a:solidFill>
            <a:srgbClr val="234A69"/>
          </a:solidFill>
          <a:ln w="12700">
            <a:solidFill>
              <a:srgbClr val="234A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4114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8368" y="969264"/>
            <a:ext cx="192024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235440" y="647395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NRW · Gymnasium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455664"/>
            <a:ext cx="10881360" cy="0"/>
          </a:xfrm>
          <a:prstGeom prst="line">
            <a:avLst/>
          </a:prstGeom>
          <a:noFill/>
          <a:ln w="12700">
            <a:solidFill>
              <a:srgbClr val="D9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510528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leichten Einstieg zum Transfer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EXIT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389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5-MINUTEN-CHECK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914400"/>
            <a:ext cx="219456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 · Selbstcheck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61872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3B6EA5"/>
          </a:solidFill>
          <a:ln w="12700">
            <a:solidFill>
              <a:srgbClr val="3B6EA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58952" y="1289304"/>
            <a:ext cx="154533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33272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Wiederholung: Arithmetik/Algebra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13232" y="2633472"/>
            <a:ext cx="9509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 Fragen · sichere Grundlagen · Anwendungen · Transfer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" y="3364992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3291840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Rationale Zahlen; Zahlengerade; Vorzeichenregeln; Rechengesetze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749808" y="3794760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3721608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 als Veränderliche, Platzhalter und Unbekannte; Terme umformen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749808" y="4224528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4151376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Lineare Gleichungen algebraisch lösen und im Kontext deuten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ns0:sld xmlns:a="http://schemas.openxmlformats.org/drawingml/2006/main" xmlns:ns0="http://schemas.openxmlformats.org/presentationml/2006/main" xmlns:ns2="http://schemas.microsoft.com/office/mac/drawingml/2011/main">
  <ns0:cSld name="Slide 2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658368" y="658368"/>
            <a:ext cx="9784080" cy="47548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Einstieg</a:t>
            </a:r>
            <a:endParaRPr lang="en-US" sz="2600" dirty="0"/>
          </a:p>
        </ns0:txBody>
      </ns0:sp>
      <ns0:sp>
        <ns0:nvSpPr>
          <ns0:cNvPr id="3" name="Shape 1"/>
          <ns0:cNvSpPr/>
          <ns0:nvPr/>
        </ns0:nvSpPr>
        <ns0:spPr>
          <a:xfrm>
            <a:off x="10744200" y="694944"/>
            <a:ext cx="685800" cy="109728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ns0:spPr>
      </ns0:sp>
      <ns0:sp>
        <ns0:nvSpPr>
          <ns0:cNvPr id="4" name="Text 2"/>
          <ns0:cNvSpPr/>
          <ns0:nvPr/>
        </ns0:nvSpPr>
        <ns0:spPr>
          <a:xfrm>
            <a:off x="676656" y="1152144"/>
            <a:ext cx="7772400" cy="25603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 · Arithmetik/Algebra</a:t>
            </a:r>
            <a:endParaRPr lang="en-US" sz="11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731520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6" name="Shape 4"/>
          <ns0:cNvSpPr/>
          <ns0:nvPr/>
        </ns0:nvSpPr>
        <ns0:spPr>
          <a:xfrm>
            <a:off x="896112" y="1764792"/>
            <a:ext cx="438912" cy="438912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ns0:spPr>
      </ns0:sp>
      <ns0:sp>
        <ns0:nvSpPr>
          <ns0:cNvPr id="7" name="Text 5"/>
          <ns0:cNvSpPr/>
          <ns0:nvPr/>
        </ns0:nvSpPr>
        <ns0:spPr>
          <a:xfrm>
            <a:off x="896112" y="1764792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1463040" y="1755648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Berechne: −7 + 12.</a:t>
            </a:r>
            <a:endParaRPr lang="en-US" sz="1650" dirty="0"/>
          </a:p>
        </ns0:txBody>
      </ns0:sp>
      <ns0:sp>
        <ns0:nvSpPr>
          <ns0:cNvPr id="9" name="Shape 7"/>
          <ns0:cNvSpPr/>
          <ns0:nvPr/>
        </ns0:nvSpPr>
        <ns0:spPr>
          <a:xfrm>
            <a:off x="6199632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0" name="Shape 8"/>
          <ns0:cNvSpPr/>
          <ns0:nvPr/>
        </ns0:nvSpPr>
        <ns0:spPr>
          <a:xfrm>
            <a:off x="6364224" y="1764792"/>
            <a:ext cx="438912" cy="438912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ns0:spPr>
      </ns0:sp>
      <ns0:sp>
        <ns0:nvSpPr>
          <ns0:cNvPr id="11" name="Text 9"/>
          <ns0:cNvSpPr/>
          <ns0:nvPr/>
        </ns0:nvSpPr>
        <ns0:spPr>
          <a:xfrm>
            <a:off x="6364224" y="1764792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6931152" y="1755648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Vereinfache: 3x + 2x.</a:t>
            </a:r>
            <a:endParaRPr lang="en-US" sz="16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731520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4" name="Shape 12"/>
          <ns0:cNvSpPr/>
          <ns0:nvPr/>
        </ns0:nvSpPr>
        <ns0:spPr>
          <a:xfrm>
            <a:off x="896112" y="3621024"/>
            <a:ext cx="438912" cy="438912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ns0:spPr>
      </ns0:sp>
      <ns0:sp>
        <ns0:nvSpPr>
          <ns0:cNvPr id="15" name="Text 13"/>
          <ns0:cNvSpPr/>
          <ns0:nvPr/>
        </ns0:nvSpPr>
        <ns0:spPr>
          <a:xfrm>
            <a:off x="896112" y="3621024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1463040" y="3611880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Löse: x + 7 = 19.</a:t>
            </a:r>
            <a:endParaRPr lang="en-US" sz="165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6199632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8" name="Shape 16"/>
          <ns0:cNvSpPr/>
          <ns0:nvPr/>
        </ns0:nvSpPr>
        <ns0:spPr>
          <a:xfrm>
            <a:off x="6364224" y="3621024"/>
            <a:ext cx="438912" cy="438912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ns0:spPr>
      </ns0:sp>
      <ns0:sp>
        <ns0:nvSpPr>
          <ns0:cNvPr id="19" name="Text 17"/>
          <ns0:cNvSpPr/>
          <ns0:nvPr/>
        </ns0:nvSpPr>
        <ns0:spPr>
          <a:xfrm>
            <a:off x="6364224" y="3621024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ns0:txBody>
      </ns0:sp>
      <ns0:sp>
        <ns0:nvSpPr>
          <ns0:cNvPr id="20" name="Text 18"/>
          <ns0:cNvSpPr/>
          <ns0:nvPr/>
        </ns0:nvSpPr>
        <ns0:spPr>
          <a:xfrm>
            <a:off x="6931152" y="3611880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Berechne: −7 + 12.</a:t>
            </a:r>
            <a:endParaRPr lang="en-US" sz="165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749808" y="5532120"/>
            <a:ext cx="4754880" cy="274320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50" dirty="0"/>
          </a:p>
        </ns0:txBody>
      </ns0:sp>
      <ns0:sp>
        <ns0:nvSpPr>
          <ns0:cNvPr id="25" name="Slide Number Placeholder 0"/>
          <ns0:cNvSpPr>
            <a:spLocks noGrp="1"/>
          </ns0:cNvSpPr>
          <ns0:nvPr>
            <ns0:ph type="sldNum" sz="quarter" idx="4294967295"/>
          </ns0:nvPr>
        </ns0:nvSpPr>
        <ns0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ns2:wrappingTextBoxFlag val="0"/>
            </a:ext>
          </a:extLst>
        </ns0:spPr>
        <ns0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ns0:txBody>
      </ns0:sp>
    </ns0:spTree>
  </ns0:cSld>
  <ns0:clrMapOvr>
    <a:masterClrMapping/>
  </ns0:clrMapOvr>
</ns0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Begriffe &amp; Grundideen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 · erkläre ohne lange Rechnung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23444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ist (−3)·(−4) positiv?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999232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999232"/>
            <a:ext cx="73152" cy="123444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36392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3483864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Rollen kann eine Variable haben?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31520" y="4398264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4398264"/>
            <a:ext cx="73152" cy="123444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35424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3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4882896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bedeutet „Äquivalenzumformung“?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001000" y="1600200"/>
            <a:ext cx="3429000" cy="2971800"/>
          </a:xfrm>
          <a:prstGeom prst="roundRect">
            <a:avLst>
              <a:gd name="adj" fmla="val 2769"/>
            </a:avLst>
          </a:prstGeom>
          <a:solidFill>
            <a:srgbClr val="EAF1F7"/>
          </a:solidFill>
          <a:ln w="15240">
            <a:solidFill>
              <a:srgbClr val="3B6EA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847088"/>
            <a:ext cx="26517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Kernideen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75320" y="2267712"/>
            <a:ext cx="2743200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Gleiche Vorzeichen beim Multiplizieren/Dividieren → positiv; verschiedene → negativ.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Nur gleichartige Terme dürfen addiert/subtrahiert werden.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Auf beiden Seiten immer dieselbe Operation ausführen.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4983480"/>
            <a:ext cx="3291840" cy="749808"/>
          </a:xfrm>
          <a:prstGeom prst="roundRect">
            <a:avLst>
              <a:gd name="adj" fmla="val 9756"/>
            </a:avLst>
          </a:prstGeom>
          <a:solidFill>
            <a:srgbClr val="EAF1F7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5120640"/>
            <a:ext cx="6858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321040" y="5330952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Gleiche Vorzeichen beim Multiplizieren/Dividieren → positiv; verschiedene → negativ.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 – sicher starten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 · Basisaufgaben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34340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Berechne: −18 : 6 − 4.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600200"/>
            <a:ext cx="73152" cy="434340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Stelle einen Term auf: „Das Dreifache einer Zahl minus 5“.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600200"/>
            <a:ext cx="73152" cy="434340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Löse: 4x − 6 = 18.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49808" y="6062472"/>
            <a:ext cx="58521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 sauber: Ansatz → Rechnung → Ergebnis/Deutung.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Darstellungen lesen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 · Bild, Graph oder Modell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05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458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6611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7764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8917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0070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223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33934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07848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1762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5676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529590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54480" y="4069080"/>
            <a:ext cx="4892040" cy="0"/>
          </a:xfrm>
          <a:prstGeom prst="line">
            <a:avLst/>
          </a:prstGeom>
          <a:noFill/>
          <a:ln w="20320">
            <a:solidFill>
              <a:srgbClr val="1F293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737360" y="3959352"/>
            <a:ext cx="0" cy="219456"/>
          </a:xfrm>
          <a:prstGeom prst="line">
            <a:avLst/>
          </a:prstGeom>
          <a:noFill/>
          <a:ln w="12700">
            <a:solidFill>
              <a:srgbClr val="1F29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09344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423160" y="3959352"/>
            <a:ext cx="0" cy="219456"/>
          </a:xfrm>
          <a:prstGeom prst="line">
            <a:avLst/>
          </a:prstGeom>
          <a:noFill/>
          <a:ln w="12700">
            <a:solidFill>
              <a:srgbClr val="1F29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95144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08960" y="3959352"/>
            <a:ext cx="0" cy="219456"/>
          </a:xfrm>
          <a:prstGeom prst="line">
            <a:avLst/>
          </a:prstGeom>
          <a:noFill/>
          <a:ln w="12700">
            <a:solidFill>
              <a:srgbClr val="1F29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80944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794760" y="3959352"/>
            <a:ext cx="0" cy="219456"/>
          </a:xfrm>
          <a:prstGeom prst="line">
            <a:avLst/>
          </a:prstGeom>
          <a:noFill/>
          <a:ln w="12700">
            <a:solidFill>
              <a:srgbClr val="1F29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66744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480560" y="3959352"/>
            <a:ext cx="0" cy="219456"/>
          </a:xfrm>
          <a:prstGeom prst="line">
            <a:avLst/>
          </a:prstGeom>
          <a:noFill/>
          <a:ln w="12700">
            <a:solidFill>
              <a:srgbClr val="1F29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52544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166360" y="3959352"/>
            <a:ext cx="0" cy="219456"/>
          </a:xfrm>
          <a:prstGeom prst="line">
            <a:avLst/>
          </a:prstGeom>
          <a:noFill/>
          <a:ln w="12700">
            <a:solidFill>
              <a:srgbClr val="1F29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38344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852160" y="3959352"/>
            <a:ext cx="0" cy="219456"/>
          </a:xfrm>
          <a:prstGeom prst="line">
            <a:avLst/>
          </a:prstGeom>
          <a:noFill/>
          <a:ln w="12700">
            <a:solidFill>
              <a:srgbClr val="1F29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24144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434840" y="3922776"/>
            <a:ext cx="292608" cy="292608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45920" y="2606040"/>
            <a:ext cx="45720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Zahlen · Terme · Strukturen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498080" y="160020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EAF1F7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498080" y="1600200"/>
            <a:ext cx="73152" cy="196596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680960" y="173736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Beobachten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680960" y="208483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Rollen kann eine Variable haben?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7498080" y="379476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498080" y="3794760"/>
            <a:ext cx="73152" cy="196596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680960" y="393192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Nutzen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680960" y="427939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Löse: 4x − 6 = 18.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Anwenden im Kontext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 · etwas mehr Denken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EAF1F7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43484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Stelle einen Term auf: „Das Dreifache einer Zahl minus 5“.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443484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Löse: 4x − 6 = 18.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9808" y="6053328"/>
            <a:ext cx="749808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Welche Größe ist gesucht? Welche Darstellung oder Formel hilft?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Denkfragen &amp; Fehler finden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 · Konzepte wirklich verstanden?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87452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Setze &lt;, &gt; oder =: −2/3 __ −0,6.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187452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Taxifahrt kostet 4 € Grundpreis und 2 € je km. Bei 18 €: Wie viele km?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731520" y="3794760"/>
            <a:ext cx="10725912" cy="1828800"/>
          </a:xfrm>
          <a:prstGeom prst="roundRect">
            <a:avLst>
              <a:gd name="adj" fmla="val 4500"/>
            </a:avLst>
          </a:prstGeom>
          <a:solidFill>
            <a:srgbClr val="F9ECEC"/>
          </a:solidFill>
          <a:ln w="15240">
            <a:solidFill>
              <a:srgbClr val="C75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4041648"/>
            <a:ext cx="18288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DES TAGES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9264" y="4416552"/>
            <a:ext cx="99669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„Ein Rechenergebnis ohne Einheit ist immer vollständig.“ – Korrigiere.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9264" y="5230368"/>
            <a:ext cx="47548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Korrigiere die Aussage und begründe.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34440"/>
            <a:ext cx="68580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Kannst du das noch?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13232" y="1737360"/>
            <a:ext cx="7315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 · Arithmetik/Algebra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53312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Berechne: −7 + 12.</a:t>
            </a:r>
            <a:endParaRPr lang="en-US" sz="1430" dirty="0"/>
          </a:p>
        </p:txBody>
      </p:sp>
      <p:sp>
        <p:nvSpPr>
          <p:cNvPr id="7" name="Shape 5"/>
          <p:cNvSpPr/>
          <p:nvPr/>
        </p:nvSpPr>
        <p:spPr>
          <a:xfrm>
            <a:off x="6236208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Vereinfache: 3x + 2x.</a:t>
            </a:r>
            <a:endParaRPr lang="en-US" sz="1430" dirty="0"/>
          </a:p>
        </p:txBody>
      </p:sp>
      <p:sp>
        <p:nvSpPr>
          <p:cNvPr id="10" name="Shape 8"/>
          <p:cNvSpPr/>
          <p:nvPr/>
        </p:nvSpPr>
        <p:spPr>
          <a:xfrm>
            <a:off x="731520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53312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Löse: x + 7 = 19.</a:t>
            </a:r>
            <a:endParaRPr lang="en-US" sz="1430" dirty="0"/>
          </a:p>
        </p:txBody>
      </p:sp>
      <p:sp>
        <p:nvSpPr>
          <p:cNvPr id="13" name="Shape 11"/>
          <p:cNvSpPr/>
          <p:nvPr/>
        </p:nvSpPr>
        <p:spPr>
          <a:xfrm>
            <a:off x="6236208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0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ist (−3)·(−4) positiv?</a:t>
            </a:r>
            <a:endParaRPr lang="en-US" sz="1430" dirty="0"/>
          </a:p>
        </p:txBody>
      </p:sp>
      <p:sp>
        <p:nvSpPr>
          <p:cNvPr id="16" name="Shape 14"/>
          <p:cNvSpPr/>
          <p:nvPr/>
        </p:nvSpPr>
        <p:spPr>
          <a:xfrm>
            <a:off x="731520" y="4526280"/>
            <a:ext cx="10762488" cy="841248"/>
          </a:xfrm>
          <a:prstGeom prst="roundRect">
            <a:avLst>
              <a:gd name="adj" fmla="val 7609"/>
            </a:avLst>
          </a:prstGeom>
          <a:solidFill>
            <a:srgbClr val="234A69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467258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53312" y="4645152"/>
            <a:ext cx="995781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Rollen kann eine Variable haben?</a:t>
            </a:r>
            <a:endParaRPr lang="en-US" sz="1430" dirty="0"/>
          </a:p>
        </p:txBody>
      </p:sp>
      <p:sp>
        <p:nvSpPr>
          <p:cNvPr id="19" name="Text 17"/>
          <p:cNvSpPr/>
          <p:nvPr/>
        </p:nvSpPr>
        <p:spPr>
          <a:xfrm>
            <a:off x="6263640" y="4645152"/>
            <a:ext cx="1051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4F8B6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60920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522208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F0B4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67928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729216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C75A5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74936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üben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Klasse 7 – Arithmetik/Algebra – Wiederholung</dc:title>
  <dc:subject>Mathematik Wiederholung</dc:subject>
  <dc:creator>Jonathan Hardenacke / OpenAI</dc:creator>
  <cp:lastModifiedBy>Jonathan Hardenacke / OpenAI</cp:lastModifiedBy>
  <cp:revision>1</cp:revision>
  <dcterms:created xsi:type="dcterms:W3CDTF">2026-09-12T12:19:26Z</dcterms:created>
  <dcterms:modified xsi:type="dcterms:W3CDTF">2026-09-12T12:19:26Z</dcterms:modified>
</cp:coreProperties>
</file>